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Purpose of the talk: build a shared, accurate mental model of what these tools are before we change how we work. Nobody needs to become a data scientist. Every claim in this deck has a source on the slide or in the References at the end; please challenge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First half builds intuition (what an LLM is, why neural networks work, why code is a sweet spot). Second half is practical: how a model becomes an agent, the loop every agent runs, and the exact knobs Copilot gives us. We close with evidence from organizations that have adopted AI, including the evidence that cuts the other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of 9: What is an LLM. One line to set up the section: A machine that predicts the next token, built from a neural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 large language model. Mechanically it is a function: text in, a probability for every possible next token out. A token is a chunk of text, often a word or word-piece. Generation is a loop: sample a token, append it, run again. The percentages on this slide are illustrative, not measured. The architecture almost every modern LLM uses is the Transformer (Vaswani et al., 2017, 'Attention Is All You Need', arXiv:1706.03762).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left to right. Tokenization splits text into pieces. Each token ID is looked up as a vector (embedding). The Transformer mixes information across tokens through stacked layers; the final layer scores every token in the vocabulary. The 405B figure is the parameter count of Llama 3's largest model (Meta, 'The Llama 3 Herd of Models', 2024, arXiv:2407.21783). Proprietary frontier models do not all publish their sizes, so we use an open model as the verifiable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of 9: Why neural networks are powerful. One line to set up the section: Open the box: one neuron, then layers, then what they can learn and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left to right. Inputs are just numbers (for an LLM, the numbers that represent tokens). Each input has a weight: how much this neuron cares about it, and in which direction (negative weights push the output down). Step 2 adds a bias, which shifts the threshold at which the neuron 'fires'. Step 3 is the activation, here ReLU = max(0, s). The weights and bias are the knobs training will adjust. Why the activation matters: multiplying and adding is linear, and a composition of linear functions is still linear, so without the bend a 100-layer network could only draw a straight line. The bend is what lets stacked neurons build curves (next slides). Reference: Goodfellow, Bengio &amp; Courville, Deep Learning (2016), ch.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function as the previous slide, now in code the room reads every day, and wired into a network. Every connecting line is one weight; every circle runs Neuron(). A layer is many neurons reading the same inputs; its outputs feed the next layer. This toy network has 3+5+5+2 neurons and a few dozen weights; an LLM uses the same idea with billions (we zoom back out at the end of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Width gives a network capacity; depth lets it reuse parts. Early layers learn simple features and later layers combine them. Zeiler &amp; Fergus (ECCV 2014) visualized this in image networks; Tenney, Das &amp; Pavlick ('BERT Rediscovers the Classical NLP Pipeline', ACL 2019) found language models encode parts of speech, then syntax, then semantics in roughly increasing depth. Analogy for the room: helper functions composed into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Universal Approximation Theorem: a network with enough neurons can approximate any continuous function on a bounded input range as closely as you like. Proven by Cybenko (1989) for sigmoid activations, generalized by Hornik (1991), and extended by Leshno et al. (1993) to any non-polynomial activation, including ReLU. The visual: each ReLU neuron adds one bend; more bends trace the target more closely. Caveat for honesty: the theorem proves such a network EXISTS. It does not promise training will find it, or that it will be small. (Curves on the slide are drawn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a loop: take real text, hide the next token, predict it, measure the error, and adjust every weight a tiny amount in the direction that reduces error (gradient descent, computed by backpropagation; Rumelhart, Hinton &amp; Williams, Nature, 1986). Repeat at enormous scale; Meta reports Llama 3 was pretrained on about 15T tokens (arXiv:2407.21783). Nobody hand-writes rules; behavior emerges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the same building blocks are behind results in science, not just chat. AlphaFold 2 (Jumper et al., Nature 596, 2021); Demis Hassabis and John Jumper shared the 2024 Nobel Prize in Chemistry (nobelprize.org). GraphCast (Lam et al., Science 382, 2023) reports outperforming ECMWF's HRES on 90% of 1,380 verification targets. Google's GNMT (Wu et al., 2016) reported reducing translation errors by about 60% on average vs. the phrase-based production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 The approximation guarantee is on a bounded domain; outside the region the model learned from, behavior is unconstrained (illustration: dots = training data, orange = fitted model, gray dashed = the true pattern). Some functions are also provably hard for gradient-based training to learn even though networks can represent them (Shalev-Shwartz, Shamir &amp; Shammah, 'Failures of Gradient-Based Deep Learning', ICML 2017). Bridge: for an agent working in OUR codebase, the context we supply determines whether it is interpolating or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hinge of the first half. Everything in section 02 (neurons, training by nudging weights, approximation, depth) is literally what an LLM is made of; the only differences are scale (hundreds of billions of weights, trillions of tokens; Meta reports 405B parameters and ~15T tokens for Llama 3, arXiv:2407.21783) and the task. Because the task is 'predict the next token' over all of human text and code, doing it well requires internalizing grammar, facts, APIs and idioms: a good predictor has to model the thing that produced the text. That is why a next-token machine can write code, and it sets up section 03 on why code is an especially good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of 9: Why LLMs fit software. One line to set up the section: Code is plentiful, structured, explicit,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code suits next-token prediction. (1) Data: open-source code is enormous; The Stack v2 (Lozhkov et al., 2024, arXiv:2402.19173) covers 600+ languages. (2) Structure: grammars are strict and idioms repeat. (3) Explicitness: unlike prose, most of what code means is on the page. (4) Verifiability, the big one,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coding ability has improved so fast: correctness can be checked automatically, so models can practice at scale. DeepSeek-R1 (Nature, 2025; arXiv:2501.12948) describes rule-based rewards where, for code, a compiler and predefined test cases provide feedback. Labs track progress on SWE-bench (Jimenez et al., ICLR 2024), which uses real GitHub issues and their test suites. Key bridge: an agent can use the same trick in our repo, by running dotnet build and our tests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of 9: From predictor to harness. One line to set up the section: How a text predictor becomes an agent, and the software that makes it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raw pretrained model only continues text. Instruction tuning plus reinforcement learning from human feedback makes it follow requests (Ouyang et al., 2022, InstructGPT, arXiv:2203.02155). Models then learned to call tools and use the results: ReAct interleaves reasoning and actions (Yao et al., 2022, arXiv:2210.03629); Toolformer taught models to decide when to call APIs (Schick et al., 2023, arXiv:2302.04761). The last step is not a smarter model, it is SOFTWARE around the model: the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fills the gap between 'tool-using model' and 'agent'. The model is a function from text to text and is stateless between calls. Everything that makes it an agent is ordinary software: (1) assembling the input for each call: system prompt, custom instructions, conversation history, file contents; (2) describing available tools (name, description, parameters) so the model can request them; (3) executing the requested tool and capturing the result; (4) deciding what is allowed (tool allow/deny lists, hooks); (5) managing the context window, e.g. Copilot CLI compacts the conversation when it nears capacity; (6) orchestrating utility models and sub-agents. Section 05 shows these jobs running. Sources: GitHub Docs, 'Comparing GitHub Copilot CLI customization features' and 'Managing context in GitHub Copilot CLI' (2026); Anthropic Docs,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you interact with is not one model. GitHub documents 'utility models' (small, fast models that power background features such as commit messages and chat titles, and that are not selectable in the picker), 'auto model selection', a separately configurable completion model for inline suggestions, and sub-agents that run with their own context windows. Tools (built-in and via MCP servers) give the models hands. Sources: GitHub Docs (2026) pages 'Utility models', 'Auto model selection', 'Change the completion model', and 'Comparing GitHub Copilot CLI customization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mental model before comparing tools. The GitHub Copilot app is built on Copilot CLI, so those two share one harness: the Copilot agent runtime (Microsoft's VS Code docs describe this as the shared runtime behind the CLI and the app, reached through the Copilot SDK). Visual Studio's agent mode is a separate harness built into the IDE: it works on the open solution, uses Visual Studio's language services through the find_symbol tool, and watches build results and test failures. OpenCode is a third, open-source harness that GitHub officially supports signing into with a paid Copilot subscription. The same Copilot models can run in all three; the next slides compare how each finds and manages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starting context. Visual Studio combines the system prompt and instructions with implicit context such as chat history and open files, plus anything you reference explicitly, like errors (Microsoft Learn, How Copilot Chat uses context). The Copilot runtime in the CLI and app starts from custom instructions and the working directory; it has no IDE state. OpenCode starts from AGENTS.md and the directory. Row 2, search. Visual Studio builds a remote index with embeddings when the repo is hosted on GitHub or Azure DevOps (a local index otherwise) and runs semantic search over it, adding the most similar files to context. The Copilot CLI searches agentically: grep, glob and file views, shell commands, an explore sub-agent, and GitHub MCP tools for issues, PRs and code search. OpenCode is similar: ripgrep-based grep, glob, list and read, plus an explore sub-agent. Neither the CLI nor OpenCode builds a semantic index by default. Row 3, code intelligence. In Visual Studio 2026 (18.4+), agent mode's find_symbol tool uses the IDE's language services to find all references and read type information, declarations and scope for C#, C++, Razor and TypeScript; agent mode also monitors build results and unit-test failures and iterates (Microsoft Learn, Use agent mode). Copilot CLI uses LSP servers only if you install one and configure it in .github/lsp.json or ~/.copilot/lsp-config.json; once configured it uses them automatically (GitHub Docs, LSP servers). OpenCode starts language servers for detected languages and attaches diagnostics to file reads (OpenCode docs/source).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window: Copilot CLI documents its thresholds (background compaction from about 80%, a pause at about 95%) and gives /context and /compact; OpenCode auto-compacts near the limit; Visual Studio's docs don't describe how it handles a full window, so treat long single sessions there with care. Sub-agents: GitHub's customization cheat sheet lists sub-agents as not supported in Visual Studio; it offers custom agents (.agent.md) and built-in agents like @debug, @test and @profiler instead. The CLI and OpenCode can delegate exploration to a sub-agent with its own context window, which keeps the main window clean on big tasks. Where edits land: Visual Studio edits files in your open solution in place, with per-file Keep/Undo and checkpoints you can restore; the Copilot app gives each session its own git worktree and branch; the CLI and OpenCode work in the directory you start them in. A worktree is a git isolation boundary, not a security boundary. Enforcement: the cheat sheet lists hooks as unsupported in Visual Studio and supported in Copilot CLI; OpenCode implements the same idea as JS/TS plugins. Portability: skills and MCP servers are supported in all three; instruction files are too, but check which file names each reads (.github/copilot-instructions.md, AGENTS.md); hooks and plugins must be rewritten per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substantive reason harnesses behave differently on large changes. Semantic search returns the snippets most similar to a query; that is excellent for orientation but it is a ranked retrieval, so it can omit a usage that matters. Text search is exact and always reflects the current files, but it only finds what you spell correctly, misses indirect references, and exploring a large codebase takes many calls, each adding tool output to the context window (and to the token bill). A language server resolves symbols the way the compiler does: find-all-references and rename are complete, and diagnostics after an edit catch breakage immediately. For a 40-file refactor in C#, that completeness is what you want. Practical takeaway: in Copilot CLI, add a C# language server to .github/lsp.json (GitHub Docs: LSP servers); in Visual Studio, make sure the find_symbol tool is enabled in agent mode (Visual Studio 2026 18.4+); in OpenCode, confirm the C# server starts. Pair this with isolation (a worktree) and enforced checks (hooks running the build and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of 9: The agent loop. One line to set up the section: The loop every agent runs, what the harness sends each turn, and what happens when it fills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of the talk. An agent is a model called repeatedly inside a loop: gather context, let the model choose an action, execute a tool (read a file, edit, run tests), append the result to the context, and ask again. It stops when the model says it is done or a limit is hit. ReAct (Yao et al., 2022) formalized reasoning+acting; Anthropic's 'Building effective agents' (Dec 2024) describes agents as models using tools based on environmental feedback in a loop; GitHub's Copilot SDK documents its 'Agent Loop'. Why it matters: every quality problem traces to one of these four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one pass of the loop. Each call, the harness assembles the full input: its own system prompt; definitions of the tools the model may request; your custom instructions (AGENTS.md etc.); for skills, only names and descriptions until one is relevant (GitHub Docs); the conversation history; results of earlier tool calls; and your newest message. The model returns either plain text (done) or a structured tool request; the harness checks permissions and hooks, executes it, appends the result, and calls the model again with the whole, slightly larger stack. GitHub's docs describe exactly this: messages, responses, tool calls and results, and system instructions all accumulate in the context window. The JSON shown is illustrative; exact formats vary by harness. Sources: GitHub Docs, 'Managing context in GitHub Copilot CLI'; Anthropic Docs, 'Tool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windows are finite, and every turn adds to them. Copilot CLI's documented behavior: at roughly 80% of capacity it starts compacting in the background; if usage reaches roughly 95% first, it pauses until compaction completes. Compaction summarizes earlier conversation to free space; /compact triggers it manually and /context shows what is using the window. GitHub's Learning Hub notes skills remain loaded after /compact. The key teaching point: compaction is a summary, so specific details from early in a long session (an exact error message, a file you read an hour ago) may be gone. That is why durable knowledge belongs in instructions, skills and field guides, which the harness reloads, rather than in chat history. Diagram illustrative; exact contents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for everything that follows. When an agent fails, ask which bottleneck it hit. Context: it didn't know something (METR 2025 named undocumented repository context as a factor in slowdowns). Verification: it couldn't tell right from wrong, so it guessed; checkable rewards are why coding ability improved so fast (DeepSeek-R1, 2025). Judgment: trade-offs that aren't visible in the text, such as concurrency, behavior under load, and architecture. Tooling can largely solve the first two. The third remains a human responsibility, which is why review and design stay with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06 of 9: Steering Copilot. One line to set up the section: Instructions, skills, agents, MCP, hooks, and plugins, mapped to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Copilot CLI feature onto the loop. Gather: custom instructions (always loaded at session start, e.g., AGENTS.md or .github/copilot-instructions.md) and skills (instructions loaded just-in-time when relevant). Decide: the model, and custom agents, which run as sub-agents with their own context window and restricted tools. Act: tool allow/deny, and MCP servers that add tools. Observe: tool output and sub-agent results return to the main agent. Hooks cut across every stage and run deterministically; plugins bundle skills, agents, hooks and MCP config for distribution. Source: GitHub Docs, 'Comparing GitHub Copilot CLI customization features' (2026). The GitHub Copilot app has its own customization docs; confirm parity for features we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are prompts; the model can ignore them. Hooks are shell commands Copilot CLI executes at defined lifecycle events: preToolUse/postToolUse, userPromptSubmitted, sessionStart/sessionEnd, errorOccurred, agentStop and subagentStop. GitHub's own examples include allowlisting bash commands, blocking edits under infra/ without a ticket ID, archiving transcripts when the agent stops, and validating sub-agent output. The third card is our proposal, not a documented example. Sources: GitHub Docs 'Comparing GitHub Copilot CLI customization features' and 'Hooks reference'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after the talk. Repo-level files are shared with the team through source control; personal files live under ~/.copilot. Custom agents are Markdown files with YAML frontmatter describing role, allowed tools and optional MCP servers. Plugins install from a marketplace or directly from a GitHub repository and update with /plugin update. Copilot CLI moves fast: verify paths against the current docs and your installed version. Sources: GitHub Docs (2026) 'Comparing GitHub Copilot CLI customization features' and 'Customization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07 of 9: Quality and cost. One line to set up the section: Tests as the boundary, honest trade-offs, and token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Test-driven development (Beck, 2002) turns 'right' into something executable. Writing the failing test first means a human defines the expected behavior before any code exists; the agent then iterates against an objective pass/fail signal, which is exactly the verification bottleneck. Two rules make this work. (1) Humans own the tests: write or explicitly approve them. (2) Lock them during implementation. METR (June 2025) documented frontier models modifying tests or scoring code to get a passing result instead of solving the task. A preToolUse hook that blocks edits under tests/ while the agent implements turns that rule into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we don't need to read every line an agent writes if the boundary around it is strong enough, the same way we trust a library through its tests and contract. Layers: unit tests for specified behavior; contract/integration tests for interfaces other systems depend on; property-based tests (FsCheck for .NET) that check invariants across generated inputs; mutation testing (Stryker.NET) that injects small bugs to prove the tests would catch them, which tests the tests; and static analysis/security scanning in CI. Limits: tests only check what they specify. Veracode's 2025 report found generated code introduced OWASP Top 10 vulnerabilities in 45% of tasks while still being functional, so security-sensitive, concurrent, performance-critical and financial code still gets human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adoption has costs, and that each one has a mitigation already in this deck. Review load: DORA 2025 found AI adoption linked to higher throughput but still negatively related to delivery stability; keep batches small. Security: Veracode (July 2025) tested 80 tasks across 100+ LLMs; 45% introduced OWASP Top 10 vulnerabilities, with C# among languages at 38–45%; keep static analysis and human security review. Gaming: METR (June 2025) saw models modify tests; lock tests with hooks. Perception: METR's 2025 trial showed developers felt faster while measuring slower; measure outcomes. Token cost: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Mechanics: model APIs are stateless, so each step of the agent loop sends the conversation so far (instructions, files read, tool output) back to the model. Cost per step grows with history, and total cost is the sum across steps; caching reduces but does not remove it (GitHub bills cached tokens too). Why it matters now: GitHub moved every Copilot plan to usage-based billing on June 1, 2026, with AI Credits consumed by input, output and cached tokens at each model's API rate. Quality: Chroma's 'Context Rot' study (July 2025) found performance became less reliable as input length grew across 18 models, even on simple tasks. Mitigations: curated context (field guides, next slide), sub-agents that return summaries instead of raw output, small focused sessions. Chart is illustrative,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08 of 9: Field guides. One line to set up the section: Verified, versioned docs that agents load on demand — pros and cons.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 before showing the pipeline. A field guide is a small, verified markdown document about whatever an agent needs to understand: a single symbol, a behavior or end-to-end flow (as in this refund example), a subsystem, or a team convention. Each guide declares its scope and the code it covers, so CI can check it against that code and record the commit it was verified at. Guides are indexed by name and scope and loaded on demand through skills in our Copilot plugin, instead of being pasted into every prompt. The example is illustrative; bracketed lines are placeholders, not real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approach to the context bottleneck and the token problem together. Top row, offline: a field-guide agent generates markdown guides scoped to a symbol, a behavior, a subsystem or a convention; CI verifies the guides against the code; verified guides live in a versioned docs repo, so we know exactly what an agent was told (useful for audit in payments). Bottom row, at work time: the Copilot plugin ships skills that route the agent to the guide index, and the agent pulls only the relevant guides into its context, then reads the actual code. This is 'just-in-time' context retrieval, which Anthropic's context-engineering guidance recommends over loading everything up front, and it is how Copilot skills are designed: only a description is always visible, and full instructions load when relevant (GitHub Docs). Benefits: fewer tokens per task, less context rot, consistent knowledge across agents and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an agent can learn about our codebase. Raw exploration is always current but expensive: every session re-greps and re-reads, which costs tokens and adds context rot (Chroma, 2025). Vector RAG retrieves by semantic similarity; for code, fixed-size chunks can separate a method from its caller or a threshold from the branch it guards, and it is harder to show exactly what the model saw. Field guides are curated and indexed by name and scope, and they reference exact code identifiers, which are the best query you have for code, and they are versioned files, which matters for audit in payments. The cost is upkeep. This is a comparison of approaches, our assessment rather than a measured benchmark. In practice we use guides to route and the code as the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benefit maps to a problem earlier in the deck. Tokens: usage is billed per token since June 2026 (section 07), and loading a handful of guides is cheaper than re-reading files every session. Quality: Chroma's context-rot study shows output gets less reliable as input grows, so smaller, relevant context helps. Consistency: one verified source instead of each engineer's prompt. Audit: in payments, being able to show what an agent was told is valuable. Durability: compaction summarizes chat history (section 05); knowledge kept in files is reloaded rather than summarized away. Onboarding is a side benefit for humans.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as candid here as on the pros slide. Field guides are documentation, and documentation drifts; a stale guide is worse than none because every agent trusts it. Generated guides can contain the same confident errors as generated code, which is why the CI verification gate does the real trust work. Building and refreshing guides costs tokens, so regenerate incrementally. Agents can over-trust a guide; the standing instruction is that code is the source of truth and conflicts get flagged. At scale, picking the right guide becomes a search problem, solved with an index and a consistent naming scheme. And without owners, guides rot like any wiki. Mitigations are our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09 of 9: Why we adopt. One line to set up the section: What Linux, Google, Amazon, and the research actually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Precise framing matters here: the kernel does not let agents submit patches on their own. It allows AI-ASSISTED contributions under the normal process. Documentation/process/coding-assistants.rst (committed Dec 23, 2025 by Sasha Levin, based on consensus at the 2025 Maintainers Summit; shipped with Linux 7.0 in April 2026) requires GPL-2.0-compatible code, forbids AI agents from adding Signed-off-by (only humans can certify the Developer Certificate of Origin), requires the human to review all AI code and take full responsibility, and asks for an 'Assisted-by: LLM [tools]' tag. It also lays out a required procedure for AI-found bug fixes, including building a reproducer and stating what could not be tested. Linus Torvalds argued in January 2026 that docs should not become an 'AI statement' and that slop is not solved by documentation (The Register, Jan 8, 2026). Sources: docs.kernel.org/process/coding-assistants.html; It's FOSS (Apr 2026);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Sundar Pichai on Alphabet's Q3 2024 earnings call (Oct 29, 2024): more than a quarter of all new code at Google is generated by AI, then reviewed and accepted by engineers. Semafor (Apr 24, 2026) reports Pichai said 75% in an April 22, 2026 Google blog post, up from about 50% the previous fall, describing a shift to agentic workflows. These are company-reported figures and 'AI-generated' is Google's own definition. The point for us is the governance pattern: AI writes, engineers review and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Andy Jassy (Amazon CEO), LinkedIn, August 2024, on Amazon Q's code transformation applied to internal Java upgrades: average upgrade time to Java 17 dropped from about 50 developer-days to a few hours; an estimated 4,500 developer-years saved; more than 50% of production Java systems upgraded in under six months; developers shipped 79% of auto-generated code reviews without additional changes; about $260M in estimated annualized efficiency gains from security and infrastructure improvements. Caveat to say out loud: these are company-reported estimates from a vendor promoting its own product. Relevance to us: large, repetitive modernization work (.NET Framework stragglers) is the sweet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 et al. (2023, arXiv:2302.06590): in a controlled experiment, developers with GitHub Copilot implemented an HTTP server in JavaScript 55.8% faster than the control group. Caveat: a single, well-scoped greenfield task. DORA's 2025 'State of AI-assisted Software Development' (Google Cloud, Sept 23, 2025; nearly 5,000 respondents): 90% report using AI at work; AI adoption now correlates with higher software delivery throughput, but still has a negative relationship with delivery stability. Their framing: AI amplifies what is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to earn trust. METR's randomized trial (Becker, Rush, Barnes &amp; Rein, arXiv:2507.09089, July 2025): 16 experienced open-source developers, 246 tasks in their own large repos, early-2025 tools. Developers forecast a 24% speedup and afterward believed ~20%, but measured completion time was 19% longer with AI allowed. In early 2026 METR said those results are out of date; for returning developers the new data pointed to roughly an 18% speedup, but METR judged it unreliable because many developers declined to work without AI (selection bias), pay changed, and concurrent agent use made timing hard ('We are Changing our Developer Productivity Experiment Design', 2026). Lesson: perception is unreliable; measure cycle time, change-failure rate, review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rather than new claims: each card ties back to an earlier slide. Accountability (Linux Signed-off-by; Google's 'reviewed and accepted by engineers'). Small batches and fast feedback (DORA 2025 found working in small batches especially important with AI). Deterministic guardrails (hooks, CI, policy). Curated context (instructions/skills; METR's context factor). Quote is from Google Cloud's announcement of the 2025 DORA report. Note: adoption is not risk-free; DORA still finds a negative relationship with stability, which is exactly why these practices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concrete, low-risk actions that map to the three levers: context (AGENTS.md), tools (CLI), checks (one hook). Fill in the bracketed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Every number and claim in the deck maps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Every number and claim in the deck maps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Every number and claim in the deck maps to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E1E1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01"/>
            <a:ext cx="10566400" cy="4064099"/>
          </a:xfrm>
          <a:prstGeom prst="rect">
            <a:avLst/>
          </a:prstGeom>
          <a:noFill/>
          <a:ln/>
        </p:spPr>
        <p:txBody>
          <a:bodyPr wrap="square" lIns="0" tIns="0" rIns="0" bIns="0" rtlCol="0" anchor="t"/>
          <a:lstStyle>
            <a:lvl1pPr algn="l" indent="0" marL="0">
              <a:lnSpc>
                <a:spcPct val="140000"/>
              </a:lnSpc>
              <a:buNone/>
              <a:defRPr lang="en-US" sz="1600" dirty="0">
                <a:solidFill>
                  <a:srgbClr val="1E1E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E1E1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01"/>
            <a:ext cx="10566400" cy="4064099"/>
          </a:xfrm>
          <a:prstGeom prst="rect">
            <a:avLst/>
          </a:prstGeom>
          <a:noFill/>
          <a:ln/>
        </p:spPr>
        <p:txBody>
          <a:bodyPr wrap="square" lIns="0" tIns="0" rIns="0" bIns="0" rtlCol="0" anchor="t"/>
          <a:lstStyle>
            <a:lvl1pPr algn="l" indent="0" marL="0">
              <a:lnSpc>
                <a:spcPct val="140000"/>
              </a:lnSpc>
              <a:buNone/>
              <a:defRPr lang="en-US" sz="1600" dirty="0">
                <a:solidFill>
                  <a:srgbClr val="1E1E1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2.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2.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2.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2.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2.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11.png"/><Relationship Id="rId12" Type="http://schemas.openxmlformats.org/officeDocument/2006/relationships/image" Target="../media/image-45-12.png"/><Relationship Id="rId13" Type="http://schemas.openxmlformats.org/officeDocument/2006/relationships/slideLayout" Target="../slideLayouts/slideLayout2.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2.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slideLayout" Target="../slideLayouts/slideLayout2.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6"/>
        </a:solidFill>
      </p:bgPr>
    </p:bg>
    <p:spTree>
      <p:nvGrpSpPr>
        <p:cNvPr id="1" name=""/>
        <p:cNvGrpSpPr/>
        <p:nvPr/>
      </p:nvGrpSpPr>
      <p:grpSpPr>
        <a:xfrm>
          <a:off x="0" y="0"/>
          <a:ext cx="0" cy="0"/>
          <a:chOff x="0" y="0"/>
          <a:chExt cx="0" cy="0"/>
        </a:xfrm>
      </p:grpSpPr>
      <p:pic>
        <p:nvPicPr>
          <p:cNvPr id="2" name="Image 0" descr="Decorative neural network diagram">    </p:cNvPr>
          <p:cNvPicPr>
            <a:picLocks noChangeAspect="1"/>
          </p:cNvPicPr>
          <p:nvPr/>
        </p:nvPicPr>
        <p:blipFill>
          <a:blip r:embed="rId1"/>
          <a:srcRect l="0" r="0" t="0" b="0"/>
          <a:stretch/>
        </p:blipFill>
        <p:spPr>
          <a:xfrm>
            <a:off x="7493000" y="1143000"/>
            <a:ext cx="3886200" cy="4572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ENGINEERING ENABLEMENT · AI FOUNDATIONS</a:t>
            </a:r>
            <a:endParaRPr lang="en-US" sz="1200" dirty="0"/>
          </a:p>
        </p:txBody>
      </p:sp>
      <p:sp>
        <p:nvSpPr>
          <p:cNvPr id="4" name="Text 1"/>
          <p:cNvSpPr/>
          <p:nvPr>
            <p:ph type="title"/>
          </p:nvPr>
        </p:nvSpPr>
        <p:spPr>
          <a:xfrm>
            <a:off x="812800" y="2141240"/>
            <a:ext cx="6540500" cy="1803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1E1E1E"/>
                </a:solidFill>
                <a:latin typeface="Space Grotesk" pitchFamily="34" charset="0"/>
                <a:ea typeface="Space Grotesk" pitchFamily="34" charset="-122"/>
                <a:cs typeface="Space Grotesk" pitchFamily="34" charset="-120"/>
              </a:rPr>
              <a:t>From neurons to agents</a:t>
            </a:r>
            <a:endParaRPr lang="en-US" sz="7000" dirty="0"/>
          </a:p>
        </p:txBody>
      </p:sp>
      <p:sp>
        <p:nvSpPr>
          <p:cNvPr id="5" name="Text 2"/>
          <p:cNvSpPr/>
          <p:nvPr/>
        </p:nvSpPr>
        <p:spPr>
          <a:xfrm>
            <a:off x="812800" y="4122440"/>
            <a:ext cx="654050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How language models work, why they’re good at code, and how we steer them.</a:t>
            </a:r>
            <a:endParaRPr lang="en-US" sz="18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[Presenter] · [Team]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THE PLAN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Nine stops, from math to practice</a:t>
            </a:r>
            <a:endParaRPr lang="en-US" sz="3200" dirty="0"/>
          </a:p>
        </p:txBody>
      </p:sp>
      <p:sp>
        <p:nvSpPr>
          <p:cNvPr id="4" name="Shape 2"/>
          <p:cNvSpPr/>
          <p:nvPr/>
        </p:nvSpPr>
        <p:spPr>
          <a:xfrm>
            <a:off x="815975" y="1882676"/>
            <a:ext cx="3431084" cy="1146870"/>
          </a:xfrm>
          <a:prstGeom prst="roundRect">
            <a:avLst>
              <a:gd name="adj" fmla="val 8582"/>
            </a:avLst>
          </a:prstGeom>
          <a:solidFill>
            <a:srgbClr val="FBFBFC"/>
          </a:solidFill>
          <a:ln w="6350">
            <a:solidFill>
              <a:srgbClr val="D9D9D9"/>
            </a:solidFill>
            <a:prstDash val="solid"/>
          </a:ln>
        </p:spPr>
      </p:sp>
      <p:sp>
        <p:nvSpPr>
          <p:cNvPr id="5" name="Text 3"/>
          <p:cNvSpPr/>
          <p:nvPr/>
        </p:nvSpPr>
        <p:spPr>
          <a:xfrm>
            <a:off x="996950" y="2171601"/>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01</a:t>
            </a:r>
            <a:endParaRPr lang="en-US" sz="3200" dirty="0"/>
          </a:p>
        </p:txBody>
      </p:sp>
      <p:sp>
        <p:nvSpPr>
          <p:cNvPr id="6" name="Text 4"/>
          <p:cNvSpPr/>
          <p:nvPr/>
        </p:nvSpPr>
        <p:spPr>
          <a:xfrm>
            <a:off x="1758950" y="2132310"/>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What an LLM is</a:t>
            </a:r>
            <a:endParaRPr lang="en-US" sz="1400" dirty="0"/>
          </a:p>
        </p:txBody>
      </p:sp>
      <p:sp>
        <p:nvSpPr>
          <p:cNvPr id="7" name="Text 5"/>
          <p:cNvSpPr/>
          <p:nvPr/>
        </p:nvSpPr>
        <p:spPr>
          <a:xfrm>
            <a:off x="1758950" y="2383730"/>
            <a:ext cx="237634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A machine that predicts the next token</a:t>
            </a:r>
            <a:endParaRPr lang="en-US" sz="1200" dirty="0"/>
          </a:p>
        </p:txBody>
      </p:sp>
      <p:sp>
        <p:nvSpPr>
          <p:cNvPr id="8" name="Shape 6"/>
          <p:cNvSpPr/>
          <p:nvPr/>
        </p:nvSpPr>
        <p:spPr>
          <a:xfrm>
            <a:off x="4380409" y="1882676"/>
            <a:ext cx="3431084" cy="1146870"/>
          </a:xfrm>
          <a:prstGeom prst="roundRect">
            <a:avLst>
              <a:gd name="adj" fmla="val 8582"/>
            </a:avLst>
          </a:prstGeom>
          <a:solidFill>
            <a:srgbClr val="FBFBFC"/>
          </a:solidFill>
          <a:ln w="6350">
            <a:solidFill>
              <a:srgbClr val="D9D9D9"/>
            </a:solidFill>
            <a:prstDash val="solid"/>
          </a:ln>
        </p:spPr>
      </p:sp>
      <p:sp>
        <p:nvSpPr>
          <p:cNvPr id="9" name="Text 7"/>
          <p:cNvSpPr/>
          <p:nvPr/>
        </p:nvSpPr>
        <p:spPr>
          <a:xfrm>
            <a:off x="4561384" y="2171601"/>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02</a:t>
            </a:r>
            <a:endParaRPr lang="en-US" sz="3200" dirty="0"/>
          </a:p>
        </p:txBody>
      </p:sp>
      <p:sp>
        <p:nvSpPr>
          <p:cNvPr id="10" name="Text 8"/>
          <p:cNvSpPr/>
          <p:nvPr/>
        </p:nvSpPr>
        <p:spPr>
          <a:xfrm>
            <a:off x="5323384" y="2132310"/>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Why neural nets work</a:t>
            </a:r>
            <a:endParaRPr lang="en-US" sz="1400" dirty="0"/>
          </a:p>
        </p:txBody>
      </p:sp>
      <p:sp>
        <p:nvSpPr>
          <p:cNvPr id="11" name="Text 9"/>
          <p:cNvSpPr/>
          <p:nvPr/>
        </p:nvSpPr>
        <p:spPr>
          <a:xfrm>
            <a:off x="5323384" y="2383730"/>
            <a:ext cx="237634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One neuron, then layers, then learning</a:t>
            </a:r>
            <a:endParaRPr lang="en-US" sz="1200" dirty="0"/>
          </a:p>
        </p:txBody>
      </p:sp>
      <p:sp>
        <p:nvSpPr>
          <p:cNvPr id="12" name="Shape 10"/>
          <p:cNvSpPr/>
          <p:nvPr/>
        </p:nvSpPr>
        <p:spPr>
          <a:xfrm>
            <a:off x="7944842" y="1882676"/>
            <a:ext cx="3431183" cy="1146870"/>
          </a:xfrm>
          <a:prstGeom prst="roundRect">
            <a:avLst>
              <a:gd name="adj" fmla="val 8582"/>
            </a:avLst>
          </a:prstGeom>
          <a:solidFill>
            <a:srgbClr val="FBFBFC"/>
          </a:solidFill>
          <a:ln w="6350">
            <a:solidFill>
              <a:srgbClr val="D9D9D9"/>
            </a:solidFill>
            <a:prstDash val="solid"/>
          </a:ln>
        </p:spPr>
      </p:sp>
      <p:sp>
        <p:nvSpPr>
          <p:cNvPr id="13" name="Text 11"/>
          <p:cNvSpPr/>
          <p:nvPr/>
        </p:nvSpPr>
        <p:spPr>
          <a:xfrm>
            <a:off x="8125817" y="2171601"/>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03</a:t>
            </a:r>
            <a:endParaRPr lang="en-US" sz="3200" dirty="0"/>
          </a:p>
        </p:txBody>
      </p:sp>
      <p:sp>
        <p:nvSpPr>
          <p:cNvPr id="14" name="Text 12"/>
          <p:cNvSpPr/>
          <p:nvPr/>
        </p:nvSpPr>
        <p:spPr>
          <a:xfrm>
            <a:off x="8887817" y="2132310"/>
            <a:ext cx="23764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Why LLMs fit code</a:t>
            </a:r>
            <a:endParaRPr lang="en-US" sz="1400" dirty="0"/>
          </a:p>
        </p:txBody>
      </p:sp>
      <p:sp>
        <p:nvSpPr>
          <p:cNvPr id="15" name="Text 13"/>
          <p:cNvSpPr/>
          <p:nvPr/>
        </p:nvSpPr>
        <p:spPr>
          <a:xfrm>
            <a:off x="8887817" y="2383730"/>
            <a:ext cx="23764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Plentiful, structured, and checkable</a:t>
            </a:r>
            <a:endParaRPr lang="en-US" sz="1200" dirty="0"/>
          </a:p>
        </p:txBody>
      </p:sp>
      <p:sp>
        <p:nvSpPr>
          <p:cNvPr id="16" name="Shape 14"/>
          <p:cNvSpPr/>
          <p:nvPr/>
        </p:nvSpPr>
        <p:spPr>
          <a:xfrm>
            <a:off x="815975" y="3162895"/>
            <a:ext cx="3431084" cy="1146870"/>
          </a:xfrm>
          <a:prstGeom prst="roundRect">
            <a:avLst>
              <a:gd name="adj" fmla="val 8582"/>
            </a:avLst>
          </a:prstGeom>
          <a:solidFill>
            <a:srgbClr val="FBFBFC"/>
          </a:solidFill>
          <a:ln w="6350">
            <a:solidFill>
              <a:srgbClr val="D9D9D9"/>
            </a:solidFill>
            <a:prstDash val="solid"/>
          </a:ln>
        </p:spPr>
      </p:sp>
      <p:sp>
        <p:nvSpPr>
          <p:cNvPr id="17" name="Text 15"/>
          <p:cNvSpPr/>
          <p:nvPr/>
        </p:nvSpPr>
        <p:spPr>
          <a:xfrm>
            <a:off x="996950" y="345182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04</a:t>
            </a:r>
            <a:endParaRPr lang="en-US" sz="3200" dirty="0"/>
          </a:p>
        </p:txBody>
      </p:sp>
      <p:sp>
        <p:nvSpPr>
          <p:cNvPr id="18" name="Text 16"/>
          <p:cNvSpPr/>
          <p:nvPr/>
        </p:nvSpPr>
        <p:spPr>
          <a:xfrm>
            <a:off x="1758950" y="3412530"/>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Model → harness</a:t>
            </a:r>
            <a:endParaRPr lang="en-US" sz="1400" dirty="0"/>
          </a:p>
        </p:txBody>
      </p:sp>
      <p:sp>
        <p:nvSpPr>
          <p:cNvPr id="19" name="Text 17"/>
          <p:cNvSpPr/>
          <p:nvPr/>
        </p:nvSpPr>
        <p:spPr>
          <a:xfrm>
            <a:off x="1758950" y="3663950"/>
            <a:ext cx="237634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The software that turns a model into an agent</a:t>
            </a:r>
            <a:endParaRPr lang="en-US" sz="1200" dirty="0"/>
          </a:p>
        </p:txBody>
      </p:sp>
      <p:sp>
        <p:nvSpPr>
          <p:cNvPr id="20" name="Shape 18"/>
          <p:cNvSpPr/>
          <p:nvPr/>
        </p:nvSpPr>
        <p:spPr>
          <a:xfrm>
            <a:off x="4380409" y="3162895"/>
            <a:ext cx="3431084" cy="1146870"/>
          </a:xfrm>
          <a:prstGeom prst="roundRect">
            <a:avLst>
              <a:gd name="adj" fmla="val 8582"/>
            </a:avLst>
          </a:prstGeom>
          <a:solidFill>
            <a:srgbClr val="FBFBFC"/>
          </a:solidFill>
          <a:ln w="6350">
            <a:solidFill>
              <a:srgbClr val="D9D9D9"/>
            </a:solidFill>
            <a:prstDash val="solid"/>
          </a:ln>
        </p:spPr>
      </p:sp>
      <p:sp>
        <p:nvSpPr>
          <p:cNvPr id="21" name="Text 19"/>
          <p:cNvSpPr/>
          <p:nvPr/>
        </p:nvSpPr>
        <p:spPr>
          <a:xfrm>
            <a:off x="4561384" y="345182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05</a:t>
            </a:r>
            <a:endParaRPr lang="en-US" sz="3200" dirty="0"/>
          </a:p>
        </p:txBody>
      </p:sp>
      <p:sp>
        <p:nvSpPr>
          <p:cNvPr id="22" name="Text 20"/>
          <p:cNvSpPr/>
          <p:nvPr/>
        </p:nvSpPr>
        <p:spPr>
          <a:xfrm>
            <a:off x="5323384" y="3412530"/>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The agent loop</a:t>
            </a:r>
            <a:endParaRPr lang="en-US" sz="1400" dirty="0"/>
          </a:p>
        </p:txBody>
      </p:sp>
      <p:sp>
        <p:nvSpPr>
          <p:cNvPr id="23" name="Text 21"/>
          <p:cNvSpPr/>
          <p:nvPr/>
        </p:nvSpPr>
        <p:spPr>
          <a:xfrm>
            <a:off x="5323384" y="3663950"/>
            <a:ext cx="237634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What gets sent every turn, and why</a:t>
            </a:r>
            <a:endParaRPr lang="en-US" sz="1200" dirty="0"/>
          </a:p>
        </p:txBody>
      </p:sp>
      <p:sp>
        <p:nvSpPr>
          <p:cNvPr id="24" name="Shape 22"/>
          <p:cNvSpPr/>
          <p:nvPr/>
        </p:nvSpPr>
        <p:spPr>
          <a:xfrm>
            <a:off x="7944842" y="3162895"/>
            <a:ext cx="3431183" cy="1146870"/>
          </a:xfrm>
          <a:prstGeom prst="roundRect">
            <a:avLst>
              <a:gd name="adj" fmla="val 8582"/>
            </a:avLst>
          </a:prstGeom>
          <a:solidFill>
            <a:srgbClr val="FBFBFC"/>
          </a:solidFill>
          <a:ln w="6350">
            <a:solidFill>
              <a:srgbClr val="D9D9D9"/>
            </a:solidFill>
            <a:prstDash val="solid"/>
          </a:ln>
        </p:spPr>
      </p:sp>
      <p:sp>
        <p:nvSpPr>
          <p:cNvPr id="25" name="Text 23"/>
          <p:cNvSpPr/>
          <p:nvPr/>
        </p:nvSpPr>
        <p:spPr>
          <a:xfrm>
            <a:off x="8125817" y="345182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06</a:t>
            </a:r>
            <a:endParaRPr lang="en-US" sz="3200" dirty="0"/>
          </a:p>
        </p:txBody>
      </p:sp>
      <p:sp>
        <p:nvSpPr>
          <p:cNvPr id="26" name="Text 24"/>
          <p:cNvSpPr/>
          <p:nvPr/>
        </p:nvSpPr>
        <p:spPr>
          <a:xfrm>
            <a:off x="8887817" y="3412530"/>
            <a:ext cx="23764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Steering Copilot</a:t>
            </a:r>
            <a:endParaRPr lang="en-US" sz="1400" dirty="0"/>
          </a:p>
        </p:txBody>
      </p:sp>
      <p:sp>
        <p:nvSpPr>
          <p:cNvPr id="27" name="Text 25"/>
          <p:cNvSpPr/>
          <p:nvPr/>
        </p:nvSpPr>
        <p:spPr>
          <a:xfrm>
            <a:off x="8887817" y="3663950"/>
            <a:ext cx="23764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Instructions, skills, agents, and hooks</a:t>
            </a:r>
            <a:endParaRPr lang="en-US" sz="1200" dirty="0"/>
          </a:p>
        </p:txBody>
      </p:sp>
      <p:sp>
        <p:nvSpPr>
          <p:cNvPr id="28" name="Shape 26"/>
          <p:cNvSpPr/>
          <p:nvPr/>
        </p:nvSpPr>
        <p:spPr>
          <a:xfrm>
            <a:off x="815975" y="4443115"/>
            <a:ext cx="3431084" cy="1146870"/>
          </a:xfrm>
          <a:prstGeom prst="roundRect">
            <a:avLst>
              <a:gd name="adj" fmla="val 8582"/>
            </a:avLst>
          </a:prstGeom>
          <a:solidFill>
            <a:srgbClr val="FBFBFC"/>
          </a:solidFill>
          <a:ln w="6350">
            <a:solidFill>
              <a:srgbClr val="D9D9D9"/>
            </a:solidFill>
            <a:prstDash val="solid"/>
          </a:ln>
        </p:spPr>
      </p:sp>
      <p:sp>
        <p:nvSpPr>
          <p:cNvPr id="29" name="Text 27"/>
          <p:cNvSpPr/>
          <p:nvPr/>
        </p:nvSpPr>
        <p:spPr>
          <a:xfrm>
            <a:off x="996950" y="473204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07</a:t>
            </a:r>
            <a:endParaRPr lang="en-US" sz="3200" dirty="0"/>
          </a:p>
        </p:txBody>
      </p:sp>
      <p:sp>
        <p:nvSpPr>
          <p:cNvPr id="30" name="Text 28"/>
          <p:cNvSpPr/>
          <p:nvPr/>
        </p:nvSpPr>
        <p:spPr>
          <a:xfrm>
            <a:off x="1758950" y="4791770"/>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Quality and cost</a:t>
            </a:r>
            <a:endParaRPr lang="en-US" sz="1400" dirty="0"/>
          </a:p>
        </p:txBody>
      </p:sp>
      <p:sp>
        <p:nvSpPr>
          <p:cNvPr id="31" name="Text 29"/>
          <p:cNvSpPr/>
          <p:nvPr/>
        </p:nvSpPr>
        <p:spPr>
          <a:xfrm>
            <a:off x="1758950" y="5043190"/>
            <a:ext cx="248493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Tests as the boundary; token cost</a:t>
            </a:r>
            <a:endParaRPr lang="en-US" sz="1200" dirty="0"/>
          </a:p>
        </p:txBody>
      </p:sp>
      <p:sp>
        <p:nvSpPr>
          <p:cNvPr id="32" name="Shape 30"/>
          <p:cNvSpPr/>
          <p:nvPr/>
        </p:nvSpPr>
        <p:spPr>
          <a:xfrm>
            <a:off x="4380409" y="4443115"/>
            <a:ext cx="3431084" cy="1146870"/>
          </a:xfrm>
          <a:prstGeom prst="roundRect">
            <a:avLst>
              <a:gd name="adj" fmla="val 8582"/>
            </a:avLst>
          </a:prstGeom>
          <a:solidFill>
            <a:srgbClr val="FBFBFC"/>
          </a:solidFill>
          <a:ln w="6350">
            <a:solidFill>
              <a:srgbClr val="D9D9D9"/>
            </a:solidFill>
            <a:prstDash val="solid"/>
          </a:ln>
        </p:spPr>
      </p:sp>
      <p:sp>
        <p:nvSpPr>
          <p:cNvPr id="33" name="Text 31"/>
          <p:cNvSpPr/>
          <p:nvPr/>
        </p:nvSpPr>
        <p:spPr>
          <a:xfrm>
            <a:off x="4561384" y="473204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08</a:t>
            </a:r>
            <a:endParaRPr lang="en-US" sz="3200" dirty="0"/>
          </a:p>
        </p:txBody>
      </p:sp>
      <p:sp>
        <p:nvSpPr>
          <p:cNvPr id="34" name="Text 32"/>
          <p:cNvSpPr/>
          <p:nvPr/>
        </p:nvSpPr>
        <p:spPr>
          <a:xfrm>
            <a:off x="5323384" y="4692749"/>
            <a:ext cx="237634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Field guides</a:t>
            </a:r>
            <a:endParaRPr lang="en-US" sz="1400" dirty="0"/>
          </a:p>
        </p:txBody>
      </p:sp>
      <p:sp>
        <p:nvSpPr>
          <p:cNvPr id="35" name="Text 33"/>
          <p:cNvSpPr/>
          <p:nvPr/>
        </p:nvSpPr>
        <p:spPr>
          <a:xfrm>
            <a:off x="5323384" y="4944170"/>
            <a:ext cx="2376348"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Verified context, loaded on demand</a:t>
            </a:r>
            <a:endParaRPr lang="en-US" sz="1200" dirty="0"/>
          </a:p>
        </p:txBody>
      </p:sp>
      <p:sp>
        <p:nvSpPr>
          <p:cNvPr id="36" name="Shape 34"/>
          <p:cNvSpPr/>
          <p:nvPr/>
        </p:nvSpPr>
        <p:spPr>
          <a:xfrm>
            <a:off x="7944842" y="4443115"/>
            <a:ext cx="3431183" cy="1146870"/>
          </a:xfrm>
          <a:prstGeom prst="roundRect">
            <a:avLst>
              <a:gd name="adj" fmla="val 8582"/>
            </a:avLst>
          </a:prstGeom>
          <a:solidFill>
            <a:srgbClr val="FBFBFC"/>
          </a:solidFill>
          <a:ln w="6350">
            <a:solidFill>
              <a:srgbClr val="D9D9D9"/>
            </a:solidFill>
            <a:prstDash val="solid"/>
          </a:ln>
        </p:spPr>
      </p:sp>
      <p:sp>
        <p:nvSpPr>
          <p:cNvPr id="37" name="Text 35"/>
          <p:cNvSpPr/>
          <p:nvPr/>
        </p:nvSpPr>
        <p:spPr>
          <a:xfrm>
            <a:off x="8125817" y="4732040"/>
            <a:ext cx="66040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0AEEF"/>
                </a:solidFill>
                <a:latin typeface="Space Grotesk" pitchFamily="34" charset="0"/>
                <a:ea typeface="Space Grotesk" pitchFamily="34" charset="-122"/>
                <a:cs typeface="Space Grotesk" pitchFamily="34" charset="-120"/>
              </a:rPr>
              <a:t>09</a:t>
            </a:r>
            <a:endParaRPr lang="en-US" sz="3200" dirty="0"/>
          </a:p>
        </p:txBody>
      </p:sp>
      <p:sp>
        <p:nvSpPr>
          <p:cNvPr id="38" name="Text 36"/>
          <p:cNvSpPr/>
          <p:nvPr/>
        </p:nvSpPr>
        <p:spPr>
          <a:xfrm>
            <a:off x="8887817" y="4692749"/>
            <a:ext cx="23764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Why we adopt</a:t>
            </a:r>
            <a:endParaRPr lang="en-US" sz="1400" dirty="0"/>
          </a:p>
        </p:txBody>
      </p:sp>
      <p:sp>
        <p:nvSpPr>
          <p:cNvPr id="39" name="Text 37"/>
          <p:cNvSpPr/>
          <p:nvPr/>
        </p:nvSpPr>
        <p:spPr>
          <a:xfrm>
            <a:off x="8887817" y="4944170"/>
            <a:ext cx="237645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The evidence, including the caveats</a:t>
            </a:r>
            <a:endParaRPr lang="en-US" sz="1200" dirty="0"/>
          </a:p>
        </p:txBody>
      </p:sp>
      <p:sp>
        <p:nvSpPr>
          <p:cNvPr id="40" name="Text 38"/>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Goal: understand the machine well enough to steer it — and to judge when not to trust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457200" cy="127000"/>
          </a:xfrm>
          <a:prstGeom prst="roundRect">
            <a:avLst>
              <a:gd name="adj" fmla="val 50000"/>
            </a:avLst>
          </a:prstGeom>
          <a:solidFill>
            <a:srgbClr val="00AEEF"/>
          </a:solidFill>
          <a:ln/>
        </p:spPr>
      </p:sp>
      <p:sp>
        <p:nvSpPr>
          <p:cNvPr id="3" name="Shape 1"/>
          <p:cNvSpPr/>
          <p:nvPr/>
        </p:nvSpPr>
        <p:spPr>
          <a:xfrm>
            <a:off x="1346200" y="812800"/>
            <a:ext cx="127000" cy="127000"/>
          </a:xfrm>
          <a:prstGeom prst="roundRect">
            <a:avLst>
              <a:gd name="adj" fmla="val 50000"/>
            </a:avLst>
          </a:prstGeom>
          <a:solidFill>
            <a:srgbClr val="D9D9D9"/>
          </a:solidFill>
          <a:ln/>
        </p:spPr>
      </p:sp>
      <p:sp>
        <p:nvSpPr>
          <p:cNvPr id="4" name="Shape 2"/>
          <p:cNvSpPr/>
          <p:nvPr/>
        </p:nvSpPr>
        <p:spPr>
          <a:xfrm>
            <a:off x="1549400" y="812800"/>
            <a:ext cx="127000" cy="127000"/>
          </a:xfrm>
          <a:prstGeom prst="roundRect">
            <a:avLst>
              <a:gd name="adj" fmla="val 50000"/>
            </a:avLst>
          </a:prstGeom>
          <a:solidFill>
            <a:srgbClr val="D9D9D9"/>
          </a:solidFill>
          <a:ln/>
        </p:spPr>
      </p:sp>
      <p:sp>
        <p:nvSpPr>
          <p:cNvPr id="5" name="Shape 3"/>
          <p:cNvSpPr/>
          <p:nvPr/>
        </p:nvSpPr>
        <p:spPr>
          <a:xfrm>
            <a:off x="1752600" y="812800"/>
            <a:ext cx="127000" cy="127000"/>
          </a:xfrm>
          <a:prstGeom prst="roundRect">
            <a:avLst>
              <a:gd name="adj" fmla="val 50000"/>
            </a:avLst>
          </a:prstGeom>
          <a:solidFill>
            <a:srgbClr val="D9D9D9"/>
          </a:solidFill>
          <a:ln/>
        </p:spPr>
      </p:sp>
      <p:sp>
        <p:nvSpPr>
          <p:cNvPr id="6" name="Shape 4"/>
          <p:cNvSpPr/>
          <p:nvPr/>
        </p:nvSpPr>
        <p:spPr>
          <a:xfrm>
            <a:off x="1955800" y="812800"/>
            <a:ext cx="127000" cy="127000"/>
          </a:xfrm>
          <a:prstGeom prst="roundRect">
            <a:avLst>
              <a:gd name="adj" fmla="val 50000"/>
            </a:avLst>
          </a:prstGeom>
          <a:solidFill>
            <a:srgbClr val="D9D9D9"/>
          </a:solidFill>
          <a:ln/>
        </p:spPr>
      </p:sp>
      <p:sp>
        <p:nvSpPr>
          <p:cNvPr id="7" name="Shape 5"/>
          <p:cNvSpPr/>
          <p:nvPr/>
        </p:nvSpPr>
        <p:spPr>
          <a:xfrm>
            <a:off x="2159000" y="812800"/>
            <a:ext cx="127000" cy="127000"/>
          </a:xfrm>
          <a:prstGeom prst="roundRect">
            <a:avLst>
              <a:gd name="adj" fmla="val 50000"/>
            </a:avLst>
          </a:prstGeom>
          <a:solidFill>
            <a:srgbClr val="D9D9D9"/>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01</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What is an LLM</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A machine that predicts the next token, built from a neural network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01 · WHAT IS AN LLM</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An LLM does one thing: predict the next token</a:t>
            </a:r>
            <a:endParaRPr lang="en-US" sz="3200" dirty="0"/>
          </a:p>
        </p:txBody>
      </p:sp>
      <p:sp>
        <p:nvSpPr>
          <p:cNvPr id="4" name="Text 2"/>
          <p:cNvSpPr/>
          <p:nvPr/>
        </p:nvSpPr>
        <p:spPr>
          <a:xfrm>
            <a:off x="812800" y="2354461"/>
            <a:ext cx="3937000" cy="1295400"/>
          </a:xfrm>
          <a:prstGeom prst="roundRect">
            <a:avLst>
              <a:gd name="adj" fmla="val 9804"/>
            </a:avLst>
          </a:prstGeom>
          <a:solidFill>
            <a:srgbClr val="ECECEC"/>
          </a:solidFill>
          <a:ln/>
        </p:spPr>
        <p:txBody>
          <a:bodyPr wrap="square" lIns="267603" tIns="267603" rIns="167781" bIns="242203" rtlCol="0" anchor="t">
            <a:normAutofit/>
          </a:bodyPr>
          <a:lstStyle/>
          <a:p>
            <a:pPr algn="l" indent="0" marL="0">
              <a:lnSpc>
                <a:spcPts val="2700"/>
              </a:lnSpc>
              <a:buNone/>
            </a:pPr>
            <a:r>
              <a:rPr lang="en-US" sz="1800" dirty="0">
                <a:solidFill>
                  <a:srgbClr val="1E1E1E"/>
                </a:solidFill>
                <a:latin typeface="JetBrains Mono" pitchFamily="49" charset="0"/>
                <a:ea typeface="JetBrains Mono" pitchFamily="49" charset="-122"/>
                <a:cs typeface="JetBrains Mono" pitchFamily="49" charset="-120"/>
              </a:rPr>
              <a:t>The card was declined due to insufficient</a:t>
            </a:r>
            <a:r>
              <a:rPr lang="en-US" sz="1800" dirty="0">
                <a:solidFill>
                  <a:srgbClr val="0A5A8A"/>
                </a:solidFill>
                <a:latin typeface="JetBrains Mono" pitchFamily="49" charset="0"/>
                <a:ea typeface="JetBrains Mono" pitchFamily="49" charset="-122"/>
                <a:cs typeface="JetBrains Mono" pitchFamily="49" charset="-120"/>
              </a:rPr>
              <a:t> ▍</a:t>
            </a:r>
            <a:endParaRPr lang="en-US" sz="1800" dirty="0"/>
          </a:p>
        </p:txBody>
      </p:sp>
      <p:sp>
        <p:nvSpPr>
          <p:cNvPr id="5" name="Text 3"/>
          <p:cNvSpPr/>
          <p:nvPr/>
        </p:nvSpPr>
        <p:spPr>
          <a:xfrm>
            <a:off x="5156200" y="1879501"/>
            <a:ext cx="64096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NEXT-TOKEN PROBABILITIES (ILLUSTRATIVE)</a:t>
            </a:r>
            <a:endParaRPr lang="en-US" sz="1200" dirty="0"/>
          </a:p>
        </p:txBody>
      </p:sp>
      <p:sp>
        <p:nvSpPr>
          <p:cNvPr id="6" name="Text 4"/>
          <p:cNvSpPr/>
          <p:nvPr/>
        </p:nvSpPr>
        <p:spPr>
          <a:xfrm>
            <a:off x="5156200" y="2235101"/>
            <a:ext cx="1130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funds</a:t>
            </a:r>
            <a:endParaRPr lang="en-US" sz="1400" dirty="0"/>
          </a:p>
        </p:txBody>
      </p:sp>
      <p:sp>
        <p:nvSpPr>
          <p:cNvPr id="7" name="Shape 5"/>
          <p:cNvSpPr/>
          <p:nvPr/>
        </p:nvSpPr>
        <p:spPr>
          <a:xfrm>
            <a:off x="6362700" y="2219821"/>
            <a:ext cx="4368800" cy="279400"/>
          </a:xfrm>
          <a:prstGeom prst="roundRect">
            <a:avLst>
              <a:gd name="adj" fmla="val 18182"/>
            </a:avLst>
          </a:prstGeom>
          <a:solidFill>
            <a:srgbClr val="00AEEF"/>
          </a:solidFill>
          <a:ln/>
        </p:spPr>
      </p:sp>
      <p:sp>
        <p:nvSpPr>
          <p:cNvPr id="8" name="Text 6"/>
          <p:cNvSpPr/>
          <p:nvPr/>
        </p:nvSpPr>
        <p:spPr>
          <a:xfrm>
            <a:off x="10858500" y="2235101"/>
            <a:ext cx="46089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82%</a:t>
            </a:r>
            <a:endParaRPr lang="en-US" sz="1400" dirty="0"/>
          </a:p>
        </p:txBody>
      </p:sp>
      <p:sp>
        <p:nvSpPr>
          <p:cNvPr id="9" name="Text 7"/>
          <p:cNvSpPr/>
          <p:nvPr/>
        </p:nvSpPr>
        <p:spPr>
          <a:xfrm>
            <a:off x="5156200" y="2641501"/>
            <a:ext cx="1130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balance</a:t>
            </a:r>
            <a:endParaRPr lang="en-US" sz="1400" dirty="0"/>
          </a:p>
        </p:txBody>
      </p:sp>
      <p:sp>
        <p:nvSpPr>
          <p:cNvPr id="10" name="Shape 8"/>
          <p:cNvSpPr/>
          <p:nvPr/>
        </p:nvSpPr>
        <p:spPr>
          <a:xfrm>
            <a:off x="6362700" y="2626221"/>
            <a:ext cx="476250" cy="279400"/>
          </a:xfrm>
          <a:prstGeom prst="roundRect">
            <a:avLst>
              <a:gd name="adj" fmla="val 18182"/>
            </a:avLst>
          </a:prstGeom>
          <a:solidFill>
            <a:srgbClr val="C4C4C4"/>
          </a:solidFill>
          <a:ln/>
        </p:spPr>
      </p:sp>
      <p:sp>
        <p:nvSpPr>
          <p:cNvPr id="11" name="Text 9"/>
          <p:cNvSpPr/>
          <p:nvPr/>
        </p:nvSpPr>
        <p:spPr>
          <a:xfrm>
            <a:off x="6965950" y="2641501"/>
            <a:ext cx="3328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9%</a:t>
            </a:r>
            <a:endParaRPr lang="en-US" sz="1400" dirty="0"/>
          </a:p>
        </p:txBody>
      </p:sp>
      <p:sp>
        <p:nvSpPr>
          <p:cNvPr id="12" name="Text 10"/>
          <p:cNvSpPr/>
          <p:nvPr/>
        </p:nvSpPr>
        <p:spPr>
          <a:xfrm>
            <a:off x="5156200" y="3047901"/>
            <a:ext cx="1130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credit</a:t>
            </a:r>
            <a:endParaRPr lang="en-US" sz="1400" dirty="0"/>
          </a:p>
        </p:txBody>
      </p:sp>
      <p:sp>
        <p:nvSpPr>
          <p:cNvPr id="13" name="Shape 11"/>
          <p:cNvSpPr/>
          <p:nvPr/>
        </p:nvSpPr>
        <p:spPr>
          <a:xfrm>
            <a:off x="6362700" y="3032621"/>
            <a:ext cx="209550" cy="279400"/>
          </a:xfrm>
          <a:prstGeom prst="roundRect">
            <a:avLst>
              <a:gd name="adj" fmla="val 24242"/>
            </a:avLst>
          </a:prstGeom>
          <a:solidFill>
            <a:srgbClr val="C4C4C4"/>
          </a:solidFill>
          <a:ln/>
        </p:spPr>
      </p:sp>
      <p:sp>
        <p:nvSpPr>
          <p:cNvPr id="14" name="Text 12"/>
          <p:cNvSpPr/>
          <p:nvPr/>
        </p:nvSpPr>
        <p:spPr>
          <a:xfrm>
            <a:off x="6699250" y="3047901"/>
            <a:ext cx="3328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4%</a:t>
            </a:r>
            <a:endParaRPr lang="en-US" sz="1400" dirty="0"/>
          </a:p>
        </p:txBody>
      </p:sp>
      <p:sp>
        <p:nvSpPr>
          <p:cNvPr id="15" name="Text 13"/>
          <p:cNvSpPr/>
          <p:nvPr/>
        </p:nvSpPr>
        <p:spPr>
          <a:xfrm>
            <a:off x="5156200" y="3454301"/>
            <a:ext cx="1130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limit</a:t>
            </a:r>
            <a:endParaRPr lang="en-US" sz="1400" dirty="0"/>
          </a:p>
        </p:txBody>
      </p:sp>
      <p:sp>
        <p:nvSpPr>
          <p:cNvPr id="16" name="Shape 14"/>
          <p:cNvSpPr/>
          <p:nvPr/>
        </p:nvSpPr>
        <p:spPr>
          <a:xfrm>
            <a:off x="6362700" y="3439021"/>
            <a:ext cx="101600" cy="279400"/>
          </a:xfrm>
          <a:prstGeom prst="roundRect">
            <a:avLst>
              <a:gd name="adj" fmla="val 50000"/>
            </a:avLst>
          </a:prstGeom>
          <a:solidFill>
            <a:srgbClr val="C4C4C4"/>
          </a:solidFill>
          <a:ln/>
        </p:spPr>
      </p:sp>
      <p:sp>
        <p:nvSpPr>
          <p:cNvPr id="17" name="Text 15"/>
          <p:cNvSpPr/>
          <p:nvPr/>
        </p:nvSpPr>
        <p:spPr>
          <a:xfrm>
            <a:off x="6591300" y="3454301"/>
            <a:ext cx="3328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2%</a:t>
            </a:r>
            <a:endParaRPr lang="en-US" sz="1400" dirty="0"/>
          </a:p>
        </p:txBody>
      </p:sp>
      <p:sp>
        <p:nvSpPr>
          <p:cNvPr id="18" name="Text 16"/>
          <p:cNvSpPr/>
          <p:nvPr/>
        </p:nvSpPr>
        <p:spPr>
          <a:xfrm>
            <a:off x="5156200" y="3860701"/>
            <a:ext cx="1130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other</a:t>
            </a:r>
            <a:endParaRPr lang="en-US" sz="1400" dirty="0"/>
          </a:p>
        </p:txBody>
      </p:sp>
      <p:sp>
        <p:nvSpPr>
          <p:cNvPr id="19" name="Shape 17"/>
          <p:cNvSpPr/>
          <p:nvPr/>
        </p:nvSpPr>
        <p:spPr>
          <a:xfrm>
            <a:off x="6362700" y="3845421"/>
            <a:ext cx="158750" cy="279400"/>
          </a:xfrm>
          <a:prstGeom prst="roundRect">
            <a:avLst>
              <a:gd name="adj" fmla="val 32000"/>
            </a:avLst>
          </a:prstGeom>
          <a:solidFill>
            <a:srgbClr val="C4C4C4"/>
          </a:solidFill>
          <a:ln/>
        </p:spPr>
      </p:sp>
      <p:sp>
        <p:nvSpPr>
          <p:cNvPr id="20" name="Text 18"/>
          <p:cNvSpPr/>
          <p:nvPr/>
        </p:nvSpPr>
        <p:spPr>
          <a:xfrm>
            <a:off x="6648450" y="3860701"/>
            <a:ext cx="33289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3%</a:t>
            </a:r>
            <a:endParaRPr lang="en-US" sz="1400" dirty="0"/>
          </a:p>
        </p:txBody>
      </p:sp>
      <p:sp>
        <p:nvSpPr>
          <p:cNvPr id="21" name="Text 19"/>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Pick a likely token, append it, repeat. Every paragraph — and every line of code — is produced this way.</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Probabilities are illustrative. Architecture: Vaswani et al., “Attention Is All You Need,” 2017.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01 · WHAT IS AN LLM</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Under the hood: text → numbers → network → odds</a:t>
            </a:r>
            <a:endParaRPr lang="en-US" sz="3200" dirty="0"/>
          </a:p>
        </p:txBody>
      </p:sp>
      <p:sp>
        <p:nvSpPr>
          <p:cNvPr id="4" name="Shape 2"/>
          <p:cNvSpPr/>
          <p:nvPr/>
        </p:nvSpPr>
        <p:spPr>
          <a:xfrm>
            <a:off x="815975" y="1882676"/>
            <a:ext cx="1741190" cy="1718072"/>
          </a:xfrm>
          <a:prstGeom prst="roundRect">
            <a:avLst>
              <a:gd name="adj" fmla="val 5729"/>
            </a:avLst>
          </a:prstGeom>
          <a:solidFill>
            <a:srgbClr val="FBFBFC"/>
          </a:solidFill>
          <a:ln w="6350">
            <a:solidFill>
              <a:srgbClr val="D9D9D9"/>
            </a:solidFill>
            <a:prstDash val="solid"/>
          </a:ln>
        </p:spPr>
      </p:sp>
      <p:sp>
        <p:nvSpPr>
          <p:cNvPr id="5" name="Text 3"/>
          <p:cNvSpPr/>
          <p:nvPr/>
        </p:nvSpPr>
        <p:spPr>
          <a:xfrm>
            <a:off x="971550" y="2038251"/>
            <a:ext cx="1480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Text</a:t>
            </a:r>
            <a:endParaRPr lang="en-US" sz="1400" dirty="0"/>
          </a:p>
        </p:txBody>
      </p:sp>
      <p:sp>
        <p:nvSpPr>
          <p:cNvPr id="6" name="Text 4"/>
          <p:cNvSpPr/>
          <p:nvPr/>
        </p:nvSpPr>
        <p:spPr>
          <a:xfrm>
            <a:off x="971550" y="2353171"/>
            <a:ext cx="148084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3C6F"/>
                </a:solidFill>
                <a:latin typeface="JetBrains Mono" pitchFamily="49" charset="0"/>
                <a:ea typeface="JetBrains Mono" pitchFamily="49" charset="-122"/>
                <a:cs typeface="JetBrains Mono" pitchFamily="49" charset="-120"/>
              </a:rPr>
              <a:t>declined due to</a:t>
            </a:r>
            <a:endParaRPr lang="en-US" sz="1400" dirty="0"/>
          </a:p>
        </p:txBody>
      </p:sp>
      <p:sp>
        <p:nvSpPr>
          <p:cNvPr id="7" name="Text 5"/>
          <p:cNvSpPr/>
          <p:nvPr/>
        </p:nvSpPr>
        <p:spPr>
          <a:xfrm>
            <a:off x="971550" y="2952452"/>
            <a:ext cx="14808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What you type</a:t>
            </a:r>
            <a:endParaRPr lang="en-US" sz="1200" dirty="0"/>
          </a:p>
        </p:txBody>
      </p:sp>
      <p:pic>
        <p:nvPicPr>
          <p:cNvPr id="8" name="Image 0" descr="arrow-right">    </p:cNvPr>
          <p:cNvPicPr>
            <a:picLocks noChangeAspect="1"/>
          </p:cNvPicPr>
          <p:nvPr/>
        </p:nvPicPr>
        <p:blipFill>
          <a:blip r:embed="rId1"/>
          <a:srcRect l="0" r="0" t="0" b="0"/>
          <a:stretch/>
        </p:blipFill>
        <p:spPr>
          <a:xfrm>
            <a:off x="2661940" y="2665512"/>
            <a:ext cx="254000" cy="152400"/>
          </a:xfrm>
          <a:prstGeom prst="rect">
            <a:avLst/>
          </a:prstGeom>
        </p:spPr>
      </p:pic>
      <p:sp>
        <p:nvSpPr>
          <p:cNvPr id="9" name="Shape 6"/>
          <p:cNvSpPr/>
          <p:nvPr/>
        </p:nvSpPr>
        <p:spPr>
          <a:xfrm>
            <a:off x="3020715" y="1882676"/>
            <a:ext cx="1741190" cy="1718072"/>
          </a:xfrm>
          <a:prstGeom prst="roundRect">
            <a:avLst>
              <a:gd name="adj" fmla="val 5729"/>
            </a:avLst>
          </a:prstGeom>
          <a:solidFill>
            <a:srgbClr val="FBFBFC"/>
          </a:solidFill>
          <a:ln w="6350">
            <a:solidFill>
              <a:srgbClr val="D9D9D9"/>
            </a:solidFill>
            <a:prstDash val="solid"/>
          </a:ln>
        </p:spPr>
      </p:sp>
      <p:sp>
        <p:nvSpPr>
          <p:cNvPr id="10" name="Text 7"/>
          <p:cNvSpPr/>
          <p:nvPr/>
        </p:nvSpPr>
        <p:spPr>
          <a:xfrm>
            <a:off x="3176290" y="2038251"/>
            <a:ext cx="1480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Tokens</a:t>
            </a:r>
            <a:endParaRPr lang="en-US" sz="1400" dirty="0"/>
          </a:p>
        </p:txBody>
      </p:sp>
      <p:sp>
        <p:nvSpPr>
          <p:cNvPr id="11" name="Text 8"/>
          <p:cNvSpPr/>
          <p:nvPr/>
        </p:nvSpPr>
        <p:spPr>
          <a:xfrm>
            <a:off x="3176290" y="2353171"/>
            <a:ext cx="883940" cy="264120"/>
          </a:xfrm>
          <a:prstGeom prst="roundRect">
            <a:avLst>
              <a:gd name="adj" fmla="val 19234"/>
            </a:avLst>
          </a:prstGeom>
          <a:solidFill>
            <a:srgbClr val="DCE6F5"/>
          </a:solidFill>
          <a:ln/>
        </p:spPr>
        <p:txBody>
          <a:bodyPr wrap="none" lIns="0" tIns="0" rIns="0" bIns="0" rtlCol="0" anchor="ctr">
            <a:normAutofit/>
          </a:bodyPr>
          <a:lstStyle/>
          <a:p>
            <a:pPr algn="ct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declined</a:t>
            </a:r>
            <a:endParaRPr lang="en-US" sz="1200" dirty="0"/>
          </a:p>
        </p:txBody>
      </p:sp>
      <p:sp>
        <p:nvSpPr>
          <p:cNvPr id="12" name="Text 9"/>
          <p:cNvSpPr/>
          <p:nvPr/>
        </p:nvSpPr>
        <p:spPr>
          <a:xfrm>
            <a:off x="4111030" y="2353171"/>
            <a:ext cx="426740" cy="264120"/>
          </a:xfrm>
          <a:prstGeom prst="roundRect">
            <a:avLst>
              <a:gd name="adj" fmla="val 19234"/>
            </a:avLst>
          </a:prstGeom>
          <a:solidFill>
            <a:srgbClr val="DCE6F5"/>
          </a:solidFill>
          <a:ln/>
        </p:spPr>
        <p:txBody>
          <a:bodyPr wrap="none" lIns="0" tIns="0" rIns="0" bIns="0" rtlCol="0" anchor="ctr">
            <a:normAutofit/>
          </a:bodyPr>
          <a:lstStyle/>
          <a:p>
            <a:pPr algn="ct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due</a:t>
            </a:r>
            <a:endParaRPr lang="en-US" sz="1200" dirty="0"/>
          </a:p>
        </p:txBody>
      </p:sp>
      <p:sp>
        <p:nvSpPr>
          <p:cNvPr id="13" name="Text 10"/>
          <p:cNvSpPr/>
          <p:nvPr/>
        </p:nvSpPr>
        <p:spPr>
          <a:xfrm>
            <a:off x="3176290" y="2668091"/>
            <a:ext cx="335359" cy="264120"/>
          </a:xfrm>
          <a:prstGeom prst="roundRect">
            <a:avLst>
              <a:gd name="adj" fmla="val 19234"/>
            </a:avLst>
          </a:prstGeom>
          <a:solidFill>
            <a:srgbClr val="DCE6F5"/>
          </a:solidFill>
          <a:ln/>
        </p:spPr>
        <p:txBody>
          <a:bodyPr wrap="none" lIns="0" tIns="0" rIns="0" bIns="0" rtlCol="0" anchor="ctr">
            <a:normAutofit/>
          </a:bodyPr>
          <a:lstStyle/>
          <a:p>
            <a:pPr algn="ct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to</a:t>
            </a:r>
            <a:endParaRPr lang="en-US" sz="1200" dirty="0"/>
          </a:p>
        </p:txBody>
      </p:sp>
      <p:sp>
        <p:nvSpPr>
          <p:cNvPr id="14" name="Text 11"/>
          <p:cNvSpPr/>
          <p:nvPr/>
        </p:nvSpPr>
        <p:spPr>
          <a:xfrm>
            <a:off x="3176290" y="3033812"/>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Word pieces, each mapped to an ID</a:t>
            </a:r>
            <a:endParaRPr lang="en-US" sz="1200" dirty="0"/>
          </a:p>
        </p:txBody>
      </p:sp>
      <p:pic>
        <p:nvPicPr>
          <p:cNvPr id="15" name="Image 1" descr="arrow-right">    </p:cNvPr>
          <p:cNvPicPr>
            <a:picLocks noChangeAspect="1"/>
          </p:cNvPicPr>
          <p:nvPr/>
        </p:nvPicPr>
        <p:blipFill>
          <a:blip r:embed="rId2"/>
          <a:srcRect l="0" r="0" t="0" b="0"/>
          <a:stretch/>
        </p:blipFill>
        <p:spPr>
          <a:xfrm>
            <a:off x="4866680" y="2665512"/>
            <a:ext cx="254000" cy="152400"/>
          </a:xfrm>
          <a:prstGeom prst="rect">
            <a:avLst/>
          </a:prstGeom>
        </p:spPr>
      </p:pic>
      <p:sp>
        <p:nvSpPr>
          <p:cNvPr id="16" name="Shape 12"/>
          <p:cNvSpPr/>
          <p:nvPr/>
        </p:nvSpPr>
        <p:spPr>
          <a:xfrm>
            <a:off x="5225455" y="1882676"/>
            <a:ext cx="1741190" cy="1718072"/>
          </a:xfrm>
          <a:prstGeom prst="roundRect">
            <a:avLst>
              <a:gd name="adj" fmla="val 5729"/>
            </a:avLst>
          </a:prstGeom>
          <a:solidFill>
            <a:srgbClr val="FBFBFC"/>
          </a:solidFill>
          <a:ln w="6350">
            <a:solidFill>
              <a:srgbClr val="D9D9D9"/>
            </a:solidFill>
            <a:prstDash val="solid"/>
          </a:ln>
        </p:spPr>
      </p:sp>
      <p:sp>
        <p:nvSpPr>
          <p:cNvPr id="17" name="Text 13"/>
          <p:cNvSpPr/>
          <p:nvPr/>
        </p:nvSpPr>
        <p:spPr>
          <a:xfrm>
            <a:off x="5381030" y="2038251"/>
            <a:ext cx="1480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Vectors</a:t>
            </a:r>
            <a:endParaRPr lang="en-US" sz="1400" dirty="0"/>
          </a:p>
        </p:txBody>
      </p:sp>
      <p:sp>
        <p:nvSpPr>
          <p:cNvPr id="18" name="Text 14"/>
          <p:cNvSpPr/>
          <p:nvPr/>
        </p:nvSpPr>
        <p:spPr>
          <a:xfrm>
            <a:off x="5381030" y="2353171"/>
            <a:ext cx="14808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3C6F"/>
                </a:solidFill>
                <a:latin typeface="JetBrains Mono" pitchFamily="49" charset="0"/>
                <a:ea typeface="JetBrains Mono" pitchFamily="49" charset="-122"/>
                <a:cs typeface="JetBrains Mono" pitchFamily="49" charset="-120"/>
              </a:rPr>
              <a:t>[0.12, −0.83, 0.41, …]</a:t>
            </a:r>
            <a:endParaRPr lang="en-US" sz="1200" dirty="0"/>
          </a:p>
        </p:txBody>
      </p:sp>
      <p:sp>
        <p:nvSpPr>
          <p:cNvPr id="19" name="Text 15"/>
          <p:cNvSpPr/>
          <p:nvPr/>
        </p:nvSpPr>
        <p:spPr>
          <a:xfrm>
            <a:off x="5381030" y="2881412"/>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Each token becomes a list of numbers</a:t>
            </a:r>
            <a:endParaRPr lang="en-US" sz="1200" dirty="0"/>
          </a:p>
        </p:txBody>
      </p:sp>
      <p:pic>
        <p:nvPicPr>
          <p:cNvPr id="20" name="Image 2" descr="arrow-right">    </p:cNvPr>
          <p:cNvPicPr>
            <a:picLocks noChangeAspect="1"/>
          </p:cNvPicPr>
          <p:nvPr/>
        </p:nvPicPr>
        <p:blipFill>
          <a:blip r:embed="rId3"/>
          <a:srcRect l="0" r="0" t="0" b="0"/>
          <a:stretch/>
        </p:blipFill>
        <p:spPr>
          <a:xfrm>
            <a:off x="7071420" y="2665512"/>
            <a:ext cx="254000" cy="152400"/>
          </a:xfrm>
          <a:prstGeom prst="rect">
            <a:avLst/>
          </a:prstGeom>
        </p:spPr>
      </p:pic>
      <p:sp>
        <p:nvSpPr>
          <p:cNvPr id="21" name="Shape 16"/>
          <p:cNvSpPr/>
          <p:nvPr/>
        </p:nvSpPr>
        <p:spPr>
          <a:xfrm>
            <a:off x="7430195" y="1882676"/>
            <a:ext cx="1741190" cy="1718072"/>
          </a:xfrm>
          <a:prstGeom prst="roundRect">
            <a:avLst>
              <a:gd name="adj" fmla="val 5729"/>
            </a:avLst>
          </a:prstGeom>
          <a:solidFill>
            <a:srgbClr val="FBFBFC"/>
          </a:solidFill>
          <a:ln w="6350">
            <a:solidFill>
              <a:srgbClr val="D9D9D9"/>
            </a:solidFill>
            <a:prstDash val="solid"/>
          </a:ln>
        </p:spPr>
      </p:sp>
      <p:sp>
        <p:nvSpPr>
          <p:cNvPr id="22" name="Text 17"/>
          <p:cNvSpPr/>
          <p:nvPr/>
        </p:nvSpPr>
        <p:spPr>
          <a:xfrm>
            <a:off x="7585770" y="2038251"/>
            <a:ext cx="1480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Transformer</a:t>
            </a:r>
            <a:endParaRPr lang="en-US" sz="1400" dirty="0"/>
          </a:p>
        </p:txBody>
      </p:sp>
      <p:sp>
        <p:nvSpPr>
          <p:cNvPr id="23" name="Shape 18"/>
          <p:cNvSpPr/>
          <p:nvPr/>
        </p:nvSpPr>
        <p:spPr>
          <a:xfrm>
            <a:off x="7585770" y="2353171"/>
            <a:ext cx="1430040" cy="88900"/>
          </a:xfrm>
          <a:prstGeom prst="roundRect">
            <a:avLst>
              <a:gd name="adj" fmla="val 28571"/>
            </a:avLst>
          </a:prstGeom>
          <a:solidFill>
            <a:srgbClr val="0B3C6F">
              <a:alpha val="40000"/>
            </a:srgbClr>
          </a:solidFill>
          <a:ln/>
        </p:spPr>
      </p:sp>
      <p:sp>
        <p:nvSpPr>
          <p:cNvPr id="24" name="Shape 19"/>
          <p:cNvSpPr/>
          <p:nvPr/>
        </p:nvSpPr>
        <p:spPr>
          <a:xfrm>
            <a:off x="7585770" y="2480171"/>
            <a:ext cx="1430040" cy="88900"/>
          </a:xfrm>
          <a:prstGeom prst="roundRect">
            <a:avLst>
              <a:gd name="adj" fmla="val 28571"/>
            </a:avLst>
          </a:prstGeom>
          <a:solidFill>
            <a:srgbClr val="0B3C6F">
              <a:alpha val="55000"/>
            </a:srgbClr>
          </a:solidFill>
          <a:ln/>
        </p:spPr>
      </p:sp>
      <p:sp>
        <p:nvSpPr>
          <p:cNvPr id="25" name="Shape 20"/>
          <p:cNvSpPr/>
          <p:nvPr/>
        </p:nvSpPr>
        <p:spPr>
          <a:xfrm>
            <a:off x="7585770" y="2607171"/>
            <a:ext cx="1430040" cy="88900"/>
          </a:xfrm>
          <a:prstGeom prst="roundRect">
            <a:avLst>
              <a:gd name="adj" fmla="val 28571"/>
            </a:avLst>
          </a:prstGeom>
          <a:solidFill>
            <a:srgbClr val="0B3C6F">
              <a:alpha val="70000"/>
            </a:srgbClr>
          </a:solidFill>
          <a:ln/>
        </p:spPr>
      </p:sp>
      <p:sp>
        <p:nvSpPr>
          <p:cNvPr id="26" name="Shape 21"/>
          <p:cNvSpPr/>
          <p:nvPr/>
        </p:nvSpPr>
        <p:spPr>
          <a:xfrm>
            <a:off x="7585770" y="2734171"/>
            <a:ext cx="1430040" cy="88900"/>
          </a:xfrm>
          <a:prstGeom prst="roundRect">
            <a:avLst>
              <a:gd name="adj" fmla="val 28571"/>
            </a:avLst>
          </a:prstGeom>
          <a:solidFill>
            <a:srgbClr val="0B3C6F">
              <a:alpha val="85000"/>
            </a:srgbClr>
          </a:solidFill>
          <a:ln/>
        </p:spPr>
      </p:sp>
      <p:sp>
        <p:nvSpPr>
          <p:cNvPr id="27" name="Text 22"/>
          <p:cNvSpPr/>
          <p:nvPr/>
        </p:nvSpPr>
        <p:spPr>
          <a:xfrm>
            <a:off x="7585770" y="292467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Many stacked layers of weighted sums</a:t>
            </a:r>
            <a:endParaRPr lang="en-US" sz="1200" dirty="0"/>
          </a:p>
        </p:txBody>
      </p:sp>
      <p:pic>
        <p:nvPicPr>
          <p:cNvPr id="28" name="Image 3" descr="arrow-right">    </p:cNvPr>
          <p:cNvPicPr>
            <a:picLocks noChangeAspect="1"/>
          </p:cNvPicPr>
          <p:nvPr/>
        </p:nvPicPr>
        <p:blipFill>
          <a:blip r:embed="rId4"/>
          <a:srcRect l="0" r="0" t="0" b="0"/>
          <a:stretch/>
        </p:blipFill>
        <p:spPr>
          <a:xfrm>
            <a:off x="9276159" y="2665512"/>
            <a:ext cx="254000" cy="152400"/>
          </a:xfrm>
          <a:prstGeom prst="rect">
            <a:avLst/>
          </a:prstGeom>
        </p:spPr>
      </p:pic>
      <p:sp>
        <p:nvSpPr>
          <p:cNvPr id="29" name="Shape 23"/>
          <p:cNvSpPr/>
          <p:nvPr/>
        </p:nvSpPr>
        <p:spPr>
          <a:xfrm>
            <a:off x="9634934" y="1882676"/>
            <a:ext cx="1741190" cy="1718072"/>
          </a:xfrm>
          <a:prstGeom prst="roundRect">
            <a:avLst>
              <a:gd name="adj" fmla="val 5729"/>
            </a:avLst>
          </a:prstGeom>
          <a:solidFill>
            <a:srgbClr val="FBFBFC"/>
          </a:solidFill>
          <a:ln w="6350">
            <a:solidFill>
              <a:srgbClr val="D9D9D9"/>
            </a:solidFill>
            <a:prstDash val="solid"/>
          </a:ln>
        </p:spPr>
      </p:sp>
      <p:sp>
        <p:nvSpPr>
          <p:cNvPr id="30" name="Text 24"/>
          <p:cNvSpPr/>
          <p:nvPr/>
        </p:nvSpPr>
        <p:spPr>
          <a:xfrm>
            <a:off x="9790509" y="2038251"/>
            <a:ext cx="148084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Prediction</a:t>
            </a:r>
            <a:endParaRPr lang="en-US" sz="1400" dirty="0"/>
          </a:p>
        </p:txBody>
      </p:sp>
      <p:sp>
        <p:nvSpPr>
          <p:cNvPr id="31" name="Text 25"/>
          <p:cNvSpPr/>
          <p:nvPr/>
        </p:nvSpPr>
        <p:spPr>
          <a:xfrm>
            <a:off x="9790509" y="2353171"/>
            <a:ext cx="14808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A8A"/>
                </a:solidFill>
                <a:latin typeface="JetBrains Mono" pitchFamily="49" charset="0"/>
                <a:ea typeface="JetBrains Mono" pitchFamily="49" charset="-122"/>
                <a:cs typeface="JetBrains Mono" pitchFamily="49" charset="-120"/>
              </a:rPr>
              <a:t>funds → 82%</a:t>
            </a:r>
            <a:endParaRPr lang="en-US" sz="1200" dirty="0"/>
          </a:p>
        </p:txBody>
      </p:sp>
      <p:sp>
        <p:nvSpPr>
          <p:cNvPr id="32" name="Text 26"/>
          <p:cNvSpPr/>
          <p:nvPr/>
        </p:nvSpPr>
        <p:spPr>
          <a:xfrm>
            <a:off x="9790509" y="2668091"/>
            <a:ext cx="14808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 score for every possible next token</a:t>
            </a:r>
            <a:endParaRPr lang="en-US" sz="1200" dirty="0"/>
          </a:p>
        </p:txBody>
      </p:sp>
      <p:sp>
        <p:nvSpPr>
          <p:cNvPr id="33" name="Shape 27"/>
          <p:cNvSpPr/>
          <p:nvPr/>
        </p:nvSpPr>
        <p:spPr>
          <a:xfrm>
            <a:off x="812800" y="4297759"/>
            <a:ext cx="10566400" cy="1544241"/>
          </a:xfrm>
          <a:prstGeom prst="roundRect">
            <a:avLst>
              <a:gd name="adj" fmla="val 6579"/>
            </a:avLst>
          </a:prstGeom>
          <a:solidFill>
            <a:srgbClr val="ECECEC"/>
          </a:solidFill>
          <a:ln/>
        </p:spPr>
      </p:sp>
      <p:sp>
        <p:nvSpPr>
          <p:cNvPr id="34" name="Text 28"/>
          <p:cNvSpPr/>
          <p:nvPr/>
        </p:nvSpPr>
        <p:spPr>
          <a:xfrm>
            <a:off x="1066800" y="4500959"/>
            <a:ext cx="881360" cy="1163241"/>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A5A8A"/>
                </a:solidFill>
                <a:latin typeface="Space Grotesk" pitchFamily="34" charset="0"/>
                <a:ea typeface="Space Grotesk" pitchFamily="34" charset="-122"/>
                <a:cs typeface="Space Grotesk" pitchFamily="34" charset="-120"/>
              </a:rPr>
              <a:t>405B</a:t>
            </a:r>
            <a:endParaRPr lang="en-US" sz="3200" dirty="0"/>
          </a:p>
        </p:txBody>
      </p:sp>
      <p:sp>
        <p:nvSpPr>
          <p:cNvPr id="35" name="Text 29"/>
          <p:cNvSpPr/>
          <p:nvPr/>
        </p:nvSpPr>
        <p:spPr>
          <a:xfrm>
            <a:off x="2151360" y="4821039"/>
            <a:ext cx="92430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Every “knob” in the network is a number called a weight. Meta’s largest Llama 3 model has 405 billion of them. Next: what is inside that box?</a:t>
            </a:r>
            <a:endParaRPr lang="en-US" sz="1400" dirty="0"/>
          </a:p>
        </p:txBody>
      </p:sp>
      <p:sp>
        <p:nvSpPr>
          <p:cNvPr id="36"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Vaswani et al., 2017; Meta, “The Llama 3 Herd of Models,” 2024 (arXiv:2407.21783)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457200" cy="127000"/>
          </a:xfrm>
          <a:prstGeom prst="roundRect">
            <a:avLst>
              <a:gd name="adj" fmla="val 50000"/>
            </a:avLst>
          </a:prstGeom>
          <a:solidFill>
            <a:srgbClr val="00AEEF"/>
          </a:solidFill>
          <a:ln/>
        </p:spPr>
      </p:sp>
      <p:sp>
        <p:nvSpPr>
          <p:cNvPr id="4" name="Shape 2"/>
          <p:cNvSpPr/>
          <p:nvPr/>
        </p:nvSpPr>
        <p:spPr>
          <a:xfrm>
            <a:off x="1549400" y="812800"/>
            <a:ext cx="127000" cy="127000"/>
          </a:xfrm>
          <a:prstGeom prst="roundRect">
            <a:avLst>
              <a:gd name="adj" fmla="val 50000"/>
            </a:avLst>
          </a:prstGeom>
          <a:solidFill>
            <a:srgbClr val="D9D9D9"/>
          </a:solidFill>
          <a:ln/>
        </p:spPr>
      </p:sp>
      <p:sp>
        <p:nvSpPr>
          <p:cNvPr id="5" name="Shape 3"/>
          <p:cNvSpPr/>
          <p:nvPr/>
        </p:nvSpPr>
        <p:spPr>
          <a:xfrm>
            <a:off x="1752600" y="812800"/>
            <a:ext cx="127000" cy="127000"/>
          </a:xfrm>
          <a:prstGeom prst="roundRect">
            <a:avLst>
              <a:gd name="adj" fmla="val 50000"/>
            </a:avLst>
          </a:prstGeom>
          <a:solidFill>
            <a:srgbClr val="D9D9D9"/>
          </a:solidFill>
          <a:ln/>
        </p:spPr>
      </p:sp>
      <p:sp>
        <p:nvSpPr>
          <p:cNvPr id="6" name="Shape 4"/>
          <p:cNvSpPr/>
          <p:nvPr/>
        </p:nvSpPr>
        <p:spPr>
          <a:xfrm>
            <a:off x="1955800" y="812800"/>
            <a:ext cx="127000" cy="127000"/>
          </a:xfrm>
          <a:prstGeom prst="roundRect">
            <a:avLst>
              <a:gd name="adj" fmla="val 50000"/>
            </a:avLst>
          </a:prstGeom>
          <a:solidFill>
            <a:srgbClr val="D9D9D9"/>
          </a:solidFill>
          <a:ln/>
        </p:spPr>
      </p:sp>
      <p:sp>
        <p:nvSpPr>
          <p:cNvPr id="7" name="Shape 5"/>
          <p:cNvSpPr/>
          <p:nvPr/>
        </p:nvSpPr>
        <p:spPr>
          <a:xfrm>
            <a:off x="2159000" y="812800"/>
            <a:ext cx="127000" cy="127000"/>
          </a:xfrm>
          <a:prstGeom prst="roundRect">
            <a:avLst>
              <a:gd name="adj" fmla="val 50000"/>
            </a:avLst>
          </a:prstGeom>
          <a:solidFill>
            <a:srgbClr val="D9D9D9"/>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02</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Why neural networks are powerful</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Open the box: one neuron, then layers, then what they can learn and how</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One neuron: multiply, add, bend</a:t>
            </a:r>
            <a:endParaRPr lang="en-US" sz="3200" dirty="0"/>
          </a:p>
        </p:txBody>
      </p:sp>
      <p:sp>
        <p:nvSpPr>
          <p:cNvPr id="4" name="Text 2"/>
          <p:cNvSpPr/>
          <p:nvPr/>
        </p:nvSpPr>
        <p:spPr>
          <a:xfrm>
            <a:off x="787400" y="1879501"/>
            <a:ext cx="1701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E5E5E"/>
                </a:solidFill>
                <a:latin typeface="IBM Plex Sans" pitchFamily="34" charset="0"/>
                <a:ea typeface="IBM Plex Sans" pitchFamily="34" charset="-122"/>
                <a:cs typeface="IBM Plex Sans" pitchFamily="34" charset="-120"/>
              </a:rPr>
              <a:t>input × weight</a:t>
            </a:r>
            <a:endParaRPr lang="en-US" sz="1200" dirty="0"/>
          </a:p>
        </p:txBody>
      </p:sp>
      <p:sp>
        <p:nvSpPr>
          <p:cNvPr id="5" name="Text 3"/>
          <p:cNvSpPr/>
          <p:nvPr/>
        </p:nvSpPr>
        <p:spPr>
          <a:xfrm>
            <a:off x="819150" y="2203351"/>
            <a:ext cx="1638300" cy="622300"/>
          </a:xfrm>
          <a:prstGeom prst="roundRect">
            <a:avLst>
              <a:gd name="adj" fmla="val 15306"/>
            </a:avLst>
          </a:prstGeom>
          <a:solidFill>
            <a:srgbClr val="DCEEF9"/>
          </a:solidFill>
          <a:ln w="12700">
            <a:solidFill>
              <a:srgbClr val="0B3C6F"/>
            </a:solidFill>
            <a:prstDash val="solid"/>
          </a:ln>
        </p:spPr>
        <p:txBody>
          <a:bodyPr wrap="square" lIns="0" tIns="0" rIns="0" bIns="0" rtlCol="0" anchor="ctr">
            <a:normAutofit/>
          </a:bodyPr>
          <a:lstStyle/>
          <a:p>
            <a:pPr algn="ctr" indent="0" marL="0">
              <a:lnSpc>
                <a:spcPts val="2240"/>
              </a:lnSpc>
              <a:buNone/>
            </a:pPr>
            <a:r>
              <a:rPr lang="en-US" sz="1600" b="1" dirty="0">
                <a:solidFill>
                  <a:srgbClr val="1E1E1E"/>
                </a:solidFill>
                <a:latin typeface="JetBrains Mono" pitchFamily="49" charset="0"/>
                <a:ea typeface="JetBrains Mono" pitchFamily="49" charset="-122"/>
                <a:cs typeface="JetBrains Mono" pitchFamily="49" charset="-120"/>
              </a:rPr>
              <a:t>2 × 0.5</a:t>
            </a:r>
            <a:endParaRPr lang="en-US" sz="1600" dirty="0"/>
          </a:p>
        </p:txBody>
      </p:sp>
      <p:sp>
        <p:nvSpPr>
          <p:cNvPr id="6" name="Text 4"/>
          <p:cNvSpPr/>
          <p:nvPr/>
        </p:nvSpPr>
        <p:spPr>
          <a:xfrm>
            <a:off x="819150" y="3219351"/>
            <a:ext cx="1638300" cy="622300"/>
          </a:xfrm>
          <a:prstGeom prst="roundRect">
            <a:avLst>
              <a:gd name="adj" fmla="val 15306"/>
            </a:avLst>
          </a:prstGeom>
          <a:solidFill>
            <a:srgbClr val="DCEEF9"/>
          </a:solidFill>
          <a:ln w="12700">
            <a:solidFill>
              <a:srgbClr val="0B3C6F"/>
            </a:solidFill>
            <a:prstDash val="solid"/>
          </a:ln>
        </p:spPr>
        <p:txBody>
          <a:bodyPr wrap="square" lIns="0" tIns="0" rIns="0" bIns="0" rtlCol="0" anchor="ctr">
            <a:normAutofit/>
          </a:bodyPr>
          <a:lstStyle/>
          <a:p>
            <a:pPr algn="ctr" indent="0" marL="0">
              <a:lnSpc>
                <a:spcPts val="2240"/>
              </a:lnSpc>
              <a:buNone/>
            </a:pPr>
            <a:r>
              <a:rPr lang="en-US" sz="1600" b="1" dirty="0">
                <a:solidFill>
                  <a:srgbClr val="1E1E1E"/>
                </a:solidFill>
                <a:latin typeface="JetBrains Mono" pitchFamily="49" charset="0"/>
                <a:ea typeface="JetBrains Mono" pitchFamily="49" charset="-122"/>
                <a:cs typeface="JetBrains Mono" pitchFamily="49" charset="-120"/>
              </a:rPr>
              <a:t>1 × −1</a:t>
            </a:r>
            <a:endParaRPr lang="en-US" sz="1600" dirty="0"/>
          </a:p>
        </p:txBody>
      </p:sp>
      <p:sp>
        <p:nvSpPr>
          <p:cNvPr id="7" name="Text 5"/>
          <p:cNvSpPr/>
          <p:nvPr/>
        </p:nvSpPr>
        <p:spPr>
          <a:xfrm>
            <a:off x="819150" y="4235351"/>
            <a:ext cx="1638300" cy="622300"/>
          </a:xfrm>
          <a:prstGeom prst="roundRect">
            <a:avLst>
              <a:gd name="adj" fmla="val 15306"/>
            </a:avLst>
          </a:prstGeom>
          <a:solidFill>
            <a:srgbClr val="DCEEF9"/>
          </a:solidFill>
          <a:ln w="12700">
            <a:solidFill>
              <a:srgbClr val="0B3C6F"/>
            </a:solidFill>
            <a:prstDash val="solid"/>
          </a:ln>
        </p:spPr>
        <p:txBody>
          <a:bodyPr wrap="square" lIns="0" tIns="0" rIns="0" bIns="0" rtlCol="0" anchor="ctr">
            <a:normAutofit/>
          </a:bodyPr>
          <a:lstStyle/>
          <a:p>
            <a:pPr algn="ctr" indent="0" marL="0">
              <a:lnSpc>
                <a:spcPts val="2240"/>
              </a:lnSpc>
              <a:buNone/>
            </a:pPr>
            <a:r>
              <a:rPr lang="en-US" sz="1600" b="1" dirty="0">
                <a:solidFill>
                  <a:srgbClr val="1E1E1E"/>
                </a:solidFill>
                <a:latin typeface="JetBrains Mono" pitchFamily="49" charset="0"/>
                <a:ea typeface="JetBrains Mono" pitchFamily="49" charset="-122"/>
                <a:cs typeface="JetBrains Mono" pitchFamily="49" charset="-120"/>
              </a:rPr>
              <a:t>3 × 0.25</a:t>
            </a:r>
            <a:endParaRPr lang="en-US" sz="1600" dirty="0"/>
          </a:p>
        </p:txBody>
      </p:sp>
      <p:sp>
        <p:nvSpPr>
          <p:cNvPr id="8" name="Shape 6"/>
          <p:cNvSpPr/>
          <p:nvPr/>
        </p:nvSpPr>
        <p:spPr>
          <a:xfrm>
            <a:off x="3359150" y="3028851"/>
            <a:ext cx="1130300" cy="1003300"/>
          </a:xfrm>
          <a:prstGeom prst="roundRect">
            <a:avLst>
              <a:gd name="adj" fmla="val 14557"/>
            </a:avLst>
          </a:prstGeom>
          <a:solidFill>
            <a:srgbClr val="FBFBFC"/>
          </a:solidFill>
          <a:ln w="12700">
            <a:solidFill>
              <a:srgbClr val="0B3C6F"/>
            </a:solidFill>
            <a:prstDash val="solid"/>
          </a:ln>
        </p:spPr>
      </p:sp>
      <p:sp>
        <p:nvSpPr>
          <p:cNvPr id="9" name="Text 7"/>
          <p:cNvSpPr/>
          <p:nvPr/>
        </p:nvSpPr>
        <p:spPr>
          <a:xfrm>
            <a:off x="3523546" y="3243461"/>
            <a:ext cx="801410" cy="360660"/>
          </a:xfrm>
          <a:prstGeom prst="rect">
            <a:avLst/>
          </a:prstGeom>
          <a:noFill/>
          <a:ln/>
        </p:spPr>
        <p:txBody>
          <a:bodyPr wrap="square" lIns="0" tIns="0" rIns="0" bIns="0" rtlCol="0" anchor="t">
            <a:normAutofit/>
          </a:bodyPr>
          <a:lstStyle/>
          <a:p>
            <a:pPr algn="ctr" indent="0" marL="0">
              <a:lnSpc>
                <a:spcPts val="2640"/>
              </a:lnSpc>
              <a:buNone/>
            </a:pPr>
            <a:r>
              <a:rPr lang="en-US" sz="2200" b="1" dirty="0">
                <a:solidFill>
                  <a:srgbClr val="1E1E1E"/>
                </a:solidFill>
                <a:latin typeface="Space Grotesk" pitchFamily="34" charset="0"/>
                <a:ea typeface="Space Grotesk" pitchFamily="34" charset="-122"/>
                <a:cs typeface="Space Grotesk" pitchFamily="34" charset="-120"/>
              </a:rPr>
              <a:t>Σ + b</a:t>
            </a:r>
            <a:endParaRPr lang="en-US" sz="2200" dirty="0"/>
          </a:p>
        </p:txBody>
      </p:sp>
      <p:sp>
        <p:nvSpPr>
          <p:cNvPr id="10" name="Text 8"/>
          <p:cNvSpPr/>
          <p:nvPr/>
        </p:nvSpPr>
        <p:spPr>
          <a:xfrm>
            <a:off x="3638560" y="3604121"/>
            <a:ext cx="57138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b = 0.1</a:t>
            </a:r>
            <a:endParaRPr lang="en-US" sz="1200" dirty="0"/>
          </a:p>
        </p:txBody>
      </p:sp>
      <p:sp>
        <p:nvSpPr>
          <p:cNvPr id="11" name="Shape 9"/>
          <p:cNvSpPr/>
          <p:nvPr/>
        </p:nvSpPr>
        <p:spPr>
          <a:xfrm>
            <a:off x="5010150" y="3155851"/>
            <a:ext cx="1130300" cy="749300"/>
          </a:xfrm>
          <a:prstGeom prst="roundRect">
            <a:avLst>
              <a:gd name="adj" fmla="val 12712"/>
            </a:avLst>
          </a:prstGeom>
          <a:solidFill>
            <a:srgbClr val="FBFBFC"/>
          </a:solidFill>
          <a:ln w="12700">
            <a:solidFill>
              <a:srgbClr val="0B3C6F"/>
            </a:solidFill>
            <a:prstDash val="solid"/>
          </a:ln>
        </p:spPr>
      </p:sp>
      <p:sp>
        <p:nvSpPr>
          <p:cNvPr id="12" name="Text 10"/>
          <p:cNvSpPr/>
          <p:nvPr/>
        </p:nvSpPr>
        <p:spPr>
          <a:xfrm>
            <a:off x="5284311" y="3289201"/>
            <a:ext cx="581978" cy="269180"/>
          </a:xfrm>
          <a:prstGeom prst="rect">
            <a:avLst/>
          </a:prstGeom>
          <a:noFill/>
          <a:ln/>
        </p:spPr>
        <p:txBody>
          <a:bodyPr wrap="square" lIns="0" tIns="0" rIns="0" bIns="0" rtlCol="0" anchor="t">
            <a:normAutofit/>
          </a:bodyPr>
          <a:lstStyle/>
          <a:p>
            <a:pPr algn="ctr" indent="0" marL="0">
              <a:lnSpc>
                <a:spcPts val="1920"/>
              </a:lnSpc>
              <a:buNone/>
            </a:pPr>
            <a:r>
              <a:rPr lang="en-US" sz="1600" b="1" dirty="0">
                <a:solidFill>
                  <a:srgbClr val="1E1E1E"/>
                </a:solidFill>
                <a:latin typeface="IBM Plex Sans" pitchFamily="34" charset="0"/>
                <a:ea typeface="IBM Plex Sans" pitchFamily="34" charset="-122"/>
                <a:cs typeface="IBM Plex Sans" pitchFamily="34" charset="-120"/>
              </a:rPr>
              <a:t>ReLU</a:t>
            </a:r>
            <a:endParaRPr lang="en-US" sz="1600" dirty="0"/>
          </a:p>
        </p:txBody>
      </p:sp>
      <p:sp>
        <p:nvSpPr>
          <p:cNvPr id="13" name="Text 11"/>
          <p:cNvSpPr/>
          <p:nvPr/>
        </p:nvSpPr>
        <p:spPr>
          <a:xfrm>
            <a:off x="5081439" y="3558381"/>
            <a:ext cx="98762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JetBrains Mono" pitchFamily="49" charset="0"/>
                <a:ea typeface="JetBrains Mono" pitchFamily="49" charset="-122"/>
                <a:cs typeface="JetBrains Mono" pitchFamily="49" charset="-120"/>
              </a:rPr>
              <a:t>max(0, s)</a:t>
            </a:r>
            <a:endParaRPr lang="en-US" sz="1200" dirty="0"/>
          </a:p>
        </p:txBody>
      </p:sp>
      <p:sp>
        <p:nvSpPr>
          <p:cNvPr id="14" name="Text 12"/>
          <p:cNvSpPr/>
          <p:nvPr/>
        </p:nvSpPr>
        <p:spPr>
          <a:xfrm>
            <a:off x="6654800" y="3149501"/>
            <a:ext cx="889000" cy="762000"/>
          </a:xfrm>
          <a:prstGeom prst="roundRect">
            <a:avLst>
              <a:gd name="adj" fmla="val 13333"/>
            </a:avLst>
          </a:prstGeom>
          <a:solidFill>
            <a:srgbClr val="00AEEF"/>
          </a:solidFill>
          <a:ln/>
        </p:spPr>
        <p:txBody>
          <a:bodyPr wrap="square" lIns="0" tIns="0" rIns="0" bIns="0" rtlCol="0" anchor="ctr">
            <a:normAutofit/>
          </a:bodyPr>
          <a:lstStyle/>
          <a:p>
            <a:pPr algn="ctr"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0.85</a:t>
            </a:r>
            <a:endParaRPr lang="en-US" sz="1800" dirty="0"/>
          </a:p>
        </p:txBody>
      </p:sp>
      <p:pic>
        <p:nvPicPr>
          <p:cNvPr id="15" name="Image 0" descr="connector">    </p:cNvPr>
          <p:cNvPicPr>
            <a:picLocks noChangeAspect="1"/>
          </p:cNvPicPr>
          <p:nvPr/>
        </p:nvPicPr>
        <p:blipFill>
          <a:blip r:embed="rId1"/>
          <a:srcRect l="0" r="0" t="0" b="0"/>
          <a:stretch/>
        </p:blipFill>
        <p:spPr>
          <a:xfrm>
            <a:off x="2413000" y="2463701"/>
            <a:ext cx="990600" cy="927100"/>
          </a:xfrm>
          <a:prstGeom prst="rect">
            <a:avLst/>
          </a:prstGeom>
        </p:spPr>
      </p:pic>
      <p:pic>
        <p:nvPicPr>
          <p:cNvPr id="16" name="Image 1" descr="connector">    </p:cNvPr>
          <p:cNvPicPr>
            <a:picLocks noChangeAspect="1"/>
          </p:cNvPicPr>
          <p:nvPr/>
        </p:nvPicPr>
        <p:blipFill>
          <a:blip r:embed="rId2"/>
          <a:srcRect l="0" r="0" t="0" b="0"/>
          <a:stretch/>
        </p:blipFill>
        <p:spPr>
          <a:xfrm>
            <a:off x="2413000" y="3479701"/>
            <a:ext cx="990600" cy="101600"/>
          </a:xfrm>
          <a:prstGeom prst="rect">
            <a:avLst/>
          </a:prstGeom>
        </p:spPr>
      </p:pic>
      <p:pic>
        <p:nvPicPr>
          <p:cNvPr id="17" name="Image 2" descr="connector">    </p:cNvPr>
          <p:cNvPicPr>
            <a:picLocks noChangeAspect="1"/>
          </p:cNvPicPr>
          <p:nvPr/>
        </p:nvPicPr>
        <p:blipFill>
          <a:blip r:embed="rId3"/>
          <a:srcRect l="0" r="0" t="0" b="0"/>
          <a:stretch/>
        </p:blipFill>
        <p:spPr>
          <a:xfrm>
            <a:off x="2413000" y="3670201"/>
            <a:ext cx="990600" cy="927100"/>
          </a:xfrm>
          <a:prstGeom prst="rect">
            <a:avLst/>
          </a:prstGeom>
        </p:spPr>
      </p:pic>
      <p:pic>
        <p:nvPicPr>
          <p:cNvPr id="18" name="Image 3" descr="connector">    </p:cNvPr>
          <p:cNvPicPr>
            <a:picLocks noChangeAspect="1"/>
          </p:cNvPicPr>
          <p:nvPr/>
        </p:nvPicPr>
        <p:blipFill>
          <a:blip r:embed="rId4"/>
          <a:srcRect l="0" r="0" t="0" b="0"/>
          <a:stretch/>
        </p:blipFill>
        <p:spPr>
          <a:xfrm>
            <a:off x="4445000" y="3479701"/>
            <a:ext cx="609600" cy="101600"/>
          </a:xfrm>
          <a:prstGeom prst="rect">
            <a:avLst/>
          </a:prstGeom>
        </p:spPr>
      </p:pic>
      <p:pic>
        <p:nvPicPr>
          <p:cNvPr id="19" name="Image 4" descr="connector">    </p:cNvPr>
          <p:cNvPicPr>
            <a:picLocks noChangeAspect="1"/>
          </p:cNvPicPr>
          <p:nvPr/>
        </p:nvPicPr>
        <p:blipFill>
          <a:blip r:embed="rId5"/>
          <a:srcRect l="0" r="0" t="0" b="0"/>
          <a:stretch/>
        </p:blipFill>
        <p:spPr>
          <a:xfrm>
            <a:off x="6096000" y="3479701"/>
            <a:ext cx="609600" cy="101600"/>
          </a:xfrm>
          <a:prstGeom prst="rect">
            <a:avLst/>
          </a:prstGeom>
        </p:spPr>
      </p:pic>
      <p:sp>
        <p:nvSpPr>
          <p:cNvPr id="20" name="Text 13"/>
          <p:cNvSpPr/>
          <p:nvPr/>
        </p:nvSpPr>
        <p:spPr>
          <a:xfrm>
            <a:off x="3263900" y="4140101"/>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s = 0.85</a:t>
            </a:r>
            <a:endParaRPr lang="en-US" sz="1200" dirty="0"/>
          </a:p>
        </p:txBody>
      </p:sp>
      <p:sp>
        <p:nvSpPr>
          <p:cNvPr id="21" name="Text 14"/>
          <p:cNvSpPr/>
          <p:nvPr/>
        </p:nvSpPr>
        <p:spPr>
          <a:xfrm>
            <a:off x="4851400" y="4013101"/>
            <a:ext cx="1447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negatives → 0</a:t>
            </a:r>
            <a:endParaRPr lang="en-US" sz="1200" dirty="0"/>
          </a:p>
        </p:txBody>
      </p:sp>
      <p:sp>
        <p:nvSpPr>
          <p:cNvPr id="22" name="Shape 15"/>
          <p:cNvSpPr/>
          <p:nvPr/>
        </p:nvSpPr>
        <p:spPr>
          <a:xfrm>
            <a:off x="7851775" y="2014934"/>
            <a:ext cx="3524250" cy="938411"/>
          </a:xfrm>
          <a:prstGeom prst="roundRect">
            <a:avLst>
              <a:gd name="adj" fmla="val 10488"/>
            </a:avLst>
          </a:prstGeom>
          <a:solidFill>
            <a:srgbClr val="FBFBFC"/>
          </a:solidFill>
          <a:ln w="6350">
            <a:solidFill>
              <a:srgbClr val="D9D9D9"/>
            </a:solidFill>
            <a:prstDash val="solid"/>
          </a:ln>
        </p:spPr>
      </p:sp>
      <p:sp>
        <p:nvSpPr>
          <p:cNvPr id="23" name="Text 16"/>
          <p:cNvSpPr/>
          <p:nvPr/>
        </p:nvSpPr>
        <p:spPr>
          <a:xfrm>
            <a:off x="8007350" y="2145109"/>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1 · Multiply</a:t>
            </a:r>
            <a:endParaRPr lang="en-US" sz="1400" dirty="0"/>
          </a:p>
        </p:txBody>
      </p:sp>
      <p:sp>
        <p:nvSpPr>
          <p:cNvPr id="24" name="Text 17"/>
          <p:cNvSpPr/>
          <p:nvPr/>
        </p:nvSpPr>
        <p:spPr>
          <a:xfrm>
            <a:off x="8007350" y="2396530"/>
            <a:ext cx="33094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Each input × its weight:</a:t>
            </a:r>
            <a:endParaRPr lang="en-US" sz="1200" dirty="0"/>
          </a:p>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1.0, −1.0, 0.75</a:t>
            </a:r>
            <a:endParaRPr lang="en-US" sz="1200" dirty="0"/>
          </a:p>
        </p:txBody>
      </p:sp>
      <p:sp>
        <p:nvSpPr>
          <p:cNvPr id="25" name="Shape 18"/>
          <p:cNvSpPr/>
          <p:nvPr/>
        </p:nvSpPr>
        <p:spPr>
          <a:xfrm>
            <a:off x="7851775" y="3061295"/>
            <a:ext cx="3524250" cy="938411"/>
          </a:xfrm>
          <a:prstGeom prst="roundRect">
            <a:avLst>
              <a:gd name="adj" fmla="val 10488"/>
            </a:avLst>
          </a:prstGeom>
          <a:solidFill>
            <a:srgbClr val="FBFBFC"/>
          </a:solidFill>
          <a:ln w="6350">
            <a:solidFill>
              <a:srgbClr val="D9D9D9"/>
            </a:solidFill>
            <a:prstDash val="solid"/>
          </a:ln>
        </p:spPr>
      </p:sp>
      <p:sp>
        <p:nvSpPr>
          <p:cNvPr id="26" name="Text 19"/>
          <p:cNvSpPr/>
          <p:nvPr/>
        </p:nvSpPr>
        <p:spPr>
          <a:xfrm>
            <a:off x="8007350" y="3191470"/>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2 · Add</a:t>
            </a:r>
            <a:endParaRPr lang="en-US" sz="1400" dirty="0"/>
          </a:p>
        </p:txBody>
      </p:sp>
      <p:sp>
        <p:nvSpPr>
          <p:cNvPr id="27" name="Text 20"/>
          <p:cNvSpPr/>
          <p:nvPr/>
        </p:nvSpPr>
        <p:spPr>
          <a:xfrm>
            <a:off x="8007350" y="3442891"/>
            <a:ext cx="33094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Sum them, plus a bias b:</a:t>
            </a:r>
            <a:endParaRPr lang="en-US" sz="1200" dirty="0"/>
          </a:p>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1.0 − 1.0 + 0.75 + 0.1 = 0.85</a:t>
            </a:r>
            <a:endParaRPr lang="en-US" sz="1200" dirty="0"/>
          </a:p>
        </p:txBody>
      </p:sp>
      <p:sp>
        <p:nvSpPr>
          <p:cNvPr id="28" name="Shape 21"/>
          <p:cNvSpPr/>
          <p:nvPr/>
        </p:nvSpPr>
        <p:spPr>
          <a:xfrm>
            <a:off x="7851775" y="4107656"/>
            <a:ext cx="3524250" cy="938411"/>
          </a:xfrm>
          <a:prstGeom prst="roundRect">
            <a:avLst>
              <a:gd name="adj" fmla="val 10488"/>
            </a:avLst>
          </a:prstGeom>
          <a:solidFill>
            <a:srgbClr val="FBFBFC"/>
          </a:solidFill>
          <a:ln w="6350">
            <a:solidFill>
              <a:srgbClr val="D9D9D9"/>
            </a:solidFill>
            <a:prstDash val="solid"/>
          </a:ln>
        </p:spPr>
      </p:sp>
      <p:sp>
        <p:nvSpPr>
          <p:cNvPr id="29" name="Text 22"/>
          <p:cNvSpPr/>
          <p:nvPr/>
        </p:nvSpPr>
        <p:spPr>
          <a:xfrm>
            <a:off x="8007350" y="4237831"/>
            <a:ext cx="330949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3 · Bend</a:t>
            </a:r>
            <a:endParaRPr lang="en-US" sz="1400" dirty="0"/>
          </a:p>
        </p:txBody>
      </p:sp>
      <p:sp>
        <p:nvSpPr>
          <p:cNvPr id="30" name="Text 23"/>
          <p:cNvSpPr/>
          <p:nvPr/>
        </p:nvSpPr>
        <p:spPr>
          <a:xfrm>
            <a:off x="8007350" y="4489252"/>
            <a:ext cx="33094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ReLU passes positives through and turns negatives into 0.</a:t>
            </a:r>
            <a:endParaRPr lang="en-US" sz="1200" dirty="0"/>
          </a:p>
        </p:txBody>
      </p:sp>
      <p:sp>
        <p:nvSpPr>
          <p:cNvPr id="31" name="Text 24"/>
          <p:cNvSpPr/>
          <p:nvPr/>
        </p:nvSpPr>
        <p:spPr>
          <a:xfrm>
            <a:off x="812800" y="53847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Why the bend?</a:t>
            </a:r>
            <a:r>
              <a:rPr lang="en-US" sz="1400" dirty="0">
                <a:solidFill>
                  <a:srgbClr val="1E1E1E"/>
                </a:solidFill>
                <a:latin typeface="IBM Plex Sans" pitchFamily="34" charset="0"/>
                <a:ea typeface="IBM Plex Sans" pitchFamily="34" charset="-122"/>
                <a:cs typeface="IBM Plex Sans" pitchFamily="34" charset="-120"/>
              </a:rPr>
              <a:t> Without it, any stack of layers collapses into a single straight-line function, no matter how deep.</a:t>
            </a:r>
            <a:endParaRPr lang="en-US" sz="1400" dirty="0"/>
          </a:p>
        </p:txBody>
      </p:sp>
      <p:sp>
        <p:nvSpPr>
          <p:cNvPr id="32"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Goodfellow, Bengio &amp; Courville, Deep Learning (MIT Press, 2016), ch. 6. Numbers illustrative.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Wire neurons into layers, and layers into a network</a:t>
            </a:r>
            <a:endParaRPr lang="en-US" sz="3200" dirty="0"/>
          </a:p>
        </p:txBody>
      </p:sp>
      <p:pic>
        <p:nvPicPr>
          <p:cNvPr id="4" name="Image 0" descr="A small neural network: 3 inputs, two hidden layers of 5, 2 outputs">    </p:cNvPr>
          <p:cNvPicPr>
            <a:picLocks noChangeAspect="1"/>
          </p:cNvPicPr>
          <p:nvPr/>
        </p:nvPicPr>
        <p:blipFill>
          <a:blip r:embed="rId1"/>
          <a:srcRect l="0" r="0" t="0" b="0"/>
          <a:stretch/>
        </p:blipFill>
        <p:spPr>
          <a:xfrm>
            <a:off x="812800" y="2018804"/>
            <a:ext cx="4826000" cy="2794000"/>
          </a:xfrm>
          <a:prstGeom prst="rect">
            <a:avLst/>
          </a:prstGeom>
        </p:spPr>
      </p:pic>
      <p:sp>
        <p:nvSpPr>
          <p:cNvPr id="5" name="Text 2"/>
          <p:cNvSpPr/>
          <p:nvPr/>
        </p:nvSpPr>
        <p:spPr>
          <a:xfrm>
            <a:off x="812800" y="4889004"/>
            <a:ext cx="540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Inputs</a:t>
            </a:r>
            <a:endParaRPr lang="en-US" sz="1200" dirty="0"/>
          </a:p>
        </p:txBody>
      </p:sp>
      <p:sp>
        <p:nvSpPr>
          <p:cNvPr id="6" name="Text 3"/>
          <p:cNvSpPr/>
          <p:nvPr/>
        </p:nvSpPr>
        <p:spPr>
          <a:xfrm>
            <a:off x="2869605" y="4889004"/>
            <a:ext cx="11281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Hidden layers</a:t>
            </a:r>
            <a:endParaRPr lang="en-US" sz="1200" dirty="0"/>
          </a:p>
        </p:txBody>
      </p:sp>
      <p:sp>
        <p:nvSpPr>
          <p:cNvPr id="7" name="Text 4"/>
          <p:cNvSpPr/>
          <p:nvPr/>
        </p:nvSpPr>
        <p:spPr>
          <a:xfrm>
            <a:off x="5320963" y="4889004"/>
            <a:ext cx="57173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Output</a:t>
            </a:r>
            <a:endParaRPr lang="en-US" sz="1200" dirty="0"/>
          </a:p>
        </p:txBody>
      </p:sp>
      <p:sp>
        <p:nvSpPr>
          <p:cNvPr id="8" name="Text 5"/>
          <p:cNvSpPr/>
          <p:nvPr/>
        </p:nvSpPr>
        <p:spPr>
          <a:xfrm>
            <a:off x="6299200" y="187950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A8A"/>
                </a:solidFill>
                <a:latin typeface="IBM Plex Sans" pitchFamily="34" charset="0"/>
                <a:ea typeface="IBM Plex Sans" pitchFamily="34" charset="-122"/>
                <a:cs typeface="IBM Plex Sans" pitchFamily="34" charset="-120"/>
              </a:rPr>
              <a:t>EACH CIRCLE, IN C#</a:t>
            </a:r>
            <a:endParaRPr lang="en-US" sz="1200" dirty="0"/>
          </a:p>
        </p:txBody>
      </p:sp>
      <p:sp>
        <p:nvSpPr>
          <p:cNvPr id="9" name="Text 6"/>
          <p:cNvSpPr/>
          <p:nvPr/>
        </p:nvSpPr>
        <p:spPr>
          <a:xfrm>
            <a:off x="6299200" y="2219821"/>
            <a:ext cx="5080000" cy="2397125"/>
          </a:xfrm>
          <a:prstGeom prst="roundRect">
            <a:avLst>
              <a:gd name="adj" fmla="val 4238"/>
            </a:avLst>
          </a:prstGeom>
          <a:solidFill>
            <a:srgbClr val="ECECEC"/>
          </a:solidFill>
          <a:ln/>
        </p:spPr>
        <p:txBody>
          <a:bodyPr wrap="square" lIns="173442" tIns="173442" rIns="33234" bIns="148042" rtlCol="0" anchor="t">
            <a:normAutofit/>
          </a:bodyPr>
          <a:lstStyle/>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double Neuron(double[] x,</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             double[] w, double b)</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    var sum = b;</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    for (int i = 0; i &lt; x.Length; i++)</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        sum += w[i] * x[i];</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    return Math.Max(0, sum); // ReLU</a:t>
            </a:r>
            <a:endParaRPr lang="en-US" sz="1400" dirty="0"/>
          </a:p>
          <a:p>
            <a:pPr algn="l" indent="0" marL="0">
              <a:lnSpc>
                <a:spcPts val="1960"/>
              </a:lnSpc>
              <a:buNone/>
            </a:pPr>
            <a:r>
              <a:rPr lang="en-US" sz="1400" dirty="0">
                <a:solidFill>
                  <a:srgbClr val="1E1E1E"/>
                </a:solidFill>
                <a:latin typeface="JetBrains Mono" pitchFamily="49" charset="0"/>
                <a:ea typeface="JetBrains Mono" pitchFamily="49" charset="-122"/>
                <a:cs typeface="JetBrains Mono" pitchFamily="49" charset="-120"/>
              </a:rPr>
              <a:t>}</a:t>
            </a:r>
            <a:endParaRPr lang="en-US" sz="1400" dirty="0"/>
          </a:p>
        </p:txBody>
      </p:sp>
      <p:sp>
        <p:nvSpPr>
          <p:cNvPr id="10" name="Text 7"/>
          <p:cNvSpPr/>
          <p:nvPr/>
        </p:nvSpPr>
        <p:spPr>
          <a:xfrm>
            <a:off x="6299200" y="4743946"/>
            <a:ext cx="52324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Every line on the left is one weight. Each layer’s outputs become the next layer’s inputs.</a:t>
            </a:r>
            <a:endParaRPr lang="en-US" sz="14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Goodfellow, Bengio &amp; Courville, Deep Learning (MIT Press, 2016), ch. 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Depth builds meaning from simple parts</a:t>
            </a:r>
            <a:endParaRPr lang="en-US" sz="3200" dirty="0"/>
          </a:p>
        </p:txBody>
      </p:sp>
      <p:sp>
        <p:nvSpPr>
          <p:cNvPr id="4" name="Text 2"/>
          <p:cNvSpPr/>
          <p:nvPr/>
        </p:nvSpPr>
        <p:spPr>
          <a:xfrm>
            <a:off x="812800" y="2577604"/>
            <a:ext cx="14478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E1E1E"/>
                </a:solidFill>
                <a:latin typeface="Space Grotesk" pitchFamily="34" charset="0"/>
                <a:ea typeface="Space Grotesk" pitchFamily="34" charset="-122"/>
                <a:cs typeface="Space Grotesk" pitchFamily="34" charset="-120"/>
              </a:rPr>
              <a:t>Vision</a:t>
            </a:r>
            <a:endParaRPr lang="en-US" sz="1800" dirty="0"/>
          </a:p>
        </p:txBody>
      </p:sp>
      <p:sp>
        <p:nvSpPr>
          <p:cNvPr id="5" name="Text 3"/>
          <p:cNvSpPr/>
          <p:nvPr/>
        </p:nvSpPr>
        <p:spPr>
          <a:xfrm>
            <a:off x="2314575" y="2432248"/>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Pixels</a:t>
            </a:r>
            <a:endParaRPr lang="en-US" sz="1400" dirty="0"/>
          </a:p>
        </p:txBody>
      </p:sp>
      <p:pic>
        <p:nvPicPr>
          <p:cNvPr id="6" name="Image 0" descr="arrow-right">    </p:cNvPr>
          <p:cNvPicPr>
            <a:picLocks noChangeAspect="1"/>
          </p:cNvPicPr>
          <p:nvPr/>
        </p:nvPicPr>
        <p:blipFill>
          <a:blip r:embed="rId1"/>
          <a:srcRect l="0" r="0" t="0" b="0"/>
          <a:stretch/>
        </p:blipFill>
        <p:spPr>
          <a:xfrm>
            <a:off x="4337050" y="2661444"/>
            <a:ext cx="254000" cy="152400"/>
          </a:xfrm>
          <a:prstGeom prst="rect">
            <a:avLst/>
          </a:prstGeom>
        </p:spPr>
      </p:pic>
      <p:sp>
        <p:nvSpPr>
          <p:cNvPr id="7" name="Text 4"/>
          <p:cNvSpPr/>
          <p:nvPr/>
        </p:nvSpPr>
        <p:spPr>
          <a:xfrm>
            <a:off x="4695825" y="2432248"/>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Edges</a:t>
            </a:r>
            <a:endParaRPr lang="en-US" sz="1400" dirty="0"/>
          </a:p>
        </p:txBody>
      </p:sp>
      <p:pic>
        <p:nvPicPr>
          <p:cNvPr id="8" name="Image 1" descr="arrow-right">    </p:cNvPr>
          <p:cNvPicPr>
            <a:picLocks noChangeAspect="1"/>
          </p:cNvPicPr>
          <p:nvPr/>
        </p:nvPicPr>
        <p:blipFill>
          <a:blip r:embed="rId2"/>
          <a:srcRect l="0" r="0" t="0" b="0"/>
          <a:stretch/>
        </p:blipFill>
        <p:spPr>
          <a:xfrm>
            <a:off x="6718300" y="2661444"/>
            <a:ext cx="254000" cy="152400"/>
          </a:xfrm>
          <a:prstGeom prst="rect">
            <a:avLst/>
          </a:prstGeom>
        </p:spPr>
      </p:pic>
      <p:sp>
        <p:nvSpPr>
          <p:cNvPr id="9" name="Text 5"/>
          <p:cNvSpPr/>
          <p:nvPr/>
        </p:nvSpPr>
        <p:spPr>
          <a:xfrm>
            <a:off x="7077075" y="2432248"/>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Shapes</a:t>
            </a:r>
            <a:endParaRPr lang="en-US" sz="1400" dirty="0"/>
          </a:p>
        </p:txBody>
      </p:sp>
      <p:pic>
        <p:nvPicPr>
          <p:cNvPr id="10" name="Image 2" descr="arrow-right">    </p:cNvPr>
          <p:cNvPicPr>
            <a:picLocks noChangeAspect="1"/>
          </p:cNvPicPr>
          <p:nvPr/>
        </p:nvPicPr>
        <p:blipFill>
          <a:blip r:embed="rId3"/>
          <a:srcRect l="0" r="0" t="0" b="0"/>
          <a:stretch/>
        </p:blipFill>
        <p:spPr>
          <a:xfrm>
            <a:off x="9099550" y="2661444"/>
            <a:ext cx="254000" cy="152400"/>
          </a:xfrm>
          <a:prstGeom prst="rect">
            <a:avLst/>
          </a:prstGeom>
        </p:spPr>
      </p:pic>
      <p:sp>
        <p:nvSpPr>
          <p:cNvPr id="11" name="Text 6"/>
          <p:cNvSpPr/>
          <p:nvPr/>
        </p:nvSpPr>
        <p:spPr>
          <a:xfrm>
            <a:off x="9458325" y="2432248"/>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Objects</a:t>
            </a:r>
            <a:endParaRPr lang="en-US" sz="1400" dirty="0"/>
          </a:p>
        </p:txBody>
      </p:sp>
      <p:sp>
        <p:nvSpPr>
          <p:cNvPr id="12" name="Text 7"/>
          <p:cNvSpPr/>
          <p:nvPr/>
        </p:nvSpPr>
        <p:spPr>
          <a:xfrm>
            <a:off x="2311400" y="3122414"/>
            <a:ext cx="9339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Layer-by-layer features observed in image networks (Zeiler &amp; Fergus, 2014)</a:t>
            </a:r>
            <a:endParaRPr lang="en-US" sz="1200" dirty="0"/>
          </a:p>
        </p:txBody>
      </p:sp>
      <p:sp>
        <p:nvSpPr>
          <p:cNvPr id="13" name="Text 8"/>
          <p:cNvSpPr/>
          <p:nvPr/>
        </p:nvSpPr>
        <p:spPr>
          <a:xfrm>
            <a:off x="812800" y="4033837"/>
            <a:ext cx="14478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E1E1E"/>
                </a:solidFill>
                <a:latin typeface="Space Grotesk" pitchFamily="34" charset="0"/>
                <a:ea typeface="Space Grotesk" pitchFamily="34" charset="-122"/>
                <a:cs typeface="Space Grotesk" pitchFamily="34" charset="-120"/>
              </a:rPr>
              <a:t>Language</a:t>
            </a:r>
            <a:endParaRPr lang="en-US" sz="1800" dirty="0"/>
          </a:p>
        </p:txBody>
      </p:sp>
      <p:sp>
        <p:nvSpPr>
          <p:cNvPr id="14" name="Text 9"/>
          <p:cNvSpPr/>
          <p:nvPr/>
        </p:nvSpPr>
        <p:spPr>
          <a:xfrm>
            <a:off x="2314575" y="3888482"/>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Characters</a:t>
            </a:r>
            <a:endParaRPr lang="en-US" sz="1400" dirty="0"/>
          </a:p>
        </p:txBody>
      </p:sp>
      <p:pic>
        <p:nvPicPr>
          <p:cNvPr id="15" name="Image 3" descr="arrow-right">    </p:cNvPr>
          <p:cNvPicPr>
            <a:picLocks noChangeAspect="1"/>
          </p:cNvPicPr>
          <p:nvPr/>
        </p:nvPicPr>
        <p:blipFill>
          <a:blip r:embed="rId4"/>
          <a:srcRect l="0" r="0" t="0" b="0"/>
          <a:stretch/>
        </p:blipFill>
        <p:spPr>
          <a:xfrm>
            <a:off x="4337050" y="4117677"/>
            <a:ext cx="254000" cy="152400"/>
          </a:xfrm>
          <a:prstGeom prst="rect">
            <a:avLst/>
          </a:prstGeom>
        </p:spPr>
      </p:pic>
      <p:sp>
        <p:nvSpPr>
          <p:cNvPr id="16" name="Text 10"/>
          <p:cNvSpPr/>
          <p:nvPr/>
        </p:nvSpPr>
        <p:spPr>
          <a:xfrm>
            <a:off x="4695825" y="3888482"/>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Words</a:t>
            </a:r>
            <a:endParaRPr lang="en-US" sz="1400" dirty="0"/>
          </a:p>
        </p:txBody>
      </p:sp>
      <p:pic>
        <p:nvPicPr>
          <p:cNvPr id="17" name="Image 4" descr="arrow-right">    </p:cNvPr>
          <p:cNvPicPr>
            <a:picLocks noChangeAspect="1"/>
          </p:cNvPicPr>
          <p:nvPr/>
        </p:nvPicPr>
        <p:blipFill>
          <a:blip r:embed="rId5"/>
          <a:srcRect l="0" r="0" t="0" b="0"/>
          <a:stretch/>
        </p:blipFill>
        <p:spPr>
          <a:xfrm>
            <a:off x="6718300" y="4117677"/>
            <a:ext cx="254000" cy="152400"/>
          </a:xfrm>
          <a:prstGeom prst="rect">
            <a:avLst/>
          </a:prstGeom>
        </p:spPr>
      </p:pic>
      <p:sp>
        <p:nvSpPr>
          <p:cNvPr id="18" name="Text 11"/>
          <p:cNvSpPr/>
          <p:nvPr/>
        </p:nvSpPr>
        <p:spPr>
          <a:xfrm>
            <a:off x="7077075" y="3888482"/>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Grammar</a:t>
            </a:r>
            <a:endParaRPr lang="en-US" sz="1400" dirty="0"/>
          </a:p>
        </p:txBody>
      </p:sp>
      <p:pic>
        <p:nvPicPr>
          <p:cNvPr id="19" name="Image 5" descr="arrow-right">    </p:cNvPr>
          <p:cNvPicPr>
            <a:picLocks noChangeAspect="1"/>
          </p:cNvPicPr>
          <p:nvPr/>
        </p:nvPicPr>
        <p:blipFill>
          <a:blip r:embed="rId6"/>
          <a:srcRect l="0" r="0" t="0" b="0"/>
          <a:stretch/>
        </p:blipFill>
        <p:spPr>
          <a:xfrm>
            <a:off x="9099550" y="4117677"/>
            <a:ext cx="254000" cy="152400"/>
          </a:xfrm>
          <a:prstGeom prst="rect">
            <a:avLst/>
          </a:prstGeom>
        </p:spPr>
      </p:pic>
      <p:sp>
        <p:nvSpPr>
          <p:cNvPr id="20" name="Text 12"/>
          <p:cNvSpPr/>
          <p:nvPr/>
        </p:nvSpPr>
        <p:spPr>
          <a:xfrm>
            <a:off x="9458325" y="3888482"/>
            <a:ext cx="1917700" cy="610791"/>
          </a:xfrm>
          <a:prstGeom prst="roundRect">
            <a:avLst>
              <a:gd name="adj" fmla="val 16114"/>
            </a:avLst>
          </a:prstGeom>
          <a:solidFill>
            <a:srgbClr val="FBFBFC"/>
          </a:solidFill>
          <a:ln w="6350">
            <a:solidFill>
              <a:srgbClr val="D9D9D9"/>
            </a:solidFill>
            <a:prstDash val="solid"/>
          </a:ln>
        </p:spPr>
        <p:txBody>
          <a:bodyPr wrap="square" lIns="50325" tIns="152147" rIns="50325" bIns="126747"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Meaning</a:t>
            </a:r>
            <a:endParaRPr lang="en-US" sz="1400" dirty="0"/>
          </a:p>
        </p:txBody>
      </p:sp>
      <p:sp>
        <p:nvSpPr>
          <p:cNvPr id="21" name="Text 13"/>
          <p:cNvSpPr/>
          <p:nvPr/>
        </p:nvSpPr>
        <p:spPr>
          <a:xfrm>
            <a:off x="2311400" y="4578648"/>
            <a:ext cx="9339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Ordered syntax → semantics found in BERT’s layers (Tenney et al., 2019)</a:t>
            </a:r>
            <a:endParaRPr lang="en-US" sz="1200" dirty="0"/>
          </a:p>
        </p:txBody>
      </p:sp>
      <p:sp>
        <p:nvSpPr>
          <p:cNvPr id="22" name="Text 14"/>
          <p:cNvSpPr/>
          <p:nvPr/>
        </p:nvSpPr>
        <p:spPr>
          <a:xfrm>
            <a:off x="812800" y="554484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1E1E"/>
                </a:solidFill>
                <a:latin typeface="Space Grotesk" pitchFamily="34" charset="0"/>
                <a:ea typeface="Space Grotesk" pitchFamily="34" charset="-122"/>
                <a:cs typeface="Space Grotesk" pitchFamily="34" charset="-120"/>
              </a:rPr>
              <a:t>Engineers already think this way: small functions, composed into systems.</a:t>
            </a:r>
            <a:endParaRPr lang="en-US" sz="1800" dirty="0"/>
          </a:p>
        </p:txBody>
      </p:sp>
      <p:sp>
        <p:nvSpPr>
          <p:cNvPr id="23"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Zeiler &amp; Fergus, ECCV 2014; Tenney, Das &amp; Pavlick, ACL 2019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Enough neurons can approximate any continuous function</a:t>
            </a:r>
            <a:endParaRPr lang="en-US" sz="3200" dirty="0"/>
          </a:p>
        </p:txBody>
      </p:sp>
      <p:pic>
        <p:nvPicPr>
          <p:cNvPr id="4" name="Image 0" descr="Smooth target curve with a 4-piece ReLU approximation">    </p:cNvPr>
          <p:cNvPicPr>
            <a:picLocks noChangeAspect="1"/>
          </p:cNvPicPr>
          <p:nvPr/>
        </p:nvPicPr>
        <p:blipFill>
          <a:blip r:embed="rId1"/>
          <a:srcRect l="0" r="0" t="0" b="0"/>
          <a:stretch/>
        </p:blipFill>
        <p:spPr>
          <a:xfrm>
            <a:off x="812800" y="2326481"/>
            <a:ext cx="4826000" cy="2286000"/>
          </a:xfrm>
          <a:prstGeom prst="rect">
            <a:avLst/>
          </a:prstGeom>
        </p:spPr>
      </p:pic>
      <p:sp>
        <p:nvSpPr>
          <p:cNvPr id="5" name="Text 2"/>
          <p:cNvSpPr/>
          <p:nvPr/>
        </p:nvSpPr>
        <p:spPr>
          <a:xfrm>
            <a:off x="812800" y="471408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4 pieces: rough shape</a:t>
            </a:r>
            <a:endParaRPr lang="en-US" sz="1400" dirty="0"/>
          </a:p>
        </p:txBody>
      </p:sp>
      <p:pic>
        <p:nvPicPr>
          <p:cNvPr id="6" name="Image 1" descr="Smooth target curve with a 24-piece ReLU approximation">    </p:cNvPr>
          <p:cNvPicPr>
            <a:picLocks noChangeAspect="1"/>
          </p:cNvPicPr>
          <p:nvPr/>
        </p:nvPicPr>
        <p:blipFill>
          <a:blip r:embed="rId2"/>
          <a:srcRect l="0" r="0" t="0" b="0"/>
          <a:stretch/>
        </p:blipFill>
        <p:spPr>
          <a:xfrm>
            <a:off x="6045200" y="2326481"/>
            <a:ext cx="4826000" cy="2286000"/>
          </a:xfrm>
          <a:prstGeom prst="rect">
            <a:avLst/>
          </a:prstGeom>
        </p:spPr>
      </p:pic>
      <p:sp>
        <p:nvSpPr>
          <p:cNvPr id="7" name="Text 3"/>
          <p:cNvSpPr/>
          <p:nvPr/>
        </p:nvSpPr>
        <p:spPr>
          <a:xfrm>
            <a:off x="6045200" y="471408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24 pieces: nearly exact</a:t>
            </a:r>
            <a:endParaRPr lang="en-US" sz="1400" dirty="0"/>
          </a:p>
        </p:txBody>
      </p:sp>
      <p:sp>
        <p:nvSpPr>
          <p:cNvPr id="8" name="Text 4"/>
          <p:cNvSpPr/>
          <p:nvPr/>
        </p:nvSpPr>
        <p:spPr>
          <a:xfrm>
            <a:off x="812800" y="516612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Target behavior</a:t>
            </a:r>
            <a:r>
              <a:rPr lang="en-US" sz="1200" b="1" dirty="0">
                <a:solidFill>
                  <a:srgbClr val="1E1E1E"/>
                </a:solidFill>
                <a:latin typeface="IBM Plex Sans" pitchFamily="34" charset="0"/>
                <a:ea typeface="IBM Plex Sans" pitchFamily="34" charset="-122"/>
                <a:cs typeface="IBM Plex Sans" pitchFamily="34" charset="-120"/>
              </a:rPr>
              <a:t>        </a:t>
            </a:r>
            <a:r>
              <a:rPr lang="en-US" sz="1200" b="1" dirty="0">
                <a:solidFill>
                  <a:srgbClr val="0A5A8A"/>
                </a:solidFill>
                <a:latin typeface="IBM Plex Sans" pitchFamily="34" charset="0"/>
                <a:ea typeface="IBM Plex Sans" pitchFamily="34" charset="-122"/>
                <a:cs typeface="IBM Plex Sans" pitchFamily="34" charset="-120"/>
              </a:rPr>
              <a:t>┅┅ Network approximation</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Cybenko, 1989; Hornik, 1991; Leshno et al., 1993. Curves drawn for illustration.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Training finds the weights: predict, measure, nudge, repeat</a:t>
            </a:r>
            <a:endParaRPr lang="en-US" sz="3200" dirty="0"/>
          </a:p>
        </p:txBody>
      </p:sp>
      <p:sp>
        <p:nvSpPr>
          <p:cNvPr id="4" name="Shape 2"/>
          <p:cNvSpPr/>
          <p:nvPr/>
        </p:nvSpPr>
        <p:spPr>
          <a:xfrm>
            <a:off x="819150" y="2332831"/>
            <a:ext cx="2781300" cy="1066800"/>
          </a:xfrm>
          <a:prstGeom prst="roundRect">
            <a:avLst>
              <a:gd name="adj" fmla="val 8929"/>
            </a:avLst>
          </a:prstGeom>
          <a:solidFill>
            <a:srgbClr val="FBFBFC"/>
          </a:solidFill>
          <a:ln w="12700">
            <a:solidFill>
              <a:srgbClr val="D9D9D9"/>
            </a:solidFill>
            <a:prstDash val="solid"/>
          </a:ln>
        </p:spPr>
      </p:sp>
      <p:sp>
        <p:nvSpPr>
          <p:cNvPr id="5" name="Text 3"/>
          <p:cNvSpPr/>
          <p:nvPr/>
        </p:nvSpPr>
        <p:spPr>
          <a:xfrm>
            <a:off x="977900" y="249158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1 · Read</a:t>
            </a:r>
            <a:endParaRPr lang="en-US" sz="1400" dirty="0"/>
          </a:p>
        </p:txBody>
      </p:sp>
      <p:sp>
        <p:nvSpPr>
          <p:cNvPr id="6" name="Text 4"/>
          <p:cNvSpPr/>
          <p:nvPr/>
        </p:nvSpPr>
        <p:spPr>
          <a:xfrm>
            <a:off x="977900" y="2755702"/>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a chunk of real text</a:t>
            </a:r>
            <a:endParaRPr lang="en-US" sz="1200" dirty="0"/>
          </a:p>
        </p:txBody>
      </p:sp>
      <p:sp>
        <p:nvSpPr>
          <p:cNvPr id="7" name="Shape 5"/>
          <p:cNvSpPr/>
          <p:nvPr/>
        </p:nvSpPr>
        <p:spPr>
          <a:xfrm>
            <a:off x="8591550" y="2332831"/>
            <a:ext cx="2781300" cy="1066800"/>
          </a:xfrm>
          <a:prstGeom prst="roundRect">
            <a:avLst>
              <a:gd name="adj" fmla="val 8929"/>
            </a:avLst>
          </a:prstGeom>
          <a:solidFill>
            <a:srgbClr val="FBFBFC"/>
          </a:solidFill>
          <a:ln w="12700">
            <a:solidFill>
              <a:srgbClr val="D9D9D9"/>
            </a:solidFill>
            <a:prstDash val="solid"/>
          </a:ln>
        </p:spPr>
      </p:sp>
      <p:sp>
        <p:nvSpPr>
          <p:cNvPr id="8" name="Text 6"/>
          <p:cNvSpPr/>
          <p:nvPr/>
        </p:nvSpPr>
        <p:spPr>
          <a:xfrm>
            <a:off x="8750300" y="249158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2 · Predict</a:t>
            </a:r>
            <a:endParaRPr lang="en-US" sz="1400" dirty="0"/>
          </a:p>
        </p:txBody>
      </p:sp>
      <p:sp>
        <p:nvSpPr>
          <p:cNvPr id="9" name="Text 7"/>
          <p:cNvSpPr/>
          <p:nvPr/>
        </p:nvSpPr>
        <p:spPr>
          <a:xfrm>
            <a:off x="8750300" y="2755702"/>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the next token</a:t>
            </a:r>
            <a:endParaRPr lang="en-US" sz="1200" dirty="0"/>
          </a:p>
        </p:txBody>
      </p:sp>
      <p:sp>
        <p:nvSpPr>
          <p:cNvPr id="10" name="Shape 8"/>
          <p:cNvSpPr/>
          <p:nvPr/>
        </p:nvSpPr>
        <p:spPr>
          <a:xfrm>
            <a:off x="8591550" y="4555331"/>
            <a:ext cx="2781300" cy="1066800"/>
          </a:xfrm>
          <a:prstGeom prst="roundRect">
            <a:avLst>
              <a:gd name="adj" fmla="val 8929"/>
            </a:avLst>
          </a:prstGeom>
          <a:solidFill>
            <a:srgbClr val="FBFBFC"/>
          </a:solidFill>
          <a:ln w="12700">
            <a:solidFill>
              <a:srgbClr val="D9D9D9"/>
            </a:solidFill>
            <a:prstDash val="solid"/>
          </a:ln>
        </p:spPr>
      </p:sp>
      <p:sp>
        <p:nvSpPr>
          <p:cNvPr id="11" name="Text 9"/>
          <p:cNvSpPr/>
          <p:nvPr/>
        </p:nvSpPr>
        <p:spPr>
          <a:xfrm>
            <a:off x="8750300" y="471408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3 · Measure</a:t>
            </a:r>
            <a:endParaRPr lang="en-US" sz="1400" dirty="0"/>
          </a:p>
        </p:txBody>
      </p:sp>
      <p:sp>
        <p:nvSpPr>
          <p:cNvPr id="12" name="Text 10"/>
          <p:cNvSpPr/>
          <p:nvPr/>
        </p:nvSpPr>
        <p:spPr>
          <a:xfrm>
            <a:off x="8750300" y="4978202"/>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how wrong it was (the loss)</a:t>
            </a:r>
            <a:endParaRPr lang="en-US" sz="1200" dirty="0"/>
          </a:p>
        </p:txBody>
      </p:sp>
      <p:sp>
        <p:nvSpPr>
          <p:cNvPr id="13" name="Shape 11"/>
          <p:cNvSpPr/>
          <p:nvPr/>
        </p:nvSpPr>
        <p:spPr>
          <a:xfrm>
            <a:off x="819150" y="4555331"/>
            <a:ext cx="2781300" cy="1066800"/>
          </a:xfrm>
          <a:prstGeom prst="roundRect">
            <a:avLst>
              <a:gd name="adj" fmla="val 8929"/>
            </a:avLst>
          </a:prstGeom>
          <a:solidFill>
            <a:srgbClr val="FBFBFC"/>
          </a:solidFill>
          <a:ln w="12700">
            <a:solidFill>
              <a:srgbClr val="D9D9D9"/>
            </a:solidFill>
            <a:prstDash val="solid"/>
          </a:ln>
        </p:spPr>
      </p:sp>
      <p:sp>
        <p:nvSpPr>
          <p:cNvPr id="14" name="Text 12"/>
          <p:cNvSpPr/>
          <p:nvPr/>
        </p:nvSpPr>
        <p:spPr>
          <a:xfrm>
            <a:off x="977900" y="471408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4 · Nudge</a:t>
            </a:r>
            <a:endParaRPr lang="en-US" sz="1400" dirty="0"/>
          </a:p>
        </p:txBody>
      </p:sp>
      <p:sp>
        <p:nvSpPr>
          <p:cNvPr id="15" name="Text 13"/>
          <p:cNvSpPr/>
          <p:nvPr/>
        </p:nvSpPr>
        <p:spPr>
          <a:xfrm>
            <a:off x="977900" y="4978202"/>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every weight slightly, to reduce the error</a:t>
            </a:r>
            <a:endParaRPr lang="en-US" sz="1200" dirty="0"/>
          </a:p>
        </p:txBody>
      </p:sp>
      <p:pic>
        <p:nvPicPr>
          <p:cNvPr id="16" name="Image 0" descr="connector">    </p:cNvPr>
          <p:cNvPicPr>
            <a:picLocks noChangeAspect="1"/>
          </p:cNvPicPr>
          <p:nvPr/>
        </p:nvPicPr>
        <p:blipFill>
          <a:blip r:embed="rId1"/>
          <a:srcRect l="0" r="0" t="0" b="0"/>
          <a:stretch/>
        </p:blipFill>
        <p:spPr>
          <a:xfrm>
            <a:off x="3543300" y="2802731"/>
            <a:ext cx="5105400" cy="127000"/>
          </a:xfrm>
          <a:prstGeom prst="rect">
            <a:avLst/>
          </a:prstGeom>
        </p:spPr>
      </p:pic>
      <p:pic>
        <p:nvPicPr>
          <p:cNvPr id="17" name="Image 1" descr="connector">    </p:cNvPr>
          <p:cNvPicPr>
            <a:picLocks noChangeAspect="1"/>
          </p:cNvPicPr>
          <p:nvPr/>
        </p:nvPicPr>
        <p:blipFill>
          <a:blip r:embed="rId2"/>
          <a:srcRect l="0" r="0" t="0" b="0"/>
          <a:stretch/>
        </p:blipFill>
        <p:spPr>
          <a:xfrm>
            <a:off x="9918700" y="3342481"/>
            <a:ext cx="127000" cy="1270000"/>
          </a:xfrm>
          <a:prstGeom prst="rect">
            <a:avLst/>
          </a:prstGeom>
        </p:spPr>
      </p:pic>
      <p:pic>
        <p:nvPicPr>
          <p:cNvPr id="18" name="Image 2" descr="connector">    </p:cNvPr>
          <p:cNvPicPr>
            <a:picLocks noChangeAspect="1"/>
          </p:cNvPicPr>
          <p:nvPr/>
        </p:nvPicPr>
        <p:blipFill>
          <a:blip r:embed="rId3"/>
          <a:srcRect l="0" r="0" t="0" b="0"/>
          <a:stretch/>
        </p:blipFill>
        <p:spPr>
          <a:xfrm>
            <a:off x="3543300" y="5025231"/>
            <a:ext cx="5105400" cy="127000"/>
          </a:xfrm>
          <a:prstGeom prst="rect">
            <a:avLst/>
          </a:prstGeom>
        </p:spPr>
      </p:pic>
      <p:pic>
        <p:nvPicPr>
          <p:cNvPr id="19" name="Image 3" descr="connector">    </p:cNvPr>
          <p:cNvPicPr>
            <a:picLocks noChangeAspect="1"/>
          </p:cNvPicPr>
          <p:nvPr/>
        </p:nvPicPr>
        <p:blipFill>
          <a:blip r:embed="rId4"/>
          <a:srcRect l="0" r="0" t="0" b="0"/>
          <a:stretch/>
        </p:blipFill>
        <p:spPr>
          <a:xfrm>
            <a:off x="2146300" y="3342481"/>
            <a:ext cx="127000" cy="1270000"/>
          </a:xfrm>
          <a:prstGeom prst="rect">
            <a:avLst/>
          </a:prstGeom>
        </p:spPr>
      </p:pic>
      <p:sp>
        <p:nvSpPr>
          <p:cNvPr id="20" name="Text 14"/>
          <p:cNvSpPr/>
          <p:nvPr/>
        </p:nvSpPr>
        <p:spPr>
          <a:xfrm>
            <a:off x="3793744" y="3571081"/>
            <a:ext cx="4604512" cy="322560"/>
          </a:xfrm>
          <a:prstGeom prst="rect">
            <a:avLst/>
          </a:prstGeom>
          <a:noFill/>
          <a:ln/>
        </p:spPr>
        <p:txBody>
          <a:bodyPr wrap="square" lIns="0" tIns="0" rIns="0" bIns="0" rtlCol="0" anchor="t">
            <a:normAutofit/>
          </a:bodyPr>
          <a:lstStyle/>
          <a:p>
            <a:pPr algn="ctr" indent="0" marL="0">
              <a:lnSpc>
                <a:spcPts val="2340"/>
              </a:lnSpc>
              <a:buNone/>
            </a:pPr>
            <a:r>
              <a:rPr lang="en-US" sz="1800" b="1" dirty="0">
                <a:solidFill>
                  <a:srgbClr val="1E1E1E"/>
                </a:solidFill>
                <a:latin typeface="Space Grotesk" pitchFamily="34" charset="0"/>
                <a:ea typeface="Space Grotesk" pitchFamily="34" charset="-122"/>
                <a:cs typeface="Space Grotesk" pitchFamily="34" charset="-120"/>
              </a:rPr>
              <a:t>Repeat over trillions of tokens</a:t>
            </a:r>
            <a:endParaRPr lang="en-US" sz="1800" dirty="0"/>
          </a:p>
        </p:txBody>
      </p:sp>
      <p:sp>
        <p:nvSpPr>
          <p:cNvPr id="21" name="Text 15"/>
          <p:cNvSpPr/>
          <p:nvPr/>
        </p:nvSpPr>
        <p:spPr>
          <a:xfrm>
            <a:off x="3793744" y="4231481"/>
            <a:ext cx="46045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Llama 3 was pretrained on about 15 trillion</a:t>
            </a:r>
            <a:endParaRPr lang="en-US" sz="12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Rumelhart, Hinton &amp; Williams, Nature, 1986 (backpropagation); Meta, Llama 3 paper, 2024 (~15T tokens)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Same math, real-world results</a:t>
            </a:r>
            <a:endParaRPr lang="en-US" sz="3200" dirty="0"/>
          </a:p>
        </p:txBody>
      </p:sp>
      <p:sp>
        <p:nvSpPr>
          <p:cNvPr id="4" name="Shape 2"/>
          <p:cNvSpPr/>
          <p:nvPr/>
        </p:nvSpPr>
        <p:spPr>
          <a:xfrm>
            <a:off x="815975" y="1882676"/>
            <a:ext cx="3380284" cy="4159349"/>
          </a:xfrm>
          <a:prstGeom prst="roundRect">
            <a:avLst>
              <a:gd name="adj" fmla="val 3663"/>
            </a:avLst>
          </a:prstGeom>
          <a:solidFill>
            <a:srgbClr val="FBFBFC"/>
          </a:solidFill>
          <a:ln w="6350">
            <a:solidFill>
              <a:srgbClr val="D9D9D9"/>
            </a:solidFill>
            <a:prstDash val="solid"/>
          </a:ln>
        </p:spPr>
      </p:sp>
      <p:pic>
        <p:nvPicPr>
          <p:cNvPr id="5" name="Image 0" descr="Star">    </p:cNvPr>
          <p:cNvPicPr>
            <a:picLocks noChangeAspect="1"/>
          </p:cNvPicPr>
          <p:nvPr/>
        </p:nvPicPr>
        <p:blipFill>
          <a:blip r:embed="rId1"/>
          <a:srcRect l="0" r="0" t="0" b="0"/>
          <a:stretch/>
        </p:blipFill>
        <p:spPr>
          <a:xfrm>
            <a:off x="1073150" y="2139851"/>
            <a:ext cx="355600" cy="355600"/>
          </a:xfrm>
          <a:prstGeom prst="rect">
            <a:avLst/>
          </a:prstGeom>
        </p:spPr>
      </p:pic>
      <p:sp>
        <p:nvSpPr>
          <p:cNvPr id="6" name="Text 3"/>
          <p:cNvSpPr/>
          <p:nvPr/>
        </p:nvSpPr>
        <p:spPr>
          <a:xfrm>
            <a:off x="1073150" y="2622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AlphaFold 2</a:t>
            </a:r>
            <a:endParaRPr lang="en-US" sz="1800" dirty="0"/>
          </a:p>
        </p:txBody>
      </p:sp>
      <p:sp>
        <p:nvSpPr>
          <p:cNvPr id="7" name="Text 4"/>
          <p:cNvSpPr/>
          <p:nvPr/>
        </p:nvSpPr>
        <p:spPr>
          <a:xfrm>
            <a:off x="1073150" y="3023691"/>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Predicts a protein’s 3D shape from its sequence. Its creators shared the 2024 Nobel Prize in Chemistry.</a:t>
            </a:r>
            <a:endParaRPr lang="en-US" sz="1400" dirty="0"/>
          </a:p>
        </p:txBody>
      </p:sp>
      <p:sp>
        <p:nvSpPr>
          <p:cNvPr id="8" name="Text 5"/>
          <p:cNvSpPr/>
          <p:nvPr/>
        </p:nvSpPr>
        <p:spPr>
          <a:xfrm>
            <a:off x="1073150"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Jumper et al., Nature, 2021</a:t>
            </a:r>
            <a:endParaRPr lang="en-US" sz="1200" dirty="0"/>
          </a:p>
        </p:txBody>
      </p:sp>
      <p:sp>
        <p:nvSpPr>
          <p:cNvPr id="9" name="Shape 6"/>
          <p:cNvSpPr/>
          <p:nvPr/>
        </p:nvSpPr>
        <p:spPr>
          <a:xfrm>
            <a:off x="4405809" y="1882676"/>
            <a:ext cx="3380284" cy="4159349"/>
          </a:xfrm>
          <a:prstGeom prst="roundRect">
            <a:avLst>
              <a:gd name="adj" fmla="val 3663"/>
            </a:avLst>
          </a:prstGeom>
          <a:solidFill>
            <a:srgbClr val="FBFBFC"/>
          </a:solidFill>
          <a:ln w="6350">
            <a:solidFill>
              <a:srgbClr val="D9D9D9"/>
            </a:solidFill>
            <a:prstDash val="solid"/>
          </a:ln>
        </p:spPr>
      </p:sp>
      <p:pic>
        <p:nvPicPr>
          <p:cNvPr id="10" name="Image 1" descr="Cloud">    </p:cNvPr>
          <p:cNvPicPr>
            <a:picLocks noChangeAspect="1"/>
          </p:cNvPicPr>
          <p:nvPr/>
        </p:nvPicPr>
        <p:blipFill>
          <a:blip r:embed="rId2"/>
          <a:srcRect l="0" r="0" t="0" b="0"/>
          <a:stretch/>
        </p:blipFill>
        <p:spPr>
          <a:xfrm>
            <a:off x="4662984" y="2139851"/>
            <a:ext cx="355600" cy="355600"/>
          </a:xfrm>
          <a:prstGeom prst="rect">
            <a:avLst/>
          </a:prstGeom>
        </p:spPr>
      </p:pic>
      <p:sp>
        <p:nvSpPr>
          <p:cNvPr id="11" name="Text 7"/>
          <p:cNvSpPr/>
          <p:nvPr/>
        </p:nvSpPr>
        <p:spPr>
          <a:xfrm>
            <a:off x="4662984" y="2622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GraphCast</a:t>
            </a:r>
            <a:endParaRPr lang="en-US" sz="1800" dirty="0"/>
          </a:p>
        </p:txBody>
      </p:sp>
      <p:sp>
        <p:nvSpPr>
          <p:cNvPr id="12" name="Text 8"/>
          <p:cNvSpPr/>
          <p:nvPr/>
        </p:nvSpPr>
        <p:spPr>
          <a:xfrm>
            <a:off x="4662984" y="3023691"/>
            <a:ext cx="2951912"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10-day global weather forecasts in under a minute; beat the leading operational system on 90% of 1,380 targets.</a:t>
            </a:r>
            <a:endParaRPr lang="en-US" sz="1400" dirty="0"/>
          </a:p>
        </p:txBody>
      </p:sp>
      <p:sp>
        <p:nvSpPr>
          <p:cNvPr id="13" name="Text 9"/>
          <p:cNvSpPr/>
          <p:nvPr/>
        </p:nvSpPr>
        <p:spPr>
          <a:xfrm>
            <a:off x="4662984"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Lam et al., Science, 2023</a:t>
            </a:r>
            <a:endParaRPr lang="en-US" sz="1200" dirty="0"/>
          </a:p>
        </p:txBody>
      </p:sp>
      <p:sp>
        <p:nvSpPr>
          <p:cNvPr id="14" name="Shape 10"/>
          <p:cNvSpPr/>
          <p:nvPr/>
        </p:nvSpPr>
        <p:spPr>
          <a:xfrm>
            <a:off x="7995642" y="1882676"/>
            <a:ext cx="3380284" cy="4159349"/>
          </a:xfrm>
          <a:prstGeom prst="roundRect">
            <a:avLst>
              <a:gd name="adj" fmla="val 3663"/>
            </a:avLst>
          </a:prstGeom>
          <a:solidFill>
            <a:srgbClr val="FBFBFC"/>
          </a:solidFill>
          <a:ln w="6350">
            <a:solidFill>
              <a:srgbClr val="D9D9D9"/>
            </a:solidFill>
            <a:prstDash val="solid"/>
          </a:ln>
        </p:spPr>
      </p:sp>
      <p:pic>
        <p:nvPicPr>
          <p:cNvPr id="15" name="Image 2" descr="Globe">    </p:cNvPr>
          <p:cNvPicPr>
            <a:picLocks noChangeAspect="1"/>
          </p:cNvPicPr>
          <p:nvPr/>
        </p:nvPicPr>
        <p:blipFill>
          <a:blip r:embed="rId3"/>
          <a:srcRect l="0" r="0" t="0" b="0"/>
          <a:stretch/>
        </p:blipFill>
        <p:spPr>
          <a:xfrm>
            <a:off x="8252817" y="2139851"/>
            <a:ext cx="355600" cy="355600"/>
          </a:xfrm>
          <a:prstGeom prst="rect">
            <a:avLst/>
          </a:prstGeom>
        </p:spPr>
      </p:pic>
      <p:sp>
        <p:nvSpPr>
          <p:cNvPr id="16" name="Text 11"/>
          <p:cNvSpPr/>
          <p:nvPr/>
        </p:nvSpPr>
        <p:spPr>
          <a:xfrm>
            <a:off x="8252817" y="2622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Neural translation</a:t>
            </a:r>
            <a:endParaRPr lang="en-US" sz="1800" dirty="0"/>
          </a:p>
        </p:txBody>
      </p:sp>
      <p:sp>
        <p:nvSpPr>
          <p:cNvPr id="17" name="Text 12"/>
          <p:cNvSpPr/>
          <p:nvPr/>
        </p:nvSpPr>
        <p:spPr>
          <a:xfrm>
            <a:off x="8252817" y="3023691"/>
            <a:ext cx="2951912"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Google’s neural system cut translation errors by about 60% versus its earlier phrase-based system.</a:t>
            </a:r>
            <a:endParaRPr lang="en-US" sz="1400" dirty="0"/>
          </a:p>
        </p:txBody>
      </p:sp>
      <p:sp>
        <p:nvSpPr>
          <p:cNvPr id="18" name="Text 13"/>
          <p:cNvSpPr/>
          <p:nvPr/>
        </p:nvSpPr>
        <p:spPr>
          <a:xfrm>
            <a:off x="8252817"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Wu et al., arXiv:1609.08144, 2016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200" dirty="0"/>
          </a:p>
        </p:txBody>
      </p:sp>
      <p:sp>
        <p:nvSpPr>
          <p:cNvPr id="3" name="Text 1"/>
          <p:cNvSpPr/>
          <p:nvPr>
            <p:ph type="title"/>
          </p:nvPr>
        </p:nvSpPr>
        <p:spPr>
          <a:xfrm>
            <a:off x="812800" y="11785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Know the limits: networks interpolate, they don’t extrapolate</a:t>
            </a:r>
            <a:endParaRPr lang="en-US" sz="3200" dirty="0"/>
          </a:p>
        </p:txBody>
      </p:sp>
      <p:pic>
        <p:nvPicPr>
          <p:cNvPr id="4" name="Image 0" descr="A model fit to data matches inside the data range and diverges outside it">    </p:cNvPr>
          <p:cNvPicPr>
            <a:picLocks noChangeAspect="1"/>
          </p:cNvPicPr>
          <p:nvPr/>
        </p:nvPicPr>
        <p:blipFill>
          <a:blip r:embed="rId1"/>
          <a:srcRect l="-33" r="-33" t="0" b="0"/>
          <a:stretch/>
        </p:blipFill>
        <p:spPr>
          <a:xfrm>
            <a:off x="812800" y="2224881"/>
            <a:ext cx="10566400" cy="2413000"/>
          </a:xfrm>
          <a:prstGeom prst="rect">
            <a:avLst/>
          </a:prstGeom>
        </p:spPr>
      </p:pic>
      <p:sp>
        <p:nvSpPr>
          <p:cNvPr id="5" name="Text 2"/>
          <p:cNvSpPr/>
          <p:nvPr/>
        </p:nvSpPr>
        <p:spPr>
          <a:xfrm>
            <a:off x="764318" y="4790281"/>
            <a:ext cx="332911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A8A"/>
                </a:solidFill>
                <a:latin typeface="IBM Plex Sans" pitchFamily="34" charset="0"/>
                <a:ea typeface="IBM Plex Sans" pitchFamily="34" charset="-122"/>
                <a:cs typeface="IBM Plex Sans" pitchFamily="34" charset="-120"/>
              </a:rPr>
              <a:t>Outside the data: no guarantees</a:t>
            </a:r>
            <a:endParaRPr lang="en-US" sz="1200" dirty="0"/>
          </a:p>
        </p:txBody>
      </p:sp>
      <p:sp>
        <p:nvSpPr>
          <p:cNvPr id="6" name="Text 3"/>
          <p:cNvSpPr/>
          <p:nvPr/>
        </p:nvSpPr>
        <p:spPr>
          <a:xfrm>
            <a:off x="3983418" y="4790281"/>
            <a:ext cx="422516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Inside the data: reliable fit</a:t>
            </a:r>
            <a:endParaRPr lang="en-US" sz="1200" dirty="0"/>
          </a:p>
        </p:txBody>
      </p:sp>
      <p:sp>
        <p:nvSpPr>
          <p:cNvPr id="7" name="Text 4"/>
          <p:cNvSpPr/>
          <p:nvPr/>
        </p:nvSpPr>
        <p:spPr>
          <a:xfrm>
            <a:off x="8098568" y="4790281"/>
            <a:ext cx="332911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A5A8A"/>
                </a:solidFill>
                <a:latin typeface="IBM Plex Sans" pitchFamily="34" charset="0"/>
                <a:ea typeface="IBM Plex Sans" pitchFamily="34" charset="-122"/>
                <a:cs typeface="IBM Plex Sans" pitchFamily="34" charset="-120"/>
              </a:rPr>
              <a:t>Outside the data: no guarantees</a:t>
            </a:r>
            <a:endParaRPr lang="en-US" sz="1200" dirty="0"/>
          </a:p>
        </p:txBody>
      </p:sp>
      <p:sp>
        <p:nvSpPr>
          <p:cNvPr id="8" name="Text 5"/>
          <p:cNvSpPr/>
          <p:nvPr/>
        </p:nvSpPr>
        <p:spPr>
          <a:xfrm>
            <a:off x="812800" y="51560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For coding agents, “the data” includes the context we hand them. Hold that thought.</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Hornik, 1991 (bounded domains); Shalev-Shwartz et al., ICML 2017. Chart drawn for illustration.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2172"/>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0A5A8A"/>
                </a:solidFill>
                <a:latin typeface="IBM Plex Sans" pitchFamily="34" charset="0"/>
                <a:ea typeface="IBM Plex Sans" pitchFamily="34" charset="-122"/>
                <a:cs typeface="IBM Plex Sans" pitchFamily="34" charset="-120"/>
              </a:rPr>
              <a:t>02 · WHY NEURAL NETWORKS ARE POWERFUL</a:t>
            </a:r>
            <a:endParaRPr lang="en-US" sz="1196" dirty="0"/>
          </a:p>
        </p:txBody>
      </p:sp>
      <p:sp>
        <p:nvSpPr>
          <p:cNvPr id="3" name="Text 1"/>
          <p:cNvSpPr/>
          <p:nvPr>
            <p:ph type="title"/>
          </p:nvPr>
        </p:nvSpPr>
        <p:spPr>
          <a:xfrm>
            <a:off x="812800" y="1222772"/>
            <a:ext cx="10883392" cy="891778"/>
          </a:xfrm>
          <a:prstGeom prst="rect">
            <a:avLst/>
          </a:prstGeom>
          <a:noFill/>
          <a:ln/>
        </p:spPr>
        <p:txBody>
          <a:bodyPr wrap="square" lIns="0" tIns="0" rIns="0" bIns="0" rtlCol="0" anchor="t">
            <a:normAutofit/>
          </a:bodyPr>
          <a:lstStyle/>
          <a:p>
            <a:pPr algn="l" indent="0" marL="0">
              <a:lnSpc>
                <a:spcPts val="3410"/>
              </a:lnSpc>
              <a:buNone/>
            </a:pPr>
            <a:r>
              <a:rPr lang="en-US" sz="3100" b="1" i="0" dirty="0">
                <a:solidFill>
                  <a:srgbClr val="1E1E1E"/>
                </a:solidFill>
                <a:latin typeface="Space Grotesk" pitchFamily="34" charset="0"/>
                <a:ea typeface="Space Grotesk" pitchFamily="34" charset="-122"/>
                <a:cs typeface="Space Grotesk" pitchFamily="34" charset="-120"/>
              </a:rPr>
              <a:t>Zooming back out: an LLM is this network at enormous scale</a:t>
            </a:r>
            <a:endParaRPr lang="en-US" sz="3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05050"/>
          <a:ext cx="10553700" cy="2554486"/>
        </p:xfrm>
        <a:graphic>
          <a:graphicData uri="http://schemas.openxmlformats.org/drawingml/2006/table">
            <a:tbl>
              <a:tblPr/>
              <a:tblGrid>
                <a:gridCol w="2321814"/>
                <a:gridCol w="3588258"/>
                <a:gridCol w="4643628"/>
              </a:tblGrid>
              <a:tr h="425748">
                <a:tc>
                  <a:txBody>
                    <a:bodyPr/>
                    <a:lstStyle/>
                    <a:p>
                      <a:pPr indent="0" marL="0">
                        <a:lnSpc>
                          <a:spcPts val="1850"/>
                        </a:lnSpc>
                        <a:buNone/>
                      </a:pP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50"/>
                        </a:lnSpc>
                        <a:buNone/>
                      </a:pPr>
                      <a:r>
                        <a:rPr lang="en-US" sz="1321" b="1" dirty="0">
                          <a:solidFill>
                            <a:srgbClr val="0A5A8A"/>
                          </a:solidFill>
                          <a:latin typeface="IBM Plex Sans" pitchFamily="34" charset="0"/>
                          <a:ea typeface="IBM Plex Sans" pitchFamily="34" charset="-122"/>
                          <a:cs typeface="IBM Plex Sans" pitchFamily="34" charset="-120"/>
                        </a:rPr>
                        <a:t>Toy network</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50"/>
                        </a:lnSpc>
                        <a:buNone/>
                      </a:pPr>
                      <a:r>
                        <a:rPr lang="en-US" sz="1321" b="1" dirty="0">
                          <a:solidFill>
                            <a:srgbClr val="0A5A8A"/>
                          </a:solidFill>
                          <a:latin typeface="IBM Plex Sans" pitchFamily="34" charset="0"/>
                          <a:ea typeface="IBM Plex Sans" pitchFamily="34" charset="-122"/>
                          <a:cs typeface="IBM Plex Sans" pitchFamily="34" charset="-120"/>
                        </a:rPr>
                        <a:t>Large language model</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425748">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Parts</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weighted sums + ReLU</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the same, arranged as a Transformer</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25748">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Weights</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a handful</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up to 405 billion (Llama 3)</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425748">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Training data</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a few examples</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about 15 trillion tokens</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25748">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Task</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predict one number</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predict the next token</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425748">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What it learns</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one pattern</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50"/>
                        </a:lnSpc>
                        <a:buNone/>
                      </a:pPr>
                      <a:r>
                        <a:rPr lang="en-US" sz="1321" dirty="0">
                          <a:solidFill>
                            <a:srgbClr val="1E1E1E"/>
                          </a:solidFill>
                          <a:latin typeface="IBM Plex Sans" pitchFamily="34" charset="0"/>
                          <a:ea typeface="IBM Plex Sans" pitchFamily="34" charset="-122"/>
                          <a:cs typeface="IBM Plex Sans" pitchFamily="34" charset="-120"/>
                        </a:rPr>
                        <a:t>grammar, facts, APIs, idioms: whatever helps predict</a:t>
                      </a:r>
                      <a:endParaRPr lang="en-US" sz="1321"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bl>
          </a:graphicData>
        </a:graphic>
      </p:graphicFrame>
      <p:sp>
        <p:nvSpPr>
          <p:cNvPr id="5" name="Text 2"/>
          <p:cNvSpPr/>
          <p:nvPr/>
        </p:nvSpPr>
        <p:spPr>
          <a:xfrm>
            <a:off x="812800" y="5266134"/>
            <a:ext cx="10883392" cy="601365"/>
          </a:xfrm>
          <a:prstGeom prst="rect">
            <a:avLst/>
          </a:prstGeom>
          <a:noFill/>
          <a:ln/>
        </p:spPr>
        <p:txBody>
          <a:bodyPr wrap="square" lIns="0" tIns="0" rIns="0" bIns="0" rtlCol="0" anchor="t">
            <a:normAutofit/>
          </a:bodyPr>
          <a:lstStyle/>
          <a:p>
            <a:pPr algn="l" indent="0" marL="0">
              <a:lnSpc>
                <a:spcPts val="2282"/>
              </a:lnSpc>
              <a:buNone/>
            </a:pPr>
            <a:r>
              <a:rPr lang="en-US" sz="1755" b="1" dirty="0">
                <a:solidFill>
                  <a:srgbClr val="1E1E1E"/>
                </a:solidFill>
                <a:latin typeface="Space Grotesk" pitchFamily="34" charset="0"/>
                <a:ea typeface="Space Grotesk" pitchFamily="34" charset="-122"/>
                <a:cs typeface="Space Grotesk" pitchFamily="34" charset="-120"/>
              </a:rPr>
              <a:t>Predicting the next token well forces the network to learn the structure behind the text — including code.</a:t>
            </a:r>
            <a:endParaRPr lang="en-US" sz="1755"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Meta, “The Llama 3 Herd of Models,” 2024 (arXiv:2407.21783)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457200" cy="127000"/>
          </a:xfrm>
          <a:prstGeom prst="roundRect">
            <a:avLst>
              <a:gd name="adj" fmla="val 50000"/>
            </a:avLst>
          </a:prstGeom>
          <a:solidFill>
            <a:srgbClr val="00AEEF"/>
          </a:solidFill>
          <a:ln/>
        </p:spPr>
      </p:sp>
      <p:sp>
        <p:nvSpPr>
          <p:cNvPr id="5" name="Shape 3"/>
          <p:cNvSpPr/>
          <p:nvPr/>
        </p:nvSpPr>
        <p:spPr>
          <a:xfrm>
            <a:off x="1752600" y="812800"/>
            <a:ext cx="127000" cy="127000"/>
          </a:xfrm>
          <a:prstGeom prst="roundRect">
            <a:avLst>
              <a:gd name="adj" fmla="val 50000"/>
            </a:avLst>
          </a:prstGeom>
          <a:solidFill>
            <a:srgbClr val="D9D9D9"/>
          </a:solidFill>
          <a:ln/>
        </p:spPr>
      </p:sp>
      <p:sp>
        <p:nvSpPr>
          <p:cNvPr id="6" name="Shape 4"/>
          <p:cNvSpPr/>
          <p:nvPr/>
        </p:nvSpPr>
        <p:spPr>
          <a:xfrm>
            <a:off x="1955800" y="812800"/>
            <a:ext cx="127000" cy="127000"/>
          </a:xfrm>
          <a:prstGeom prst="roundRect">
            <a:avLst>
              <a:gd name="adj" fmla="val 50000"/>
            </a:avLst>
          </a:prstGeom>
          <a:solidFill>
            <a:srgbClr val="D9D9D9"/>
          </a:solidFill>
          <a:ln/>
        </p:spPr>
      </p:sp>
      <p:sp>
        <p:nvSpPr>
          <p:cNvPr id="7" name="Shape 5"/>
          <p:cNvSpPr/>
          <p:nvPr/>
        </p:nvSpPr>
        <p:spPr>
          <a:xfrm>
            <a:off x="2159000" y="812800"/>
            <a:ext cx="127000" cy="127000"/>
          </a:xfrm>
          <a:prstGeom prst="roundRect">
            <a:avLst>
              <a:gd name="adj" fmla="val 50000"/>
            </a:avLst>
          </a:prstGeom>
          <a:solidFill>
            <a:srgbClr val="D9D9D9"/>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03</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Why LLMs fit software</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Code is plentiful, structured, explicit, and checkable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03 · WHY LLMS FIT SOFTWARE</a:t>
            </a:r>
            <a:endParaRPr lang="en-US" sz="1200" dirty="0"/>
          </a:p>
        </p:txBody>
      </p:sp>
      <p:sp>
        <p:nvSpPr>
          <p:cNvPr id="3" name="Text 1"/>
          <p:cNvSpPr/>
          <p:nvPr>
            <p:ph type="title"/>
          </p:nvPr>
        </p:nvSpPr>
        <p:spPr>
          <a:xfrm>
            <a:off x="812800" y="1229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Code is close to an ideal domain for language models</a:t>
            </a:r>
            <a:endParaRPr lang="en-US" sz="3200" dirty="0"/>
          </a:p>
        </p:txBody>
      </p:sp>
      <p:sp>
        <p:nvSpPr>
          <p:cNvPr id="4" name="Shape 2"/>
          <p:cNvSpPr/>
          <p:nvPr/>
        </p:nvSpPr>
        <p:spPr>
          <a:xfrm>
            <a:off x="815975" y="1882676"/>
            <a:ext cx="5200650" cy="1898650"/>
          </a:xfrm>
          <a:prstGeom prst="roundRect">
            <a:avLst>
              <a:gd name="adj" fmla="val 5184"/>
            </a:avLst>
          </a:prstGeom>
          <a:solidFill>
            <a:srgbClr val="FBFBFC"/>
          </a:solidFill>
          <a:ln w="6350">
            <a:solidFill>
              <a:srgbClr val="D9D9D9"/>
            </a:solidFill>
            <a:prstDash val="solid"/>
          </a:ln>
        </p:spPr>
      </p:sp>
      <p:pic>
        <p:nvPicPr>
          <p:cNvPr id="5" name="Image 0" descr="Database">    </p:cNvPr>
          <p:cNvPicPr>
            <a:picLocks noChangeAspect="1"/>
          </p:cNvPicPr>
          <p:nvPr/>
        </p:nvPicPr>
        <p:blipFill>
          <a:blip r:embed="rId1"/>
          <a:srcRect l="0" r="0" t="0" b="0"/>
          <a:stretch/>
        </p:blipFill>
        <p:spPr>
          <a:xfrm>
            <a:off x="1022350" y="2628801"/>
            <a:ext cx="406400" cy="406400"/>
          </a:xfrm>
          <a:prstGeom prst="rect">
            <a:avLst/>
          </a:prstGeom>
        </p:spPr>
      </p:pic>
      <p:sp>
        <p:nvSpPr>
          <p:cNvPr id="6" name="Text 3"/>
          <p:cNvSpPr/>
          <p:nvPr/>
        </p:nvSpPr>
        <p:spPr>
          <a:xfrm>
            <a:off x="1606550" y="2420640"/>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Huge public corpus</a:t>
            </a:r>
            <a:endParaRPr lang="en-US" sz="1800" dirty="0"/>
          </a:p>
        </p:txBody>
      </p:sp>
      <p:sp>
        <p:nvSpPr>
          <p:cNvPr id="7" name="Text 4"/>
          <p:cNvSpPr/>
          <p:nvPr/>
        </p:nvSpPr>
        <p:spPr>
          <a:xfrm>
            <a:off x="1606550" y="2745680"/>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The Stack v2 dataset alone spans 600+ programming languages.</a:t>
            </a:r>
            <a:endParaRPr lang="en-US" sz="1400" dirty="0"/>
          </a:p>
        </p:txBody>
      </p:sp>
      <p:sp>
        <p:nvSpPr>
          <p:cNvPr id="8" name="Shape 5"/>
          <p:cNvSpPr/>
          <p:nvPr/>
        </p:nvSpPr>
        <p:spPr>
          <a:xfrm>
            <a:off x="6175375" y="1882676"/>
            <a:ext cx="5200650" cy="1898650"/>
          </a:xfrm>
          <a:prstGeom prst="roundRect">
            <a:avLst>
              <a:gd name="adj" fmla="val 5184"/>
            </a:avLst>
          </a:prstGeom>
          <a:solidFill>
            <a:srgbClr val="FBFBFC"/>
          </a:solidFill>
          <a:ln w="6350">
            <a:solidFill>
              <a:srgbClr val="D9D9D9"/>
            </a:solidFill>
            <a:prstDash val="solid"/>
          </a:ln>
        </p:spPr>
      </p:sp>
      <p:pic>
        <p:nvPicPr>
          <p:cNvPr id="9" name="Image 1" descr="Code">    </p:cNvPr>
          <p:cNvPicPr>
            <a:picLocks noChangeAspect="1"/>
          </p:cNvPicPr>
          <p:nvPr/>
        </p:nvPicPr>
        <p:blipFill>
          <a:blip r:embed="rId2"/>
          <a:srcRect l="0" r="0" t="0" b="0"/>
          <a:stretch/>
        </p:blipFill>
        <p:spPr>
          <a:xfrm>
            <a:off x="6381750" y="2628801"/>
            <a:ext cx="406400" cy="406400"/>
          </a:xfrm>
          <a:prstGeom prst="rect">
            <a:avLst/>
          </a:prstGeom>
        </p:spPr>
      </p:pic>
      <p:sp>
        <p:nvSpPr>
          <p:cNvPr id="10" name="Text 6"/>
          <p:cNvSpPr/>
          <p:nvPr/>
        </p:nvSpPr>
        <p:spPr>
          <a:xfrm>
            <a:off x="6965950" y="2420640"/>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Strict structure</a:t>
            </a:r>
            <a:endParaRPr lang="en-US" sz="1800" dirty="0"/>
          </a:p>
        </p:txBody>
      </p:sp>
      <p:sp>
        <p:nvSpPr>
          <p:cNvPr id="11" name="Text 7"/>
          <p:cNvSpPr/>
          <p:nvPr/>
        </p:nvSpPr>
        <p:spPr>
          <a:xfrm>
            <a:off x="6965950" y="2745680"/>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Formal grammars and repeated idioms are very learnable.</a:t>
            </a:r>
            <a:endParaRPr lang="en-US" sz="1400" dirty="0"/>
          </a:p>
        </p:txBody>
      </p:sp>
      <p:sp>
        <p:nvSpPr>
          <p:cNvPr id="12" name="Shape 8"/>
          <p:cNvSpPr/>
          <p:nvPr/>
        </p:nvSpPr>
        <p:spPr>
          <a:xfrm>
            <a:off x="815975" y="3940076"/>
            <a:ext cx="5200650" cy="1898749"/>
          </a:xfrm>
          <a:prstGeom prst="roundRect">
            <a:avLst>
              <a:gd name="adj" fmla="val 5184"/>
            </a:avLst>
          </a:prstGeom>
          <a:solidFill>
            <a:srgbClr val="FBFBFC"/>
          </a:solidFill>
          <a:ln w="6350">
            <a:solidFill>
              <a:srgbClr val="D9D9D9"/>
            </a:solidFill>
            <a:prstDash val="solid"/>
          </a:ln>
        </p:spPr>
      </p:sp>
      <p:pic>
        <p:nvPicPr>
          <p:cNvPr id="13" name="Image 2" descr="Search">    </p:cNvPr>
          <p:cNvPicPr>
            <a:picLocks noChangeAspect="1"/>
          </p:cNvPicPr>
          <p:nvPr/>
        </p:nvPicPr>
        <p:blipFill>
          <a:blip r:embed="rId3"/>
          <a:srcRect l="0" r="0" t="0" b="0"/>
          <a:stretch/>
        </p:blipFill>
        <p:spPr>
          <a:xfrm>
            <a:off x="1022350" y="4686201"/>
            <a:ext cx="406400" cy="406400"/>
          </a:xfrm>
          <a:prstGeom prst="rect">
            <a:avLst/>
          </a:prstGeom>
        </p:spPr>
      </p:pic>
      <p:sp>
        <p:nvSpPr>
          <p:cNvPr id="14" name="Text 9"/>
          <p:cNvSpPr/>
          <p:nvPr/>
        </p:nvSpPr>
        <p:spPr>
          <a:xfrm>
            <a:off x="1606550" y="4478040"/>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Explicit meaning</a:t>
            </a:r>
            <a:endParaRPr lang="en-US" sz="1800" dirty="0"/>
          </a:p>
        </p:txBody>
      </p:sp>
      <p:sp>
        <p:nvSpPr>
          <p:cNvPr id="15" name="Text 10"/>
          <p:cNvSpPr/>
          <p:nvPr/>
        </p:nvSpPr>
        <p:spPr>
          <a:xfrm>
            <a:off x="1606550" y="4803080"/>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Behavior is written down, not implied by tone or culture.</a:t>
            </a:r>
            <a:endParaRPr lang="en-US" sz="1400" dirty="0"/>
          </a:p>
        </p:txBody>
      </p:sp>
      <p:sp>
        <p:nvSpPr>
          <p:cNvPr id="16" name="Shape 11"/>
          <p:cNvSpPr/>
          <p:nvPr/>
        </p:nvSpPr>
        <p:spPr>
          <a:xfrm>
            <a:off x="6175375" y="3940076"/>
            <a:ext cx="5200650" cy="1898749"/>
          </a:xfrm>
          <a:prstGeom prst="roundRect">
            <a:avLst>
              <a:gd name="adj" fmla="val 5184"/>
            </a:avLst>
          </a:prstGeom>
          <a:solidFill>
            <a:srgbClr val="FBFBFC"/>
          </a:solidFill>
          <a:ln w="6350">
            <a:solidFill>
              <a:srgbClr val="D9D9D9"/>
            </a:solidFill>
            <a:prstDash val="solid"/>
          </a:ln>
        </p:spPr>
      </p:sp>
      <p:pic>
        <p:nvPicPr>
          <p:cNvPr id="17" name="Image 3" descr="CheckCircle">    </p:cNvPr>
          <p:cNvPicPr>
            <a:picLocks noChangeAspect="1"/>
          </p:cNvPicPr>
          <p:nvPr/>
        </p:nvPicPr>
        <p:blipFill>
          <a:blip r:embed="rId4"/>
          <a:srcRect l="0" r="0" t="0" b="0"/>
          <a:stretch/>
        </p:blipFill>
        <p:spPr>
          <a:xfrm>
            <a:off x="6381750" y="4686201"/>
            <a:ext cx="406400" cy="406400"/>
          </a:xfrm>
          <a:prstGeom prst="rect">
            <a:avLst/>
          </a:prstGeom>
        </p:spPr>
      </p:pic>
      <p:sp>
        <p:nvSpPr>
          <p:cNvPr id="18" name="Text 12"/>
          <p:cNvSpPr/>
          <p:nvPr/>
        </p:nvSpPr>
        <p:spPr>
          <a:xfrm>
            <a:off x="6965950" y="4478040"/>
            <a:ext cx="432981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Machine-checkable</a:t>
            </a:r>
            <a:endParaRPr lang="en-US" sz="1800" dirty="0"/>
          </a:p>
        </p:txBody>
      </p:sp>
      <p:sp>
        <p:nvSpPr>
          <p:cNvPr id="19" name="Text 13"/>
          <p:cNvSpPr/>
          <p:nvPr/>
        </p:nvSpPr>
        <p:spPr>
          <a:xfrm>
            <a:off x="6965950" y="4803080"/>
            <a:ext cx="432981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Compilers and tests say right or wrong, automatically.</a:t>
            </a:r>
            <a:endParaRPr lang="en-US" sz="14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Lozhkov et al., “StarCoder 2 and The Stack v2,” 2024 (arXiv:2402.19173)</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03 · WHY LLMS FIT SOFTWARE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Checkable answers let models practice</a:t>
            </a:r>
            <a:endParaRPr lang="en-US" sz="3200" dirty="0"/>
          </a:p>
        </p:txBody>
      </p:sp>
      <p:sp>
        <p:nvSpPr>
          <p:cNvPr id="4" name="Shape 2"/>
          <p:cNvSpPr/>
          <p:nvPr/>
        </p:nvSpPr>
        <p:spPr>
          <a:xfrm>
            <a:off x="819150" y="1885851"/>
            <a:ext cx="2781300" cy="1066800"/>
          </a:xfrm>
          <a:prstGeom prst="roundRect">
            <a:avLst>
              <a:gd name="adj" fmla="val 8929"/>
            </a:avLst>
          </a:prstGeom>
          <a:solidFill>
            <a:srgbClr val="FBFBFC"/>
          </a:solidFill>
          <a:ln w="12700">
            <a:solidFill>
              <a:srgbClr val="D9D9D9"/>
            </a:solidFill>
            <a:prstDash val="solid"/>
          </a:ln>
        </p:spPr>
      </p:sp>
      <p:sp>
        <p:nvSpPr>
          <p:cNvPr id="5" name="Text 3"/>
          <p:cNvSpPr/>
          <p:nvPr/>
        </p:nvSpPr>
        <p:spPr>
          <a:xfrm>
            <a:off x="977900" y="20446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1 · Write</a:t>
            </a:r>
            <a:endParaRPr lang="en-US" sz="1400" dirty="0"/>
          </a:p>
        </p:txBody>
      </p:sp>
      <p:sp>
        <p:nvSpPr>
          <p:cNvPr id="6" name="Text 4"/>
          <p:cNvSpPr/>
          <p:nvPr/>
        </p:nvSpPr>
        <p:spPr>
          <a:xfrm>
            <a:off x="977900" y="23087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candidate code for a problem</a:t>
            </a:r>
            <a:endParaRPr lang="en-US" sz="1200" dirty="0"/>
          </a:p>
        </p:txBody>
      </p:sp>
      <p:sp>
        <p:nvSpPr>
          <p:cNvPr id="7" name="Shape 5"/>
          <p:cNvSpPr/>
          <p:nvPr/>
        </p:nvSpPr>
        <p:spPr>
          <a:xfrm>
            <a:off x="8591550" y="1885851"/>
            <a:ext cx="2781300" cy="1066800"/>
          </a:xfrm>
          <a:prstGeom prst="roundRect">
            <a:avLst>
              <a:gd name="adj" fmla="val 8929"/>
            </a:avLst>
          </a:prstGeom>
          <a:solidFill>
            <a:srgbClr val="FBFBFC"/>
          </a:solidFill>
          <a:ln w="12700">
            <a:solidFill>
              <a:srgbClr val="D9D9D9"/>
            </a:solidFill>
            <a:prstDash val="solid"/>
          </a:ln>
        </p:spPr>
      </p:sp>
      <p:sp>
        <p:nvSpPr>
          <p:cNvPr id="8" name="Text 6"/>
          <p:cNvSpPr/>
          <p:nvPr/>
        </p:nvSpPr>
        <p:spPr>
          <a:xfrm>
            <a:off x="8750300" y="20446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2 · Run</a:t>
            </a:r>
            <a:endParaRPr lang="en-US" sz="1400" dirty="0"/>
          </a:p>
        </p:txBody>
      </p:sp>
      <p:sp>
        <p:nvSpPr>
          <p:cNvPr id="9" name="Text 7"/>
          <p:cNvSpPr/>
          <p:nvPr/>
        </p:nvSpPr>
        <p:spPr>
          <a:xfrm>
            <a:off x="8750300" y="23087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the compiler and unit tests</a:t>
            </a:r>
            <a:endParaRPr lang="en-US" sz="1200" dirty="0"/>
          </a:p>
        </p:txBody>
      </p:sp>
      <p:sp>
        <p:nvSpPr>
          <p:cNvPr id="10" name="Shape 8"/>
          <p:cNvSpPr/>
          <p:nvPr/>
        </p:nvSpPr>
        <p:spPr>
          <a:xfrm>
            <a:off x="8591550" y="4108351"/>
            <a:ext cx="2781300" cy="1066800"/>
          </a:xfrm>
          <a:prstGeom prst="roundRect">
            <a:avLst>
              <a:gd name="adj" fmla="val 8929"/>
            </a:avLst>
          </a:prstGeom>
          <a:solidFill>
            <a:srgbClr val="FBFBFC"/>
          </a:solidFill>
          <a:ln w="12700">
            <a:solidFill>
              <a:srgbClr val="D9D9D9"/>
            </a:solidFill>
            <a:prstDash val="solid"/>
          </a:ln>
        </p:spPr>
      </p:sp>
      <p:sp>
        <p:nvSpPr>
          <p:cNvPr id="11" name="Text 9"/>
          <p:cNvSpPr/>
          <p:nvPr/>
        </p:nvSpPr>
        <p:spPr>
          <a:xfrm>
            <a:off x="8750300" y="42671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3 · Score</a:t>
            </a:r>
            <a:endParaRPr lang="en-US" sz="1400" dirty="0"/>
          </a:p>
        </p:txBody>
      </p:sp>
      <p:sp>
        <p:nvSpPr>
          <p:cNvPr id="12" name="Text 10"/>
          <p:cNvSpPr/>
          <p:nvPr/>
        </p:nvSpPr>
        <p:spPr>
          <a:xfrm>
            <a:off x="8750300" y="45312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pass or fail becomes the reward</a:t>
            </a:r>
            <a:endParaRPr lang="en-US" sz="1200" dirty="0"/>
          </a:p>
        </p:txBody>
      </p:sp>
      <p:sp>
        <p:nvSpPr>
          <p:cNvPr id="13" name="Shape 11"/>
          <p:cNvSpPr/>
          <p:nvPr/>
        </p:nvSpPr>
        <p:spPr>
          <a:xfrm>
            <a:off x="819150" y="4108351"/>
            <a:ext cx="2781300" cy="1066800"/>
          </a:xfrm>
          <a:prstGeom prst="roundRect">
            <a:avLst>
              <a:gd name="adj" fmla="val 8929"/>
            </a:avLst>
          </a:prstGeom>
          <a:solidFill>
            <a:srgbClr val="FBFBFC"/>
          </a:solidFill>
          <a:ln w="12700">
            <a:solidFill>
              <a:srgbClr val="D9D9D9"/>
            </a:solidFill>
            <a:prstDash val="solid"/>
          </a:ln>
        </p:spPr>
      </p:sp>
      <p:sp>
        <p:nvSpPr>
          <p:cNvPr id="14" name="Text 12"/>
          <p:cNvSpPr/>
          <p:nvPr/>
        </p:nvSpPr>
        <p:spPr>
          <a:xfrm>
            <a:off x="977900" y="42671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4 · Update</a:t>
            </a:r>
            <a:endParaRPr lang="en-US" sz="1400" dirty="0"/>
          </a:p>
        </p:txBody>
      </p:sp>
      <p:sp>
        <p:nvSpPr>
          <p:cNvPr id="15" name="Text 13"/>
          <p:cNvSpPr/>
          <p:nvPr/>
        </p:nvSpPr>
        <p:spPr>
          <a:xfrm>
            <a:off x="977900" y="45312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reinforce what passed</a:t>
            </a:r>
            <a:endParaRPr lang="en-US" sz="1200" dirty="0"/>
          </a:p>
        </p:txBody>
      </p:sp>
      <p:pic>
        <p:nvPicPr>
          <p:cNvPr id="16" name="Image 0" descr="connector">    </p:cNvPr>
          <p:cNvPicPr>
            <a:picLocks noChangeAspect="1"/>
          </p:cNvPicPr>
          <p:nvPr/>
        </p:nvPicPr>
        <p:blipFill>
          <a:blip r:embed="rId1"/>
          <a:srcRect l="0" r="0" t="0" b="0"/>
          <a:stretch/>
        </p:blipFill>
        <p:spPr>
          <a:xfrm>
            <a:off x="3543300" y="2355751"/>
            <a:ext cx="5105400" cy="127000"/>
          </a:xfrm>
          <a:prstGeom prst="rect">
            <a:avLst/>
          </a:prstGeom>
        </p:spPr>
      </p:pic>
      <p:pic>
        <p:nvPicPr>
          <p:cNvPr id="17" name="Image 1" descr="connector">    </p:cNvPr>
          <p:cNvPicPr>
            <a:picLocks noChangeAspect="1"/>
          </p:cNvPicPr>
          <p:nvPr/>
        </p:nvPicPr>
        <p:blipFill>
          <a:blip r:embed="rId2"/>
          <a:srcRect l="0" r="0" t="0" b="0"/>
          <a:stretch/>
        </p:blipFill>
        <p:spPr>
          <a:xfrm>
            <a:off x="9918700" y="2895501"/>
            <a:ext cx="127000" cy="1270000"/>
          </a:xfrm>
          <a:prstGeom prst="rect">
            <a:avLst/>
          </a:prstGeom>
        </p:spPr>
      </p:pic>
      <p:pic>
        <p:nvPicPr>
          <p:cNvPr id="18" name="Image 2" descr="connector">    </p:cNvPr>
          <p:cNvPicPr>
            <a:picLocks noChangeAspect="1"/>
          </p:cNvPicPr>
          <p:nvPr/>
        </p:nvPicPr>
        <p:blipFill>
          <a:blip r:embed="rId3"/>
          <a:srcRect l="0" r="0" t="0" b="0"/>
          <a:stretch/>
        </p:blipFill>
        <p:spPr>
          <a:xfrm>
            <a:off x="3543300" y="4578251"/>
            <a:ext cx="5105400" cy="127000"/>
          </a:xfrm>
          <a:prstGeom prst="rect">
            <a:avLst/>
          </a:prstGeom>
        </p:spPr>
      </p:pic>
      <p:pic>
        <p:nvPicPr>
          <p:cNvPr id="19" name="Image 3" descr="connector">    </p:cNvPr>
          <p:cNvPicPr>
            <a:picLocks noChangeAspect="1"/>
          </p:cNvPicPr>
          <p:nvPr/>
        </p:nvPicPr>
        <p:blipFill>
          <a:blip r:embed="rId4"/>
          <a:srcRect l="0" r="0" t="0" b="0"/>
          <a:stretch/>
        </p:blipFill>
        <p:spPr>
          <a:xfrm>
            <a:off x="2146300" y="2895501"/>
            <a:ext cx="127000" cy="1270000"/>
          </a:xfrm>
          <a:prstGeom prst="rect">
            <a:avLst/>
          </a:prstGeom>
        </p:spPr>
      </p:pic>
      <p:sp>
        <p:nvSpPr>
          <p:cNvPr id="20" name="Text 14"/>
          <p:cNvSpPr/>
          <p:nvPr/>
        </p:nvSpPr>
        <p:spPr>
          <a:xfrm>
            <a:off x="3793744" y="3124101"/>
            <a:ext cx="4604512" cy="619720"/>
          </a:xfrm>
          <a:prstGeom prst="rect">
            <a:avLst/>
          </a:prstGeom>
          <a:noFill/>
          <a:ln/>
        </p:spPr>
        <p:txBody>
          <a:bodyPr wrap="square" lIns="0" tIns="0" rIns="0" bIns="0" rtlCol="0" anchor="t">
            <a:normAutofit/>
          </a:bodyPr>
          <a:lstStyle/>
          <a:p>
            <a:pPr algn="ctr" indent="0" marL="0">
              <a:lnSpc>
                <a:spcPts val="2340"/>
              </a:lnSpc>
              <a:buNone/>
            </a:pPr>
            <a:r>
              <a:rPr lang="en-US" sz="1800" b="1" dirty="0">
                <a:solidFill>
                  <a:srgbClr val="1E1E1E"/>
                </a:solidFill>
                <a:latin typeface="Space Grotesk" pitchFamily="34" charset="0"/>
                <a:ea typeface="Space Grotesk" pitchFamily="34" charset="-122"/>
                <a:cs typeface="Space Grotesk" pitchFamily="34" charset="-120"/>
              </a:rPr>
              <a:t>Reinforcement learning with verifiable rewards</a:t>
            </a:r>
            <a:endParaRPr lang="en-US" sz="1800" dirty="0"/>
          </a:p>
        </p:txBody>
      </p:sp>
      <p:sp>
        <p:nvSpPr>
          <p:cNvPr id="21" name="Text 15"/>
          <p:cNvSpPr/>
          <p:nvPr/>
        </p:nvSpPr>
        <p:spPr>
          <a:xfrm>
            <a:off x="3793744" y="3784501"/>
            <a:ext cx="46045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The same loop works at runtime: agents run your build</a:t>
            </a:r>
            <a:endParaRPr lang="en-US" sz="12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DeepSeek-R1, Nature 2025 (compiler/test rewards); Jimenez et al., SWE-bench, ICLR 2024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457200" cy="127000"/>
          </a:xfrm>
          <a:prstGeom prst="roundRect">
            <a:avLst>
              <a:gd name="adj" fmla="val 50000"/>
            </a:avLst>
          </a:prstGeom>
          <a:solidFill>
            <a:srgbClr val="00AEEF"/>
          </a:solidFill>
          <a:ln/>
        </p:spPr>
      </p:sp>
      <p:sp>
        <p:nvSpPr>
          <p:cNvPr id="6" name="Shape 4"/>
          <p:cNvSpPr/>
          <p:nvPr/>
        </p:nvSpPr>
        <p:spPr>
          <a:xfrm>
            <a:off x="1955800" y="812800"/>
            <a:ext cx="127000" cy="127000"/>
          </a:xfrm>
          <a:prstGeom prst="roundRect">
            <a:avLst>
              <a:gd name="adj" fmla="val 50000"/>
            </a:avLst>
          </a:prstGeom>
          <a:solidFill>
            <a:srgbClr val="D9D9D9"/>
          </a:solidFill>
          <a:ln/>
        </p:spPr>
      </p:sp>
      <p:sp>
        <p:nvSpPr>
          <p:cNvPr id="7" name="Shape 5"/>
          <p:cNvSpPr/>
          <p:nvPr/>
        </p:nvSpPr>
        <p:spPr>
          <a:xfrm>
            <a:off x="2159000" y="812800"/>
            <a:ext cx="127000" cy="127000"/>
          </a:xfrm>
          <a:prstGeom prst="roundRect">
            <a:avLst>
              <a:gd name="adj" fmla="val 50000"/>
            </a:avLst>
          </a:prstGeom>
          <a:solidFill>
            <a:srgbClr val="D9D9D9"/>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04</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From predictor to harness</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How a text predictor becomes an agent, and the software that makes it one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Four steps from autocomplete to agent</a:t>
            </a:r>
            <a:endParaRPr lang="en-US" sz="3200" dirty="0"/>
          </a:p>
        </p:txBody>
      </p:sp>
      <p:sp>
        <p:nvSpPr>
          <p:cNvPr id="4" name="Shape 2"/>
          <p:cNvSpPr/>
          <p:nvPr/>
        </p:nvSpPr>
        <p:spPr>
          <a:xfrm>
            <a:off x="815975" y="1882676"/>
            <a:ext cx="2292350" cy="3504109"/>
          </a:xfrm>
          <a:prstGeom prst="roundRect">
            <a:avLst>
              <a:gd name="adj" fmla="val 4294"/>
            </a:avLst>
          </a:prstGeom>
          <a:solidFill>
            <a:srgbClr val="FBFBFC"/>
          </a:solidFill>
          <a:ln w="6350">
            <a:solidFill>
              <a:srgbClr val="D9D9D9"/>
            </a:solidFill>
            <a:prstDash val="solid"/>
          </a:ln>
        </p:spPr>
      </p:sp>
      <p:sp>
        <p:nvSpPr>
          <p:cNvPr id="5" name="Shape 3"/>
          <p:cNvSpPr/>
          <p:nvPr/>
        </p:nvSpPr>
        <p:spPr>
          <a:xfrm>
            <a:off x="1022350" y="2089051"/>
            <a:ext cx="1879600" cy="63500"/>
          </a:xfrm>
          <a:prstGeom prst="roundRect">
            <a:avLst>
              <a:gd name="adj" fmla="val 50000"/>
            </a:avLst>
          </a:prstGeom>
          <a:solidFill>
            <a:srgbClr val="C4C4C4"/>
          </a:solidFill>
          <a:ln/>
        </p:spPr>
      </p:sp>
      <p:sp>
        <p:nvSpPr>
          <p:cNvPr id="6" name="Text 4"/>
          <p:cNvSpPr/>
          <p:nvPr/>
        </p:nvSpPr>
        <p:spPr>
          <a:xfrm>
            <a:off x="1022350" y="224145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A8A"/>
                </a:solidFill>
                <a:latin typeface="IBM Plex Sans" pitchFamily="34" charset="0"/>
                <a:ea typeface="IBM Plex Sans" pitchFamily="34" charset="-122"/>
                <a:cs typeface="IBM Plex Sans" pitchFamily="34" charset="-120"/>
              </a:rPr>
              <a:t>STEP 1</a:t>
            </a:r>
            <a:endParaRPr lang="en-US" sz="1200" dirty="0"/>
          </a:p>
        </p:txBody>
      </p:sp>
      <p:sp>
        <p:nvSpPr>
          <p:cNvPr id="7" name="Text 5"/>
          <p:cNvSpPr/>
          <p:nvPr/>
        </p:nvSpPr>
        <p:spPr>
          <a:xfrm>
            <a:off x="1022350" y="25436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Base model</a:t>
            </a:r>
            <a:endParaRPr lang="en-US" sz="1800" dirty="0"/>
          </a:p>
        </p:txBody>
      </p:sp>
      <p:sp>
        <p:nvSpPr>
          <p:cNvPr id="8" name="Text 6"/>
          <p:cNvSpPr/>
          <p:nvPr/>
        </p:nvSpPr>
        <p:spPr>
          <a:xfrm>
            <a:off x="1022350" y="2906812"/>
            <a:ext cx="193598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Pretrained to continue text. Knows a lot, follows nothing reliably.</a:t>
            </a:r>
            <a:endParaRPr lang="en-US" sz="1400" dirty="0"/>
          </a:p>
        </p:txBody>
      </p:sp>
      <p:sp>
        <p:nvSpPr>
          <p:cNvPr id="9" name="Text 7"/>
          <p:cNvSpPr/>
          <p:nvPr/>
        </p:nvSpPr>
        <p:spPr>
          <a:xfrm>
            <a:off x="1022350" y="4967089"/>
            <a:ext cx="19359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Next-token pretraining</a:t>
            </a:r>
            <a:endParaRPr lang="en-US" sz="1200" dirty="0"/>
          </a:p>
        </p:txBody>
      </p:sp>
      <p:pic>
        <p:nvPicPr>
          <p:cNvPr id="10" name="Image 0" descr="arrow-right">    </p:cNvPr>
          <p:cNvPicPr>
            <a:picLocks noChangeAspect="1"/>
          </p:cNvPicPr>
          <p:nvPr/>
        </p:nvPicPr>
        <p:blipFill>
          <a:blip r:embed="rId1"/>
          <a:srcRect l="0" r="0" t="0" b="0"/>
          <a:stretch/>
        </p:blipFill>
        <p:spPr>
          <a:xfrm>
            <a:off x="3213100" y="3558480"/>
            <a:ext cx="254000" cy="152400"/>
          </a:xfrm>
          <a:prstGeom prst="rect">
            <a:avLst/>
          </a:prstGeom>
        </p:spPr>
      </p:pic>
      <p:sp>
        <p:nvSpPr>
          <p:cNvPr id="11" name="Shape 8"/>
          <p:cNvSpPr/>
          <p:nvPr/>
        </p:nvSpPr>
        <p:spPr>
          <a:xfrm>
            <a:off x="3571875" y="1882676"/>
            <a:ext cx="2292350" cy="3504109"/>
          </a:xfrm>
          <a:prstGeom prst="roundRect">
            <a:avLst>
              <a:gd name="adj" fmla="val 4294"/>
            </a:avLst>
          </a:prstGeom>
          <a:solidFill>
            <a:srgbClr val="FBFBFC"/>
          </a:solidFill>
          <a:ln w="6350">
            <a:solidFill>
              <a:srgbClr val="D9D9D9"/>
            </a:solidFill>
            <a:prstDash val="solid"/>
          </a:ln>
        </p:spPr>
      </p:sp>
      <p:sp>
        <p:nvSpPr>
          <p:cNvPr id="12" name="Shape 9"/>
          <p:cNvSpPr/>
          <p:nvPr/>
        </p:nvSpPr>
        <p:spPr>
          <a:xfrm>
            <a:off x="3778250" y="2089051"/>
            <a:ext cx="1879600" cy="63500"/>
          </a:xfrm>
          <a:prstGeom prst="roundRect">
            <a:avLst>
              <a:gd name="adj" fmla="val 50000"/>
            </a:avLst>
          </a:prstGeom>
          <a:solidFill>
            <a:srgbClr val="9FD3EE"/>
          </a:solidFill>
          <a:ln/>
        </p:spPr>
      </p:sp>
      <p:sp>
        <p:nvSpPr>
          <p:cNvPr id="13" name="Text 10"/>
          <p:cNvSpPr/>
          <p:nvPr/>
        </p:nvSpPr>
        <p:spPr>
          <a:xfrm>
            <a:off x="3778250" y="224145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A8A"/>
                </a:solidFill>
                <a:latin typeface="IBM Plex Sans" pitchFamily="34" charset="0"/>
                <a:ea typeface="IBM Plex Sans" pitchFamily="34" charset="-122"/>
                <a:cs typeface="IBM Plex Sans" pitchFamily="34" charset="-120"/>
              </a:rPr>
              <a:t>STEP 2</a:t>
            </a:r>
            <a:endParaRPr lang="en-US" sz="1200" dirty="0"/>
          </a:p>
        </p:txBody>
      </p:sp>
      <p:sp>
        <p:nvSpPr>
          <p:cNvPr id="14" name="Text 11"/>
          <p:cNvSpPr/>
          <p:nvPr/>
        </p:nvSpPr>
        <p:spPr>
          <a:xfrm>
            <a:off x="3778250" y="25436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Assistant</a:t>
            </a:r>
            <a:endParaRPr lang="en-US" sz="1800" dirty="0"/>
          </a:p>
        </p:txBody>
      </p:sp>
      <p:sp>
        <p:nvSpPr>
          <p:cNvPr id="15" name="Text 12"/>
          <p:cNvSpPr/>
          <p:nvPr/>
        </p:nvSpPr>
        <p:spPr>
          <a:xfrm>
            <a:off x="3778250" y="2906812"/>
            <a:ext cx="193598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Fine-tuned with human feedback to follow instructions.</a:t>
            </a:r>
            <a:endParaRPr lang="en-US" sz="1400" dirty="0"/>
          </a:p>
        </p:txBody>
      </p:sp>
      <p:sp>
        <p:nvSpPr>
          <p:cNvPr id="16" name="Text 13"/>
          <p:cNvSpPr/>
          <p:nvPr/>
        </p:nvSpPr>
        <p:spPr>
          <a:xfrm>
            <a:off x="3778250" y="4967089"/>
            <a:ext cx="19359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InstructGPT, 2022</a:t>
            </a:r>
            <a:endParaRPr lang="en-US" sz="1200" dirty="0"/>
          </a:p>
        </p:txBody>
      </p:sp>
      <p:pic>
        <p:nvPicPr>
          <p:cNvPr id="17" name="Image 1" descr="arrow-right">    </p:cNvPr>
          <p:cNvPicPr>
            <a:picLocks noChangeAspect="1"/>
          </p:cNvPicPr>
          <p:nvPr/>
        </p:nvPicPr>
        <p:blipFill>
          <a:blip r:embed="rId2"/>
          <a:srcRect l="0" r="0" t="0" b="0"/>
          <a:stretch/>
        </p:blipFill>
        <p:spPr>
          <a:xfrm>
            <a:off x="5969000" y="3558480"/>
            <a:ext cx="254000" cy="152400"/>
          </a:xfrm>
          <a:prstGeom prst="rect">
            <a:avLst/>
          </a:prstGeom>
        </p:spPr>
      </p:pic>
      <p:sp>
        <p:nvSpPr>
          <p:cNvPr id="18" name="Shape 14"/>
          <p:cNvSpPr/>
          <p:nvPr/>
        </p:nvSpPr>
        <p:spPr>
          <a:xfrm>
            <a:off x="6327775" y="1882676"/>
            <a:ext cx="2292350" cy="3504109"/>
          </a:xfrm>
          <a:prstGeom prst="roundRect">
            <a:avLst>
              <a:gd name="adj" fmla="val 4294"/>
            </a:avLst>
          </a:prstGeom>
          <a:solidFill>
            <a:srgbClr val="FBFBFC"/>
          </a:solidFill>
          <a:ln w="6350">
            <a:solidFill>
              <a:srgbClr val="D9D9D9"/>
            </a:solidFill>
            <a:prstDash val="solid"/>
          </a:ln>
        </p:spPr>
      </p:sp>
      <p:sp>
        <p:nvSpPr>
          <p:cNvPr id="19" name="Shape 15"/>
          <p:cNvSpPr/>
          <p:nvPr/>
        </p:nvSpPr>
        <p:spPr>
          <a:xfrm>
            <a:off x="6534150" y="2089051"/>
            <a:ext cx="1879600" cy="63500"/>
          </a:xfrm>
          <a:prstGeom prst="roundRect">
            <a:avLst>
              <a:gd name="adj" fmla="val 50000"/>
            </a:avLst>
          </a:prstGeom>
          <a:solidFill>
            <a:srgbClr val="5FC3F2"/>
          </a:solidFill>
          <a:ln/>
        </p:spPr>
      </p:sp>
      <p:sp>
        <p:nvSpPr>
          <p:cNvPr id="20" name="Text 16"/>
          <p:cNvSpPr/>
          <p:nvPr/>
        </p:nvSpPr>
        <p:spPr>
          <a:xfrm>
            <a:off x="6534150" y="224145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A8A"/>
                </a:solidFill>
                <a:latin typeface="IBM Plex Sans" pitchFamily="34" charset="0"/>
                <a:ea typeface="IBM Plex Sans" pitchFamily="34" charset="-122"/>
                <a:cs typeface="IBM Plex Sans" pitchFamily="34" charset="-120"/>
              </a:rPr>
              <a:t>STEP 3</a:t>
            </a:r>
            <a:endParaRPr lang="en-US" sz="1200" dirty="0"/>
          </a:p>
        </p:txBody>
      </p:sp>
      <p:sp>
        <p:nvSpPr>
          <p:cNvPr id="21" name="Text 17"/>
          <p:cNvSpPr/>
          <p:nvPr/>
        </p:nvSpPr>
        <p:spPr>
          <a:xfrm>
            <a:off x="6534150" y="25436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Tool user</a:t>
            </a:r>
            <a:endParaRPr lang="en-US" sz="1800" dirty="0"/>
          </a:p>
        </p:txBody>
      </p:sp>
      <p:sp>
        <p:nvSpPr>
          <p:cNvPr id="22" name="Text 18"/>
          <p:cNvSpPr/>
          <p:nvPr/>
        </p:nvSpPr>
        <p:spPr>
          <a:xfrm>
            <a:off x="6534150" y="2906812"/>
            <a:ext cx="1935988"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Emits structured calls (read a file, run a command) and reads results.</a:t>
            </a:r>
            <a:endParaRPr lang="en-US" sz="1400" dirty="0"/>
          </a:p>
        </p:txBody>
      </p:sp>
      <p:sp>
        <p:nvSpPr>
          <p:cNvPr id="23" name="Text 19"/>
          <p:cNvSpPr/>
          <p:nvPr/>
        </p:nvSpPr>
        <p:spPr>
          <a:xfrm>
            <a:off x="6534150" y="4753769"/>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ReAct 2022 · Toolformer 2023</a:t>
            </a:r>
            <a:endParaRPr lang="en-US" sz="1200" dirty="0"/>
          </a:p>
        </p:txBody>
      </p:sp>
      <p:pic>
        <p:nvPicPr>
          <p:cNvPr id="24" name="Image 2" descr="arrow-right">    </p:cNvPr>
          <p:cNvPicPr>
            <a:picLocks noChangeAspect="1"/>
          </p:cNvPicPr>
          <p:nvPr/>
        </p:nvPicPr>
        <p:blipFill>
          <a:blip r:embed="rId3"/>
          <a:srcRect l="0" r="0" t="0" b="0"/>
          <a:stretch/>
        </p:blipFill>
        <p:spPr>
          <a:xfrm>
            <a:off x="8724900" y="3558480"/>
            <a:ext cx="254000" cy="152400"/>
          </a:xfrm>
          <a:prstGeom prst="rect">
            <a:avLst/>
          </a:prstGeom>
        </p:spPr>
      </p:pic>
      <p:sp>
        <p:nvSpPr>
          <p:cNvPr id="25" name="Shape 20"/>
          <p:cNvSpPr/>
          <p:nvPr/>
        </p:nvSpPr>
        <p:spPr>
          <a:xfrm>
            <a:off x="9083675" y="1882676"/>
            <a:ext cx="2292350" cy="3504109"/>
          </a:xfrm>
          <a:prstGeom prst="roundRect">
            <a:avLst>
              <a:gd name="adj" fmla="val 4294"/>
            </a:avLst>
          </a:prstGeom>
          <a:solidFill>
            <a:srgbClr val="FBFBFC"/>
          </a:solidFill>
          <a:ln w="6350">
            <a:solidFill>
              <a:srgbClr val="D9D9D9"/>
            </a:solidFill>
            <a:prstDash val="solid"/>
          </a:ln>
        </p:spPr>
      </p:sp>
      <p:sp>
        <p:nvSpPr>
          <p:cNvPr id="26" name="Shape 21"/>
          <p:cNvSpPr/>
          <p:nvPr/>
        </p:nvSpPr>
        <p:spPr>
          <a:xfrm>
            <a:off x="9290050" y="2089051"/>
            <a:ext cx="1879600" cy="63500"/>
          </a:xfrm>
          <a:prstGeom prst="roundRect">
            <a:avLst>
              <a:gd name="adj" fmla="val 50000"/>
            </a:avLst>
          </a:prstGeom>
          <a:solidFill>
            <a:srgbClr val="00AEEF"/>
          </a:solidFill>
          <a:ln/>
        </p:spPr>
      </p:sp>
      <p:sp>
        <p:nvSpPr>
          <p:cNvPr id="27" name="Text 22"/>
          <p:cNvSpPr/>
          <p:nvPr/>
        </p:nvSpPr>
        <p:spPr>
          <a:xfrm>
            <a:off x="9290050" y="2241451"/>
            <a:ext cx="19359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A8A"/>
                </a:solidFill>
                <a:latin typeface="IBM Plex Sans" pitchFamily="34" charset="0"/>
                <a:ea typeface="IBM Plex Sans" pitchFamily="34" charset="-122"/>
                <a:cs typeface="IBM Plex Sans" pitchFamily="34" charset="-120"/>
              </a:rPr>
              <a:t>STEP 4</a:t>
            </a:r>
            <a:endParaRPr lang="en-US" sz="1200" dirty="0"/>
          </a:p>
        </p:txBody>
      </p:sp>
      <p:sp>
        <p:nvSpPr>
          <p:cNvPr id="28" name="Text 23"/>
          <p:cNvSpPr/>
          <p:nvPr/>
        </p:nvSpPr>
        <p:spPr>
          <a:xfrm>
            <a:off x="9290050" y="2543671"/>
            <a:ext cx="193598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Agent harness</a:t>
            </a:r>
            <a:endParaRPr lang="en-US" sz="1800" dirty="0"/>
          </a:p>
        </p:txBody>
      </p:sp>
      <p:sp>
        <p:nvSpPr>
          <p:cNvPr id="29" name="Text 24"/>
          <p:cNvSpPr/>
          <p:nvPr/>
        </p:nvSpPr>
        <p:spPr>
          <a:xfrm>
            <a:off x="9290050" y="2906812"/>
            <a:ext cx="1935988"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Software runs the loop: tools, permissions, context, sub-agents.</a:t>
            </a:r>
            <a:endParaRPr lang="en-US" sz="1400" dirty="0"/>
          </a:p>
        </p:txBody>
      </p:sp>
      <p:sp>
        <p:nvSpPr>
          <p:cNvPr id="30" name="Text 25"/>
          <p:cNvSpPr/>
          <p:nvPr/>
        </p:nvSpPr>
        <p:spPr>
          <a:xfrm>
            <a:off x="9290050" y="4753769"/>
            <a:ext cx="19359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Copilot CLI, Visual Studio, OpenCode</a:t>
            </a:r>
            <a:endParaRPr lang="en-US" sz="1200" dirty="0"/>
          </a:p>
        </p:txBody>
      </p:sp>
      <p:sp>
        <p:nvSpPr>
          <p:cNvPr id="31" name="Text 26"/>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Steps 1–3 change the model.</a:t>
            </a:r>
            <a:r>
              <a:rPr lang="en-US" sz="1400" dirty="0">
                <a:solidFill>
                  <a:srgbClr val="1E1E1E"/>
                </a:solidFill>
                <a:latin typeface="IBM Plex Sans" pitchFamily="34" charset="0"/>
                <a:ea typeface="IBM Plex Sans" pitchFamily="34" charset="-122"/>
                <a:cs typeface="IBM Plex Sans" pitchFamily="34" charset="-120"/>
              </a:rPr>
              <a:t> Step 4 is ordinary software wrapped around it — which is why the harness matters.</a:t>
            </a:r>
            <a:endParaRPr lang="en-US" sz="1400" dirty="0"/>
          </a:p>
        </p:txBody>
      </p:sp>
      <p:sp>
        <p:nvSpPr>
          <p:cNvPr id="32"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Ouyang et al., 2022 (InstructGPT); Yao et al., 2022 (ReAct); Schick et al., 2023 (Toolformer)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200" dirty="0"/>
          </a:p>
        </p:txBody>
      </p:sp>
      <p:sp>
        <p:nvSpPr>
          <p:cNvPr id="3" name="Text 1"/>
          <p:cNvSpPr/>
          <p:nvPr>
            <p:ph type="title"/>
          </p:nvPr>
        </p:nvSpPr>
        <p:spPr>
          <a:xfrm>
            <a:off x="812800" y="1203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The harness is the software wrapped around the model</a:t>
            </a:r>
            <a:endParaRPr lang="en-US" sz="3200" dirty="0"/>
          </a:p>
        </p:txBody>
      </p:sp>
      <p:sp>
        <p:nvSpPr>
          <p:cNvPr id="4" name="Text 2"/>
          <p:cNvSpPr/>
          <p:nvPr/>
        </p:nvSpPr>
        <p:spPr>
          <a:xfrm>
            <a:off x="812800" y="2275681"/>
            <a:ext cx="910729" cy="573980"/>
          </a:xfrm>
          <a:prstGeom prst="roundRect">
            <a:avLst>
              <a:gd name="adj" fmla="val 17701"/>
            </a:avLst>
          </a:prstGeom>
          <a:solidFill>
            <a:srgbClr val="DCEEF9"/>
          </a:solidFill>
          <a:ln/>
        </p:spPr>
        <p:txBody>
          <a:bodyPr wrap="none" lIns="0" tIns="0" rIns="0" bIns="0" rtlCol="0" anchor="ctr">
            <a:normAutofit/>
          </a:bodyPr>
          <a:lstStyle/>
          <a:p>
            <a:pPr algn="ctr" indent="0" marL="0">
              <a:lnSpc>
                <a:spcPts val="2520"/>
              </a:lnSpc>
              <a:buNone/>
            </a:pPr>
            <a:r>
              <a:rPr lang="en-US" sz="1800" b="1" dirty="0">
                <a:solidFill>
                  <a:srgbClr val="1E1E1E"/>
                </a:solidFill>
                <a:latin typeface="Space Grotesk" pitchFamily="34" charset="0"/>
                <a:ea typeface="Space Grotesk" pitchFamily="34" charset="-122"/>
                <a:cs typeface="Space Grotesk" pitchFamily="34" charset="-120"/>
              </a:rPr>
              <a:t>You</a:t>
            </a:r>
            <a:endParaRPr lang="en-US" sz="1800" dirty="0"/>
          </a:p>
        </p:txBody>
      </p:sp>
      <p:pic>
        <p:nvPicPr>
          <p:cNvPr id="5" name="Image 0" descr="arrow-right">    </p:cNvPr>
          <p:cNvPicPr>
            <a:picLocks noChangeAspect="1"/>
          </p:cNvPicPr>
          <p:nvPr/>
        </p:nvPicPr>
        <p:blipFill>
          <a:blip r:embed="rId1"/>
          <a:srcRect l="0" r="0" t="0" b="0"/>
          <a:stretch/>
        </p:blipFill>
        <p:spPr>
          <a:xfrm>
            <a:off x="1875929" y="2486422"/>
            <a:ext cx="254000" cy="152400"/>
          </a:xfrm>
          <a:prstGeom prst="rect">
            <a:avLst/>
          </a:prstGeom>
        </p:spPr>
      </p:pic>
      <p:sp>
        <p:nvSpPr>
          <p:cNvPr id="6" name="Text 3"/>
          <p:cNvSpPr/>
          <p:nvPr/>
        </p:nvSpPr>
        <p:spPr>
          <a:xfrm>
            <a:off x="2282329" y="2275681"/>
            <a:ext cx="1392734" cy="573980"/>
          </a:xfrm>
          <a:prstGeom prst="roundRect">
            <a:avLst>
              <a:gd name="adj" fmla="val 17701"/>
            </a:avLst>
          </a:prstGeom>
          <a:solidFill>
            <a:srgbClr val="00AEEF"/>
          </a:solidFill>
          <a:ln/>
        </p:spPr>
        <p:txBody>
          <a:bodyPr wrap="none" lIns="0" tIns="0" rIns="0" bIns="0" rtlCol="0" anchor="ctr">
            <a:normAutofit/>
          </a:bodyPr>
          <a:lstStyle/>
          <a:p>
            <a:pPr algn="ctr" indent="0" marL="0">
              <a:lnSpc>
                <a:spcPts val="2520"/>
              </a:lnSpc>
              <a:buNone/>
            </a:pPr>
            <a:r>
              <a:rPr lang="en-US" sz="1800" b="1" dirty="0">
                <a:solidFill>
                  <a:srgbClr val="1E1E1E"/>
                </a:solidFill>
                <a:latin typeface="Space Grotesk" pitchFamily="34" charset="0"/>
                <a:ea typeface="Space Grotesk" pitchFamily="34" charset="-122"/>
                <a:cs typeface="Space Grotesk" pitchFamily="34" charset="-120"/>
              </a:rPr>
              <a:t>Harness</a:t>
            </a:r>
            <a:endParaRPr lang="en-US" sz="1800" dirty="0"/>
          </a:p>
        </p:txBody>
      </p:sp>
      <p:pic>
        <p:nvPicPr>
          <p:cNvPr id="7" name="Image 1" descr="arrow-right">    </p:cNvPr>
          <p:cNvPicPr>
            <a:picLocks noChangeAspect="1"/>
          </p:cNvPicPr>
          <p:nvPr/>
        </p:nvPicPr>
        <p:blipFill>
          <a:blip r:embed="rId2"/>
          <a:srcRect l="0" r="0" t="0" b="0"/>
          <a:stretch/>
        </p:blipFill>
        <p:spPr>
          <a:xfrm>
            <a:off x="3827463" y="2486422"/>
            <a:ext cx="254000" cy="152400"/>
          </a:xfrm>
          <a:prstGeom prst="rect">
            <a:avLst/>
          </a:prstGeom>
        </p:spPr>
      </p:pic>
      <p:sp>
        <p:nvSpPr>
          <p:cNvPr id="8" name="Text 4"/>
          <p:cNvSpPr/>
          <p:nvPr/>
        </p:nvSpPr>
        <p:spPr>
          <a:xfrm>
            <a:off x="4233863" y="2275681"/>
            <a:ext cx="1187450" cy="573980"/>
          </a:xfrm>
          <a:prstGeom prst="roundRect">
            <a:avLst>
              <a:gd name="adj" fmla="val 17701"/>
            </a:avLst>
          </a:prstGeom>
          <a:solidFill>
            <a:srgbClr val="FBFBFC"/>
          </a:solidFill>
          <a:ln/>
        </p:spPr>
        <p:txBody>
          <a:bodyPr wrap="none" lIns="0" tIns="0" rIns="0" bIns="0" rtlCol="0" anchor="ctr">
            <a:normAutofit/>
          </a:bodyPr>
          <a:lstStyle/>
          <a:p>
            <a:pPr algn="ctr" indent="0" marL="0">
              <a:lnSpc>
                <a:spcPts val="2520"/>
              </a:lnSpc>
              <a:buNone/>
            </a:pPr>
            <a:r>
              <a:rPr lang="en-US" sz="1800" b="1" dirty="0">
                <a:solidFill>
                  <a:srgbClr val="1E1E1E"/>
                </a:solidFill>
                <a:latin typeface="Space Grotesk" pitchFamily="34" charset="0"/>
                <a:ea typeface="Space Grotesk" pitchFamily="34" charset="-122"/>
                <a:cs typeface="Space Grotesk" pitchFamily="34" charset="-120"/>
              </a:rPr>
              <a:t>Model</a:t>
            </a:r>
            <a:endParaRPr lang="en-US" sz="1800" dirty="0"/>
          </a:p>
        </p:txBody>
      </p:sp>
      <p:sp>
        <p:nvSpPr>
          <p:cNvPr id="9" name="Text 5"/>
          <p:cNvSpPr/>
          <p:nvPr/>
        </p:nvSpPr>
        <p:spPr>
          <a:xfrm>
            <a:off x="5573713" y="2322612"/>
            <a:ext cx="59796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The model only turns text into text. It can’t read files, run code, or remember.</a:t>
            </a:r>
            <a:endParaRPr lang="en-US" sz="1400" dirty="0"/>
          </a:p>
        </p:txBody>
      </p:sp>
      <p:sp>
        <p:nvSpPr>
          <p:cNvPr id="10" name="Shape 6"/>
          <p:cNvSpPr/>
          <p:nvPr/>
        </p:nvSpPr>
        <p:spPr>
          <a:xfrm>
            <a:off x="815975" y="3030637"/>
            <a:ext cx="3431084" cy="1337370"/>
          </a:xfrm>
          <a:prstGeom prst="roundRect">
            <a:avLst>
              <a:gd name="adj" fmla="val 7360"/>
            </a:avLst>
          </a:prstGeom>
          <a:solidFill>
            <a:srgbClr val="FBFBFC"/>
          </a:solidFill>
          <a:ln w="6350">
            <a:solidFill>
              <a:srgbClr val="D9D9D9"/>
            </a:solidFill>
            <a:prstDash val="solid"/>
          </a:ln>
        </p:spPr>
      </p:sp>
      <p:pic>
        <p:nvPicPr>
          <p:cNvPr id="11" name="Image 2" descr="Book">    </p:cNvPr>
          <p:cNvPicPr>
            <a:picLocks noChangeAspect="1"/>
          </p:cNvPicPr>
          <p:nvPr/>
        </p:nvPicPr>
        <p:blipFill>
          <a:blip r:embed="rId3"/>
          <a:srcRect l="0" r="0" t="0" b="0"/>
          <a:stretch/>
        </p:blipFill>
        <p:spPr>
          <a:xfrm>
            <a:off x="971550" y="3546872"/>
            <a:ext cx="304800" cy="304800"/>
          </a:xfrm>
          <a:prstGeom prst="rect">
            <a:avLst/>
          </a:prstGeom>
        </p:spPr>
      </p:pic>
      <p:sp>
        <p:nvSpPr>
          <p:cNvPr id="12" name="Text 7"/>
          <p:cNvSpPr/>
          <p:nvPr/>
        </p:nvSpPr>
        <p:spPr>
          <a:xfrm>
            <a:off x="1403350" y="3367881"/>
            <a:ext cx="27687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1 · Builds the input</a:t>
            </a:r>
            <a:endParaRPr lang="en-US" sz="1400" dirty="0"/>
          </a:p>
        </p:txBody>
      </p:sp>
      <p:sp>
        <p:nvSpPr>
          <p:cNvPr id="13" name="Text 8"/>
          <p:cNvSpPr/>
          <p:nvPr/>
        </p:nvSpPr>
        <p:spPr>
          <a:xfrm>
            <a:off x="1403350" y="3619302"/>
            <a:ext cx="276877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Assembles instructions, history, and files for every call</a:t>
            </a:r>
            <a:endParaRPr lang="en-US" sz="1200" dirty="0"/>
          </a:p>
        </p:txBody>
      </p:sp>
      <p:sp>
        <p:nvSpPr>
          <p:cNvPr id="14" name="Shape 9"/>
          <p:cNvSpPr/>
          <p:nvPr/>
        </p:nvSpPr>
        <p:spPr>
          <a:xfrm>
            <a:off x="4380409" y="3030637"/>
            <a:ext cx="3431084" cy="1337370"/>
          </a:xfrm>
          <a:prstGeom prst="roundRect">
            <a:avLst>
              <a:gd name="adj" fmla="val 7360"/>
            </a:avLst>
          </a:prstGeom>
          <a:solidFill>
            <a:srgbClr val="FBFBFC"/>
          </a:solidFill>
          <a:ln w="6350">
            <a:solidFill>
              <a:srgbClr val="D9D9D9"/>
            </a:solidFill>
            <a:prstDash val="solid"/>
          </a:ln>
        </p:spPr>
      </p:sp>
      <p:pic>
        <p:nvPicPr>
          <p:cNvPr id="15" name="Image 3" descr="Tool">    </p:cNvPr>
          <p:cNvPicPr>
            <a:picLocks noChangeAspect="1"/>
          </p:cNvPicPr>
          <p:nvPr/>
        </p:nvPicPr>
        <p:blipFill>
          <a:blip r:embed="rId4"/>
          <a:srcRect l="0" r="0" t="0" b="0"/>
          <a:stretch/>
        </p:blipFill>
        <p:spPr>
          <a:xfrm>
            <a:off x="4535984" y="3546872"/>
            <a:ext cx="304800" cy="304800"/>
          </a:xfrm>
          <a:prstGeom prst="rect">
            <a:avLst/>
          </a:prstGeom>
        </p:spPr>
      </p:pic>
      <p:sp>
        <p:nvSpPr>
          <p:cNvPr id="16" name="Text 10"/>
          <p:cNvSpPr/>
          <p:nvPr/>
        </p:nvSpPr>
        <p:spPr>
          <a:xfrm>
            <a:off x="4967784" y="3367881"/>
            <a:ext cx="27687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2 · Describes tools</a:t>
            </a:r>
            <a:endParaRPr lang="en-US" sz="1400" dirty="0"/>
          </a:p>
        </p:txBody>
      </p:sp>
      <p:sp>
        <p:nvSpPr>
          <p:cNvPr id="17" name="Text 11"/>
          <p:cNvSpPr/>
          <p:nvPr/>
        </p:nvSpPr>
        <p:spPr>
          <a:xfrm>
            <a:off x="4967784" y="3619302"/>
            <a:ext cx="276877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Tells the model what actions exist and how to ask</a:t>
            </a:r>
            <a:endParaRPr lang="en-US" sz="1200" dirty="0"/>
          </a:p>
        </p:txBody>
      </p:sp>
      <p:sp>
        <p:nvSpPr>
          <p:cNvPr id="18" name="Shape 12"/>
          <p:cNvSpPr/>
          <p:nvPr/>
        </p:nvSpPr>
        <p:spPr>
          <a:xfrm>
            <a:off x="7944842" y="3030637"/>
            <a:ext cx="3431183" cy="1337370"/>
          </a:xfrm>
          <a:prstGeom prst="roundRect">
            <a:avLst>
              <a:gd name="adj" fmla="val 7360"/>
            </a:avLst>
          </a:prstGeom>
          <a:solidFill>
            <a:srgbClr val="FBFBFC"/>
          </a:solidFill>
          <a:ln w="6350">
            <a:solidFill>
              <a:srgbClr val="D9D9D9"/>
            </a:solidFill>
            <a:prstDash val="solid"/>
          </a:ln>
        </p:spPr>
      </p:sp>
      <p:pic>
        <p:nvPicPr>
          <p:cNvPr id="19" name="Image 4" descr="Play">    </p:cNvPr>
          <p:cNvPicPr>
            <a:picLocks noChangeAspect="1"/>
          </p:cNvPicPr>
          <p:nvPr/>
        </p:nvPicPr>
        <p:blipFill>
          <a:blip r:embed="rId5"/>
          <a:srcRect l="0" r="0" t="0" b="0"/>
          <a:stretch/>
        </p:blipFill>
        <p:spPr>
          <a:xfrm>
            <a:off x="8100417" y="3546872"/>
            <a:ext cx="304800" cy="304800"/>
          </a:xfrm>
          <a:prstGeom prst="rect">
            <a:avLst/>
          </a:prstGeom>
        </p:spPr>
      </p:pic>
      <p:sp>
        <p:nvSpPr>
          <p:cNvPr id="20" name="Text 13"/>
          <p:cNvSpPr/>
          <p:nvPr/>
        </p:nvSpPr>
        <p:spPr>
          <a:xfrm>
            <a:off x="8532217" y="3367881"/>
            <a:ext cx="27688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3 · Runs tool calls</a:t>
            </a:r>
            <a:endParaRPr lang="en-US" sz="1400" dirty="0"/>
          </a:p>
        </p:txBody>
      </p:sp>
      <p:sp>
        <p:nvSpPr>
          <p:cNvPr id="21" name="Text 14"/>
          <p:cNvSpPr/>
          <p:nvPr/>
        </p:nvSpPr>
        <p:spPr>
          <a:xfrm>
            <a:off x="8532217" y="3619302"/>
            <a:ext cx="27688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Reads files, edits, runs commands when asked</a:t>
            </a:r>
            <a:endParaRPr lang="en-US" sz="1200" dirty="0"/>
          </a:p>
        </p:txBody>
      </p:sp>
      <p:sp>
        <p:nvSpPr>
          <p:cNvPr id="22" name="Shape 15"/>
          <p:cNvSpPr/>
          <p:nvPr/>
        </p:nvSpPr>
        <p:spPr>
          <a:xfrm>
            <a:off x="815975" y="4501356"/>
            <a:ext cx="3431084" cy="1337469"/>
          </a:xfrm>
          <a:prstGeom prst="roundRect">
            <a:avLst>
              <a:gd name="adj" fmla="val 7359"/>
            </a:avLst>
          </a:prstGeom>
          <a:solidFill>
            <a:srgbClr val="FBFBFC"/>
          </a:solidFill>
          <a:ln w="6350">
            <a:solidFill>
              <a:srgbClr val="D9D9D9"/>
            </a:solidFill>
            <a:prstDash val="solid"/>
          </a:ln>
        </p:spPr>
      </p:sp>
      <p:pic>
        <p:nvPicPr>
          <p:cNvPr id="23" name="Image 5" descr="Lock">    </p:cNvPr>
          <p:cNvPicPr>
            <a:picLocks noChangeAspect="1"/>
          </p:cNvPicPr>
          <p:nvPr/>
        </p:nvPicPr>
        <p:blipFill>
          <a:blip r:embed="rId6"/>
          <a:srcRect l="0" r="0" t="0" b="0"/>
          <a:stretch/>
        </p:blipFill>
        <p:spPr>
          <a:xfrm>
            <a:off x="971550" y="5017691"/>
            <a:ext cx="304800" cy="304800"/>
          </a:xfrm>
          <a:prstGeom prst="rect">
            <a:avLst/>
          </a:prstGeom>
        </p:spPr>
      </p:pic>
      <p:sp>
        <p:nvSpPr>
          <p:cNvPr id="24" name="Text 16"/>
          <p:cNvSpPr/>
          <p:nvPr/>
        </p:nvSpPr>
        <p:spPr>
          <a:xfrm>
            <a:off x="1403350" y="4838700"/>
            <a:ext cx="27687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4 · Enforces rules</a:t>
            </a:r>
            <a:endParaRPr lang="en-US" sz="1400" dirty="0"/>
          </a:p>
        </p:txBody>
      </p:sp>
      <p:sp>
        <p:nvSpPr>
          <p:cNvPr id="25" name="Text 17"/>
          <p:cNvSpPr/>
          <p:nvPr/>
        </p:nvSpPr>
        <p:spPr>
          <a:xfrm>
            <a:off x="1403350" y="5090120"/>
            <a:ext cx="276877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Permissions and hooks decide what may run</a:t>
            </a:r>
            <a:endParaRPr lang="en-US" sz="1200" dirty="0"/>
          </a:p>
        </p:txBody>
      </p:sp>
      <p:sp>
        <p:nvSpPr>
          <p:cNvPr id="26" name="Shape 18"/>
          <p:cNvSpPr/>
          <p:nvPr/>
        </p:nvSpPr>
        <p:spPr>
          <a:xfrm>
            <a:off x="4380409" y="4501356"/>
            <a:ext cx="3431084" cy="1337469"/>
          </a:xfrm>
          <a:prstGeom prst="roundRect">
            <a:avLst>
              <a:gd name="adj" fmla="val 7359"/>
            </a:avLst>
          </a:prstGeom>
          <a:solidFill>
            <a:srgbClr val="FBFBFC"/>
          </a:solidFill>
          <a:ln w="6350">
            <a:solidFill>
              <a:srgbClr val="D9D9D9"/>
            </a:solidFill>
            <a:prstDash val="solid"/>
          </a:ln>
        </p:spPr>
      </p:sp>
      <p:pic>
        <p:nvPicPr>
          <p:cNvPr id="27" name="Image 6" descr="Database">    </p:cNvPr>
          <p:cNvPicPr>
            <a:picLocks noChangeAspect="1"/>
          </p:cNvPicPr>
          <p:nvPr/>
        </p:nvPicPr>
        <p:blipFill>
          <a:blip r:embed="rId7"/>
          <a:srcRect l="0" r="0" t="0" b="0"/>
          <a:stretch/>
        </p:blipFill>
        <p:spPr>
          <a:xfrm>
            <a:off x="4535984" y="5017691"/>
            <a:ext cx="304800" cy="304800"/>
          </a:xfrm>
          <a:prstGeom prst="rect">
            <a:avLst/>
          </a:prstGeom>
        </p:spPr>
      </p:pic>
      <p:sp>
        <p:nvSpPr>
          <p:cNvPr id="28" name="Text 19"/>
          <p:cNvSpPr/>
          <p:nvPr/>
        </p:nvSpPr>
        <p:spPr>
          <a:xfrm>
            <a:off x="4967784" y="4838700"/>
            <a:ext cx="276877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5 · Manages the window</a:t>
            </a:r>
            <a:endParaRPr lang="en-US" sz="1400" dirty="0"/>
          </a:p>
        </p:txBody>
      </p:sp>
      <p:sp>
        <p:nvSpPr>
          <p:cNvPr id="29" name="Text 20"/>
          <p:cNvSpPr/>
          <p:nvPr/>
        </p:nvSpPr>
        <p:spPr>
          <a:xfrm>
            <a:off x="4967784" y="5090120"/>
            <a:ext cx="2768778"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Summarizes old turns when space runs low</a:t>
            </a:r>
            <a:endParaRPr lang="en-US" sz="1200" dirty="0"/>
          </a:p>
        </p:txBody>
      </p:sp>
      <p:sp>
        <p:nvSpPr>
          <p:cNvPr id="30" name="Shape 21"/>
          <p:cNvSpPr/>
          <p:nvPr/>
        </p:nvSpPr>
        <p:spPr>
          <a:xfrm>
            <a:off x="7944842" y="4501356"/>
            <a:ext cx="3431183" cy="1337469"/>
          </a:xfrm>
          <a:prstGeom prst="roundRect">
            <a:avLst>
              <a:gd name="adj" fmla="val 7359"/>
            </a:avLst>
          </a:prstGeom>
          <a:solidFill>
            <a:srgbClr val="FBFBFC"/>
          </a:solidFill>
          <a:ln w="6350">
            <a:solidFill>
              <a:srgbClr val="D9D9D9"/>
            </a:solidFill>
            <a:prstDash val="solid"/>
          </a:ln>
        </p:spPr>
      </p:sp>
      <p:pic>
        <p:nvPicPr>
          <p:cNvPr id="31" name="Image 7" descr="Users">    </p:cNvPr>
          <p:cNvPicPr>
            <a:picLocks noChangeAspect="1"/>
          </p:cNvPicPr>
          <p:nvPr/>
        </p:nvPicPr>
        <p:blipFill>
          <a:blip r:embed="rId8"/>
          <a:srcRect l="0" r="0" t="0" b="0"/>
          <a:stretch/>
        </p:blipFill>
        <p:spPr>
          <a:xfrm>
            <a:off x="8100417" y="5017691"/>
            <a:ext cx="304800" cy="304800"/>
          </a:xfrm>
          <a:prstGeom prst="rect">
            <a:avLst/>
          </a:prstGeom>
        </p:spPr>
      </p:pic>
      <p:sp>
        <p:nvSpPr>
          <p:cNvPr id="32" name="Text 22"/>
          <p:cNvSpPr/>
          <p:nvPr/>
        </p:nvSpPr>
        <p:spPr>
          <a:xfrm>
            <a:off x="8532217" y="4838700"/>
            <a:ext cx="276888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6 · Orchestrates</a:t>
            </a:r>
            <a:endParaRPr lang="en-US" sz="1400" dirty="0"/>
          </a:p>
        </p:txBody>
      </p:sp>
      <p:sp>
        <p:nvSpPr>
          <p:cNvPr id="33" name="Text 23"/>
          <p:cNvSpPr/>
          <p:nvPr/>
        </p:nvSpPr>
        <p:spPr>
          <a:xfrm>
            <a:off x="8532217" y="5090120"/>
            <a:ext cx="27688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Routes work to other models and sub-agents</a:t>
            </a:r>
            <a:endParaRPr lang="en-US" sz="1200" dirty="0"/>
          </a:p>
        </p:txBody>
      </p:sp>
      <p:sp>
        <p:nvSpPr>
          <p:cNvPr id="34"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Comparing CLI customization features; Managing context in Copilot CLI</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A coding assistant is a system of models</a:t>
            </a:r>
            <a:endParaRPr lang="en-US" sz="3200" dirty="0"/>
          </a:p>
        </p:txBody>
      </p:sp>
      <p:sp>
        <p:nvSpPr>
          <p:cNvPr id="4" name="Shape 2"/>
          <p:cNvSpPr/>
          <p:nvPr/>
        </p:nvSpPr>
        <p:spPr>
          <a:xfrm>
            <a:off x="819150" y="1885851"/>
            <a:ext cx="2781300" cy="939800"/>
          </a:xfrm>
          <a:prstGeom prst="roundRect">
            <a:avLst>
              <a:gd name="adj" fmla="val 10135"/>
            </a:avLst>
          </a:prstGeom>
          <a:solidFill>
            <a:srgbClr val="FBFBFC"/>
          </a:solidFill>
          <a:ln w="12700">
            <a:solidFill>
              <a:srgbClr val="D9D9D9"/>
            </a:solidFill>
            <a:prstDash val="solid"/>
          </a:ln>
        </p:spPr>
      </p:sp>
      <p:sp>
        <p:nvSpPr>
          <p:cNvPr id="5" name="Text 3"/>
          <p:cNvSpPr/>
          <p:nvPr/>
        </p:nvSpPr>
        <p:spPr>
          <a:xfrm>
            <a:off x="1028700" y="211703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Reasoning model</a:t>
            </a:r>
            <a:endParaRPr lang="en-US" sz="1400" dirty="0"/>
          </a:p>
        </p:txBody>
      </p:sp>
      <p:sp>
        <p:nvSpPr>
          <p:cNvPr id="6" name="Text 4"/>
          <p:cNvSpPr/>
          <p:nvPr/>
        </p:nvSpPr>
        <p:spPr>
          <a:xfrm>
            <a:off x="1028700" y="238115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Plans and writes the code</a:t>
            </a:r>
            <a:endParaRPr lang="en-US" sz="1200" dirty="0"/>
          </a:p>
        </p:txBody>
      </p:sp>
      <p:sp>
        <p:nvSpPr>
          <p:cNvPr id="7" name="Shape 5"/>
          <p:cNvSpPr/>
          <p:nvPr/>
        </p:nvSpPr>
        <p:spPr>
          <a:xfrm>
            <a:off x="819150" y="3060601"/>
            <a:ext cx="2781300" cy="939800"/>
          </a:xfrm>
          <a:prstGeom prst="roundRect">
            <a:avLst>
              <a:gd name="adj" fmla="val 10135"/>
            </a:avLst>
          </a:prstGeom>
          <a:solidFill>
            <a:srgbClr val="FBFBFC"/>
          </a:solidFill>
          <a:ln w="12700">
            <a:solidFill>
              <a:srgbClr val="D9D9D9"/>
            </a:solidFill>
            <a:prstDash val="solid"/>
          </a:ln>
        </p:spPr>
      </p:sp>
      <p:sp>
        <p:nvSpPr>
          <p:cNvPr id="8" name="Text 6"/>
          <p:cNvSpPr/>
          <p:nvPr/>
        </p:nvSpPr>
        <p:spPr>
          <a:xfrm>
            <a:off x="1028700" y="329178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Auto selection</a:t>
            </a:r>
            <a:endParaRPr lang="en-US" sz="1400" dirty="0"/>
          </a:p>
        </p:txBody>
      </p:sp>
      <p:sp>
        <p:nvSpPr>
          <p:cNvPr id="9" name="Text 7"/>
          <p:cNvSpPr/>
          <p:nvPr/>
        </p:nvSpPr>
        <p:spPr>
          <a:xfrm>
            <a:off x="1028700" y="355590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Picks a model for you</a:t>
            </a:r>
            <a:endParaRPr lang="en-US" sz="1200" dirty="0"/>
          </a:p>
        </p:txBody>
      </p:sp>
      <p:sp>
        <p:nvSpPr>
          <p:cNvPr id="10" name="Shape 8"/>
          <p:cNvSpPr/>
          <p:nvPr/>
        </p:nvSpPr>
        <p:spPr>
          <a:xfrm>
            <a:off x="819150" y="4235351"/>
            <a:ext cx="2781300" cy="939800"/>
          </a:xfrm>
          <a:prstGeom prst="roundRect">
            <a:avLst>
              <a:gd name="adj" fmla="val 10135"/>
            </a:avLst>
          </a:prstGeom>
          <a:solidFill>
            <a:srgbClr val="FBFBFC"/>
          </a:solidFill>
          <a:ln w="12700">
            <a:solidFill>
              <a:srgbClr val="D9D9D9"/>
            </a:solidFill>
            <a:prstDash val="solid"/>
          </a:ln>
        </p:spPr>
      </p:sp>
      <p:sp>
        <p:nvSpPr>
          <p:cNvPr id="11" name="Text 9"/>
          <p:cNvSpPr/>
          <p:nvPr/>
        </p:nvSpPr>
        <p:spPr>
          <a:xfrm>
            <a:off x="1028700" y="446653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Utility models</a:t>
            </a:r>
            <a:endParaRPr lang="en-US" sz="1400" dirty="0"/>
          </a:p>
        </p:txBody>
      </p:sp>
      <p:sp>
        <p:nvSpPr>
          <p:cNvPr id="12" name="Text 10"/>
          <p:cNvSpPr/>
          <p:nvPr/>
        </p:nvSpPr>
        <p:spPr>
          <a:xfrm>
            <a:off x="1028700" y="473065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Commit msgs, chat titles</a:t>
            </a:r>
            <a:endParaRPr lang="en-US" sz="1200" dirty="0"/>
          </a:p>
        </p:txBody>
      </p:sp>
      <p:sp>
        <p:nvSpPr>
          <p:cNvPr id="13" name="Shape 11"/>
          <p:cNvSpPr/>
          <p:nvPr/>
        </p:nvSpPr>
        <p:spPr>
          <a:xfrm>
            <a:off x="8591550" y="1885851"/>
            <a:ext cx="2781300" cy="939800"/>
          </a:xfrm>
          <a:prstGeom prst="roundRect">
            <a:avLst>
              <a:gd name="adj" fmla="val 10135"/>
            </a:avLst>
          </a:prstGeom>
          <a:solidFill>
            <a:srgbClr val="FBFBFC"/>
          </a:solidFill>
          <a:ln w="12700">
            <a:solidFill>
              <a:srgbClr val="D9D9D9"/>
            </a:solidFill>
            <a:prstDash val="solid"/>
          </a:ln>
        </p:spPr>
      </p:sp>
      <p:sp>
        <p:nvSpPr>
          <p:cNvPr id="14" name="Text 12"/>
          <p:cNvSpPr/>
          <p:nvPr/>
        </p:nvSpPr>
        <p:spPr>
          <a:xfrm>
            <a:off x="8801100" y="211703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Sub-agents</a:t>
            </a:r>
            <a:endParaRPr lang="en-US" sz="1400" dirty="0"/>
          </a:p>
        </p:txBody>
      </p:sp>
      <p:sp>
        <p:nvSpPr>
          <p:cNvPr id="15" name="Text 13"/>
          <p:cNvSpPr/>
          <p:nvPr/>
        </p:nvSpPr>
        <p:spPr>
          <a:xfrm>
            <a:off x="8801100" y="238115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Own context window each</a:t>
            </a:r>
            <a:endParaRPr lang="en-US" sz="1200" dirty="0"/>
          </a:p>
        </p:txBody>
      </p:sp>
      <p:sp>
        <p:nvSpPr>
          <p:cNvPr id="16" name="Shape 14"/>
          <p:cNvSpPr/>
          <p:nvPr/>
        </p:nvSpPr>
        <p:spPr>
          <a:xfrm>
            <a:off x="8591550" y="3060601"/>
            <a:ext cx="2781300" cy="939800"/>
          </a:xfrm>
          <a:prstGeom prst="roundRect">
            <a:avLst>
              <a:gd name="adj" fmla="val 10135"/>
            </a:avLst>
          </a:prstGeom>
          <a:solidFill>
            <a:srgbClr val="FBFBFC"/>
          </a:solidFill>
          <a:ln w="12700">
            <a:solidFill>
              <a:srgbClr val="D9D9D9"/>
            </a:solidFill>
            <a:prstDash val="solid"/>
          </a:ln>
        </p:spPr>
      </p:sp>
      <p:sp>
        <p:nvSpPr>
          <p:cNvPr id="17" name="Text 15"/>
          <p:cNvSpPr/>
          <p:nvPr/>
        </p:nvSpPr>
        <p:spPr>
          <a:xfrm>
            <a:off x="8801100" y="329178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Completion model</a:t>
            </a:r>
            <a:endParaRPr lang="en-US" sz="1400" dirty="0"/>
          </a:p>
        </p:txBody>
      </p:sp>
      <p:sp>
        <p:nvSpPr>
          <p:cNvPr id="18" name="Text 16"/>
          <p:cNvSpPr/>
          <p:nvPr/>
        </p:nvSpPr>
        <p:spPr>
          <a:xfrm>
            <a:off x="8801100" y="355590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Inline code suggestions</a:t>
            </a:r>
            <a:endParaRPr lang="en-US" sz="1200" dirty="0"/>
          </a:p>
        </p:txBody>
      </p:sp>
      <p:sp>
        <p:nvSpPr>
          <p:cNvPr id="19" name="Shape 17"/>
          <p:cNvSpPr/>
          <p:nvPr/>
        </p:nvSpPr>
        <p:spPr>
          <a:xfrm>
            <a:off x="8591550" y="4235351"/>
            <a:ext cx="2781300" cy="939800"/>
          </a:xfrm>
          <a:prstGeom prst="roundRect">
            <a:avLst>
              <a:gd name="adj" fmla="val 10135"/>
            </a:avLst>
          </a:prstGeom>
          <a:solidFill>
            <a:srgbClr val="FBFBFC"/>
          </a:solidFill>
          <a:ln w="12700">
            <a:solidFill>
              <a:srgbClr val="D9D9D9"/>
            </a:solidFill>
            <a:prstDash val="solid"/>
          </a:ln>
        </p:spPr>
      </p:sp>
      <p:sp>
        <p:nvSpPr>
          <p:cNvPr id="20" name="Text 18"/>
          <p:cNvSpPr/>
          <p:nvPr/>
        </p:nvSpPr>
        <p:spPr>
          <a:xfrm>
            <a:off x="8801100" y="4466530"/>
            <a:ext cx="243306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Tools + MCP</a:t>
            </a:r>
            <a:endParaRPr lang="en-US" sz="1400" dirty="0"/>
          </a:p>
        </p:txBody>
      </p:sp>
      <p:sp>
        <p:nvSpPr>
          <p:cNvPr id="21" name="Text 19"/>
          <p:cNvSpPr/>
          <p:nvPr/>
        </p:nvSpPr>
        <p:spPr>
          <a:xfrm>
            <a:off x="8801100" y="4730651"/>
            <a:ext cx="24330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Read, edit, run, connect</a:t>
            </a:r>
            <a:endParaRPr lang="en-US" sz="1200" dirty="0"/>
          </a:p>
        </p:txBody>
      </p:sp>
      <p:sp>
        <p:nvSpPr>
          <p:cNvPr id="22" name="Shape 20"/>
          <p:cNvSpPr/>
          <p:nvPr/>
        </p:nvSpPr>
        <p:spPr>
          <a:xfrm>
            <a:off x="4826000" y="3054251"/>
            <a:ext cx="2540000" cy="952500"/>
          </a:xfrm>
          <a:prstGeom prst="roundRect">
            <a:avLst>
              <a:gd name="adj" fmla="val 10667"/>
            </a:avLst>
          </a:prstGeom>
          <a:solidFill>
            <a:srgbClr val="00AEEF"/>
          </a:solidFill>
          <a:ln/>
        </p:spPr>
      </p:sp>
      <p:sp>
        <p:nvSpPr>
          <p:cNvPr id="23" name="Text 21"/>
          <p:cNvSpPr/>
          <p:nvPr/>
        </p:nvSpPr>
        <p:spPr>
          <a:xfrm>
            <a:off x="5291138" y="3261320"/>
            <a:ext cx="1609725" cy="299641"/>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The harness</a:t>
            </a:r>
            <a:endParaRPr lang="en-US" sz="1800" dirty="0"/>
          </a:p>
        </p:txBody>
      </p:sp>
      <p:sp>
        <p:nvSpPr>
          <p:cNvPr id="24" name="Text 22"/>
          <p:cNvSpPr/>
          <p:nvPr/>
        </p:nvSpPr>
        <p:spPr>
          <a:xfrm>
            <a:off x="5101600" y="3586361"/>
            <a:ext cx="198870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Copilot CLI · Copilot app</a:t>
            </a:r>
            <a:endParaRPr lang="en-US" sz="1200" dirty="0"/>
          </a:p>
        </p:txBody>
      </p:sp>
      <p:pic>
        <p:nvPicPr>
          <p:cNvPr id="25" name="Image 0" descr="connector">    </p:cNvPr>
          <p:cNvPicPr>
            <a:picLocks noChangeAspect="1"/>
          </p:cNvPicPr>
          <p:nvPr/>
        </p:nvPicPr>
        <p:blipFill>
          <a:blip r:embed="rId1"/>
          <a:srcRect l="0" r="0" t="0" b="0"/>
          <a:stretch/>
        </p:blipFill>
        <p:spPr>
          <a:xfrm>
            <a:off x="3556000" y="2304951"/>
            <a:ext cx="1320800" cy="1054100"/>
          </a:xfrm>
          <a:prstGeom prst="rect">
            <a:avLst/>
          </a:prstGeom>
        </p:spPr>
      </p:pic>
      <p:pic>
        <p:nvPicPr>
          <p:cNvPr id="26" name="Image 1" descr="connector">    </p:cNvPr>
          <p:cNvPicPr>
            <a:picLocks noChangeAspect="1"/>
          </p:cNvPicPr>
          <p:nvPr/>
        </p:nvPicPr>
        <p:blipFill>
          <a:blip r:embed="rId2"/>
          <a:srcRect l="0" r="0" t="0" b="0"/>
          <a:stretch/>
        </p:blipFill>
        <p:spPr>
          <a:xfrm>
            <a:off x="7315200" y="2304951"/>
            <a:ext cx="1320800" cy="1054100"/>
          </a:xfrm>
          <a:prstGeom prst="rect">
            <a:avLst/>
          </a:prstGeom>
        </p:spPr>
      </p:pic>
      <p:pic>
        <p:nvPicPr>
          <p:cNvPr id="27" name="Image 2" descr="connector">    </p:cNvPr>
          <p:cNvPicPr>
            <a:picLocks noChangeAspect="1"/>
          </p:cNvPicPr>
          <p:nvPr/>
        </p:nvPicPr>
        <p:blipFill>
          <a:blip r:embed="rId3"/>
          <a:srcRect l="0" r="0" t="0" b="0"/>
          <a:stretch/>
        </p:blipFill>
        <p:spPr>
          <a:xfrm>
            <a:off x="3556000" y="3479701"/>
            <a:ext cx="1320800" cy="101600"/>
          </a:xfrm>
          <a:prstGeom prst="rect">
            <a:avLst/>
          </a:prstGeom>
        </p:spPr>
      </p:pic>
      <p:pic>
        <p:nvPicPr>
          <p:cNvPr id="28" name="Image 3" descr="connector">    </p:cNvPr>
          <p:cNvPicPr>
            <a:picLocks noChangeAspect="1"/>
          </p:cNvPicPr>
          <p:nvPr/>
        </p:nvPicPr>
        <p:blipFill>
          <a:blip r:embed="rId4"/>
          <a:srcRect l="0" r="0" t="0" b="0"/>
          <a:stretch/>
        </p:blipFill>
        <p:spPr>
          <a:xfrm>
            <a:off x="7315200" y="3479701"/>
            <a:ext cx="1320800" cy="101600"/>
          </a:xfrm>
          <a:prstGeom prst="rect">
            <a:avLst/>
          </a:prstGeom>
        </p:spPr>
      </p:pic>
      <p:pic>
        <p:nvPicPr>
          <p:cNvPr id="29" name="Image 4" descr="connector">    </p:cNvPr>
          <p:cNvPicPr>
            <a:picLocks noChangeAspect="1"/>
          </p:cNvPicPr>
          <p:nvPr/>
        </p:nvPicPr>
        <p:blipFill>
          <a:blip r:embed="rId5"/>
          <a:srcRect l="0" r="0" t="0" b="0"/>
          <a:stretch/>
        </p:blipFill>
        <p:spPr>
          <a:xfrm>
            <a:off x="3556000" y="3701951"/>
            <a:ext cx="1320800" cy="1054100"/>
          </a:xfrm>
          <a:prstGeom prst="rect">
            <a:avLst/>
          </a:prstGeom>
        </p:spPr>
      </p:pic>
      <p:pic>
        <p:nvPicPr>
          <p:cNvPr id="30" name="Image 5" descr="connector">    </p:cNvPr>
          <p:cNvPicPr>
            <a:picLocks noChangeAspect="1"/>
          </p:cNvPicPr>
          <p:nvPr/>
        </p:nvPicPr>
        <p:blipFill>
          <a:blip r:embed="rId6"/>
          <a:srcRect l="0" r="0" t="0" b="0"/>
          <a:stretch/>
        </p:blipFill>
        <p:spPr>
          <a:xfrm>
            <a:off x="7315200" y="3701951"/>
            <a:ext cx="1320800" cy="1054100"/>
          </a:xfrm>
          <a:prstGeom prst="rect">
            <a:avLst/>
          </a:prstGeom>
        </p:spPr>
      </p:pic>
      <p:sp>
        <p:nvSpPr>
          <p:cNvPr id="31" name="Text 23"/>
          <p:cNvSpPr/>
          <p:nvPr/>
        </p:nvSpPr>
        <p:spPr>
          <a:xfrm>
            <a:off x="812800" y="53847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You choose the main model; the harness quietly runs the rest.</a:t>
            </a:r>
            <a:endParaRPr lang="en-US" sz="1400" dirty="0"/>
          </a:p>
        </p:txBody>
      </p:sp>
      <p:sp>
        <p:nvSpPr>
          <p:cNvPr id="32"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Utility models; Auto model selection; Comparing CLI customization features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Four apps, three harnesses</a:t>
            </a:r>
            <a:endParaRPr lang="en-US" sz="3200" dirty="0"/>
          </a:p>
        </p:txBody>
      </p:sp>
      <p:sp>
        <p:nvSpPr>
          <p:cNvPr id="4" name="Text 2"/>
          <p:cNvSpPr/>
          <p:nvPr/>
        </p:nvSpPr>
        <p:spPr>
          <a:xfrm>
            <a:off x="812800" y="1879501"/>
            <a:ext cx="10566400" cy="452041"/>
          </a:xfrm>
          <a:prstGeom prst="roundRect">
            <a:avLst>
              <a:gd name="adj" fmla="val 22476"/>
            </a:avLst>
          </a:prstGeom>
          <a:solidFill>
            <a:srgbClr val="00AEEF"/>
          </a:solidFill>
          <a:ln/>
        </p:spPr>
        <p:txBody>
          <a:bodyPr wrap="square" lIns="0" tIns="71842" rIns="0" bIns="46442" rtlCol="0" anchor="t">
            <a:normAutofit/>
          </a:bodyPr>
          <a:lstStyle/>
          <a:p>
            <a:pPr algn="ctr" indent="0" marL="0">
              <a:lnSpc>
                <a:spcPts val="1960"/>
              </a:lnSpc>
              <a:buNone/>
            </a:pPr>
            <a:r>
              <a:rPr lang="en-US" sz="1400" b="1" dirty="0">
                <a:solidFill>
                  <a:srgbClr val="1E1E1E"/>
                </a:solidFill>
                <a:latin typeface="Space Grotesk" pitchFamily="34" charset="0"/>
                <a:ea typeface="Space Grotesk" pitchFamily="34" charset="-122"/>
                <a:cs typeface="Space Grotesk" pitchFamily="34" charset="-120"/>
              </a:rPr>
              <a:t>The same Copilot models can run under all three</a:t>
            </a:r>
            <a:endParaRPr lang="en-US" sz="1400" dirty="0"/>
          </a:p>
        </p:txBody>
      </p:sp>
      <p:sp>
        <p:nvSpPr>
          <p:cNvPr id="5" name="Shape 3"/>
          <p:cNvSpPr/>
          <p:nvPr/>
        </p:nvSpPr>
        <p:spPr>
          <a:xfrm>
            <a:off x="819150" y="2541091"/>
            <a:ext cx="3407866" cy="2842518"/>
          </a:xfrm>
          <a:prstGeom prst="roundRect">
            <a:avLst>
              <a:gd name="adj" fmla="val 4244"/>
            </a:avLst>
          </a:prstGeom>
          <a:solidFill>
            <a:srgbClr val="DCEEF9"/>
          </a:solidFill>
          <a:ln w="12700">
            <a:solidFill>
              <a:srgbClr val="0B3C6F"/>
            </a:solidFill>
            <a:prstDash val="solid"/>
          </a:ln>
        </p:spPr>
      </p:sp>
      <p:sp>
        <p:nvSpPr>
          <p:cNvPr id="6" name="Text 4"/>
          <p:cNvSpPr/>
          <p:nvPr/>
        </p:nvSpPr>
        <p:spPr>
          <a:xfrm>
            <a:off x="1028700" y="275064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Copilot agent runtime</a:t>
            </a:r>
            <a:endParaRPr lang="en-US" sz="1800" dirty="0"/>
          </a:p>
        </p:txBody>
      </p:sp>
      <p:sp>
        <p:nvSpPr>
          <p:cNvPr id="7" name="Text 5"/>
          <p:cNvSpPr/>
          <p:nvPr/>
        </p:nvSpPr>
        <p:spPr>
          <a:xfrm>
            <a:off x="1028700" y="3126482"/>
            <a:ext cx="30784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One shared runtime behind GitHub’s own agent apps</a:t>
            </a:r>
            <a:endParaRPr lang="en-US" sz="1200" dirty="0"/>
          </a:p>
        </p:txBody>
      </p:sp>
      <p:sp>
        <p:nvSpPr>
          <p:cNvPr id="8" name="Text 6"/>
          <p:cNvSpPr/>
          <p:nvPr/>
        </p:nvSpPr>
        <p:spPr>
          <a:xfrm>
            <a:off x="1031875" y="3642618"/>
            <a:ext cx="2982416" cy="407591"/>
          </a:xfrm>
          <a:prstGeom prst="roundRect">
            <a:avLst>
              <a:gd name="adj" fmla="val 17916"/>
            </a:avLst>
          </a:prstGeom>
          <a:solidFill>
            <a:srgbClr val="F5F5F6"/>
          </a:solidFill>
          <a:ln w="6350">
            <a:solidFill>
              <a:srgbClr val="D9D9D9"/>
            </a:solidFill>
            <a:prstDash val="solid"/>
          </a:ln>
        </p:spPr>
        <p:txBody>
          <a:bodyPr wrap="square" lIns="108787" tIns="57987" rIns="27125" bIns="32587"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Copilot CLI</a:t>
            </a:r>
            <a:endParaRPr lang="en-US" sz="1400" dirty="0"/>
          </a:p>
        </p:txBody>
      </p:sp>
      <p:sp>
        <p:nvSpPr>
          <p:cNvPr id="9" name="Text 7"/>
          <p:cNvSpPr/>
          <p:nvPr/>
        </p:nvSpPr>
        <p:spPr>
          <a:xfrm>
            <a:off x="1031875" y="4120059"/>
            <a:ext cx="2982416" cy="407591"/>
          </a:xfrm>
          <a:prstGeom prst="roundRect">
            <a:avLst>
              <a:gd name="adj" fmla="val 17916"/>
            </a:avLst>
          </a:prstGeom>
          <a:solidFill>
            <a:srgbClr val="F5F5F6"/>
          </a:solidFill>
          <a:ln w="6350">
            <a:solidFill>
              <a:srgbClr val="D9D9D9"/>
            </a:solidFill>
            <a:prstDash val="solid"/>
          </a:ln>
        </p:spPr>
        <p:txBody>
          <a:bodyPr wrap="square" lIns="108787" tIns="57987" rIns="27125" bIns="32587"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Copilot app (desktop)</a:t>
            </a:r>
            <a:endParaRPr lang="en-US" sz="1400" dirty="0"/>
          </a:p>
        </p:txBody>
      </p:sp>
      <p:sp>
        <p:nvSpPr>
          <p:cNvPr id="10" name="Shape 8"/>
          <p:cNvSpPr/>
          <p:nvPr/>
        </p:nvSpPr>
        <p:spPr>
          <a:xfrm>
            <a:off x="4392116" y="2541091"/>
            <a:ext cx="3407866" cy="2842518"/>
          </a:xfrm>
          <a:prstGeom prst="roundRect">
            <a:avLst>
              <a:gd name="adj" fmla="val 4244"/>
            </a:avLst>
          </a:prstGeom>
          <a:solidFill>
            <a:srgbClr val="FBFBFC"/>
          </a:solidFill>
          <a:ln w="12700">
            <a:solidFill>
              <a:srgbClr val="D9D9D9"/>
            </a:solidFill>
            <a:prstDash val="solid"/>
          </a:ln>
        </p:spPr>
      </p:sp>
      <p:sp>
        <p:nvSpPr>
          <p:cNvPr id="11" name="Text 9"/>
          <p:cNvSpPr/>
          <p:nvPr/>
        </p:nvSpPr>
        <p:spPr>
          <a:xfrm>
            <a:off x="4601666" y="275064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Visual Studio agent mode</a:t>
            </a:r>
            <a:endParaRPr lang="en-US" sz="1800" dirty="0"/>
          </a:p>
        </p:txBody>
      </p:sp>
      <p:sp>
        <p:nvSpPr>
          <p:cNvPr id="12" name="Text 10"/>
          <p:cNvSpPr/>
          <p:nvPr/>
        </p:nvSpPr>
        <p:spPr>
          <a:xfrm>
            <a:off x="4601666" y="3126482"/>
            <a:ext cx="30784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Built into the IDE; uses your solution, language services, and the build</a:t>
            </a:r>
            <a:endParaRPr lang="en-US" sz="1200" dirty="0"/>
          </a:p>
        </p:txBody>
      </p:sp>
      <p:sp>
        <p:nvSpPr>
          <p:cNvPr id="13" name="Text 11"/>
          <p:cNvSpPr/>
          <p:nvPr/>
        </p:nvSpPr>
        <p:spPr>
          <a:xfrm>
            <a:off x="4604841" y="3642618"/>
            <a:ext cx="2982416" cy="407591"/>
          </a:xfrm>
          <a:prstGeom prst="roundRect">
            <a:avLst>
              <a:gd name="adj" fmla="val 17916"/>
            </a:avLst>
          </a:prstGeom>
          <a:solidFill>
            <a:srgbClr val="F5F5F6"/>
          </a:solidFill>
          <a:ln w="6350">
            <a:solidFill>
              <a:srgbClr val="D9D9D9"/>
            </a:solidFill>
            <a:prstDash val="solid"/>
          </a:ln>
        </p:spPr>
        <p:txBody>
          <a:bodyPr wrap="square" lIns="108787" tIns="57987" rIns="27125" bIns="32587"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Visual Studio 2026</a:t>
            </a:r>
            <a:endParaRPr lang="en-US" sz="1400" dirty="0"/>
          </a:p>
        </p:txBody>
      </p:sp>
      <p:sp>
        <p:nvSpPr>
          <p:cNvPr id="14" name="Shape 12"/>
          <p:cNvSpPr/>
          <p:nvPr/>
        </p:nvSpPr>
        <p:spPr>
          <a:xfrm>
            <a:off x="7965083" y="2541091"/>
            <a:ext cx="3407866" cy="2842518"/>
          </a:xfrm>
          <a:prstGeom prst="roundRect">
            <a:avLst>
              <a:gd name="adj" fmla="val 4244"/>
            </a:avLst>
          </a:prstGeom>
          <a:solidFill>
            <a:srgbClr val="FBFBFC"/>
          </a:solidFill>
          <a:ln w="12700">
            <a:solidFill>
              <a:srgbClr val="D9D9D9"/>
            </a:solidFill>
            <a:prstDash val="solid"/>
          </a:ln>
        </p:spPr>
      </p:sp>
      <p:sp>
        <p:nvSpPr>
          <p:cNvPr id="15" name="Text 13"/>
          <p:cNvSpPr/>
          <p:nvPr/>
        </p:nvSpPr>
        <p:spPr>
          <a:xfrm>
            <a:off x="8174633" y="2750641"/>
            <a:ext cx="307842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OpenCode</a:t>
            </a:r>
            <a:endParaRPr lang="en-US" sz="1800" dirty="0"/>
          </a:p>
        </p:txBody>
      </p:sp>
      <p:sp>
        <p:nvSpPr>
          <p:cNvPr id="16" name="Text 14"/>
          <p:cNvSpPr/>
          <p:nvPr/>
        </p:nvSpPr>
        <p:spPr>
          <a:xfrm>
            <a:off x="8174633" y="3126482"/>
            <a:ext cx="307842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Separate open-source (MIT) harness; can sign in with Copilot</a:t>
            </a:r>
            <a:endParaRPr lang="en-US" sz="1200" dirty="0"/>
          </a:p>
        </p:txBody>
      </p:sp>
      <p:sp>
        <p:nvSpPr>
          <p:cNvPr id="17" name="Text 15"/>
          <p:cNvSpPr/>
          <p:nvPr/>
        </p:nvSpPr>
        <p:spPr>
          <a:xfrm>
            <a:off x="8177808" y="3642618"/>
            <a:ext cx="2982416" cy="407591"/>
          </a:xfrm>
          <a:prstGeom prst="roundRect">
            <a:avLst>
              <a:gd name="adj" fmla="val 17916"/>
            </a:avLst>
          </a:prstGeom>
          <a:solidFill>
            <a:srgbClr val="F5F5F6"/>
          </a:solidFill>
          <a:ln w="6350">
            <a:solidFill>
              <a:srgbClr val="D9D9D9"/>
            </a:solidFill>
            <a:prstDash val="solid"/>
          </a:ln>
        </p:spPr>
        <p:txBody>
          <a:bodyPr wrap="square" lIns="108787" tIns="57987" rIns="27125" bIns="32587"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OpenCode terminal / desktop</a:t>
            </a:r>
            <a:endParaRPr lang="en-US" sz="1400" dirty="0"/>
          </a:p>
        </p:txBody>
      </p:sp>
      <p:sp>
        <p:nvSpPr>
          <p:cNvPr id="18" name="Text 16"/>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The harness, not the window, decides how context is found, how the window is managed, and where edits land.</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About the Copilot app; VS Code Docs (2026): Agent harnesses; Microsoft Learn: Visual Studio agent mode; GitHub Changelog, Jan 2026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09451"/>
          </a:xfrm>
          <a:prstGeom prst="rect">
            <a:avLst/>
          </a:prstGeom>
          <a:noFill/>
          <a:ln/>
        </p:spPr>
        <p:txBody>
          <a:bodyPr wrap="square" lIns="0" tIns="0" rIns="0" bIns="0" rtlCol="0" anchor="t">
            <a:normAutofit/>
          </a:bodyPr>
          <a:lstStyle/>
          <a:p>
            <a:pPr algn="l" indent="0" marL="0">
              <a:lnSpc>
                <a:spcPts val="1475"/>
              </a:lnSpc>
              <a:buNone/>
            </a:pPr>
            <a:r>
              <a:rPr lang="en-US" sz="1054"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054" dirty="0"/>
          </a:p>
        </p:txBody>
      </p:sp>
      <p:sp>
        <p:nvSpPr>
          <p:cNvPr id="3" name="Text 1"/>
          <p:cNvSpPr/>
          <p:nvPr>
            <p:ph type="title"/>
          </p:nvPr>
        </p:nvSpPr>
        <p:spPr>
          <a:xfrm>
            <a:off x="812800" y="1200051"/>
            <a:ext cx="10883392" cy="411063"/>
          </a:xfrm>
          <a:prstGeom prst="rect">
            <a:avLst/>
          </a:prstGeom>
          <a:noFill/>
          <a:ln/>
        </p:spPr>
        <p:txBody>
          <a:bodyPr wrap="square" lIns="0" tIns="0" rIns="0" bIns="0" rtlCol="0" anchor="t">
            <a:normAutofit/>
          </a:bodyPr>
          <a:lstStyle/>
          <a:p>
            <a:pPr algn="l" indent="0" marL="0">
              <a:lnSpc>
                <a:spcPts val="3069"/>
              </a:lnSpc>
              <a:buNone/>
            </a:pPr>
            <a:r>
              <a:rPr lang="en-US" sz="2790" b="1" i="0" dirty="0">
                <a:solidFill>
                  <a:srgbClr val="1E1E1E"/>
                </a:solidFill>
                <a:latin typeface="Space Grotesk" pitchFamily="34" charset="0"/>
                <a:ea typeface="Space Grotesk" pitchFamily="34" charset="-122"/>
                <a:cs typeface="Space Grotesk" pitchFamily="34" charset="-120"/>
              </a:rPr>
              <a:t>How each harness finds context</a:t>
            </a:r>
            <a:endParaRPr lang="en-US" sz="279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1614"/>
          <a:ext cx="10553700" cy="3419177"/>
        </p:xfrm>
        <a:graphic>
          <a:graphicData uri="http://schemas.openxmlformats.org/drawingml/2006/table">
            <a:tbl>
              <a:tblPr/>
              <a:tblGrid>
                <a:gridCol w="1688592"/>
                <a:gridCol w="2955036"/>
                <a:gridCol w="2955036"/>
                <a:gridCol w="2955036"/>
              </a:tblGrid>
              <a:tr h="433388">
                <a:tc>
                  <a:txBody>
                    <a:bodyPr/>
                    <a:lstStyle/>
                    <a:p>
                      <a:pPr indent="0" marL="0">
                        <a:lnSpc>
                          <a:spcPts val="1897"/>
                        </a:lnSpc>
                        <a:buNone/>
                      </a:pP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97"/>
                        </a:lnSpc>
                        <a:buNone/>
                      </a:pPr>
                      <a:r>
                        <a:rPr lang="en-US" sz="1355" b="1" dirty="0">
                          <a:solidFill>
                            <a:srgbClr val="0A5A8A"/>
                          </a:solidFill>
                          <a:latin typeface="IBM Plex Sans" pitchFamily="34" charset="0"/>
                          <a:ea typeface="IBM Plex Sans" pitchFamily="34" charset="-122"/>
                          <a:cs typeface="IBM Plex Sans" pitchFamily="34" charset="-120"/>
                        </a:rPr>
                        <a:t>Visual Studio</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97"/>
                        </a:lnSpc>
                        <a:buNone/>
                      </a:pPr>
                      <a:r>
                        <a:rPr lang="en-US" sz="1355" b="1" dirty="0">
                          <a:solidFill>
                            <a:srgbClr val="0A5A8A"/>
                          </a:solidFill>
                          <a:latin typeface="IBM Plex Sans" pitchFamily="34" charset="0"/>
                          <a:ea typeface="IBM Plex Sans" pitchFamily="34" charset="-122"/>
                          <a:cs typeface="IBM Plex Sans" pitchFamily="34" charset="-120"/>
                        </a:rPr>
                        <a:t>Copilot runtime (CLI, app)</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97"/>
                        </a:lnSpc>
                        <a:buNone/>
                      </a:pPr>
                      <a:r>
                        <a:rPr lang="en-US" sz="1355" b="1" dirty="0">
                          <a:solidFill>
                            <a:srgbClr val="0A5A8A"/>
                          </a:solidFill>
                          <a:latin typeface="IBM Plex Sans" pitchFamily="34" charset="0"/>
                          <a:ea typeface="IBM Plex Sans" pitchFamily="34" charset="-122"/>
                          <a:cs typeface="IBM Plex Sans" pitchFamily="34" charset="-120"/>
                        </a:rPr>
                        <a:t>OpenCode</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674191">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Starts with</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Open files, chat history, and errors you reference, plus instructions</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Instructions and the working directory; nothing from your IDE</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AGENTS.md and the working directory</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1155799">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Searches with</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Semantic search over an embedding index (remote on GitHub or Azure DevOps, else local)</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grep, glob, file reads, shell; an explore sub-agent; GitHub MCP</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ripgrep, glob, file reads; an explore sub-agent</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1155799">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Code intelligence</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find_symbol: every reference, types, declarations (C#, C++, Razor, TS); reads build and test failures</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Only if you configure an LSP server (.github/lsp.json)</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97"/>
                        </a:lnSpc>
                        <a:buNone/>
                      </a:pPr>
                      <a:r>
                        <a:rPr lang="en-US" sz="1355" dirty="0">
                          <a:solidFill>
                            <a:srgbClr val="1E1E1E"/>
                          </a:solidFill>
                          <a:latin typeface="IBM Plex Sans" pitchFamily="34" charset="0"/>
                          <a:ea typeface="IBM Plex Sans" pitchFamily="34" charset="-122"/>
                          <a:cs typeface="IBM Plex Sans" pitchFamily="34" charset="-120"/>
                        </a:rPr>
                        <a:t>Starts LSP servers itself; reads come back with diagnostics</a:t>
                      </a:r>
                      <a:endParaRPr lang="en-US" sz="1355"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bl>
          </a:graphicData>
        </a:graphic>
      </p:graphicFrame>
      <p:sp>
        <p:nvSpPr>
          <p:cNvPr id="5" name="Text 2"/>
          <p:cNvSpPr/>
          <p:nvPr/>
        </p:nvSpPr>
        <p:spPr>
          <a:xfrm>
            <a:off x="812800" y="5627191"/>
            <a:ext cx="10883392" cy="240109"/>
          </a:xfrm>
          <a:prstGeom prst="rect">
            <a:avLst/>
          </a:prstGeom>
          <a:noFill/>
          <a:ln/>
        </p:spPr>
        <p:txBody>
          <a:bodyPr wrap="square" lIns="0" tIns="0" rIns="0" bIns="0" rtlCol="0" anchor="t">
            <a:normAutofit/>
          </a:bodyPr>
          <a:lstStyle/>
          <a:p>
            <a:pPr algn="l" indent="0" marL="0">
              <a:lnSpc>
                <a:spcPts val="1721"/>
              </a:lnSpc>
              <a:buNone/>
            </a:pPr>
            <a:r>
              <a:rPr lang="en-US" sz="1229" dirty="0">
                <a:solidFill>
                  <a:srgbClr val="1E1E1E"/>
                </a:solidFill>
                <a:latin typeface="IBM Plex Sans" pitchFamily="34" charset="0"/>
                <a:ea typeface="IBM Plex Sans" pitchFamily="34" charset="-122"/>
                <a:cs typeface="IBM Plex Sans" pitchFamily="34" charset="-120"/>
              </a:rPr>
              <a:t>Visual Studio searches by meaning and knows your symbols. The CLI starts from nothing and searches by exact text.</a:t>
            </a:r>
            <a:endParaRPr lang="en-US" sz="1229"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Microsoft Learn (2026): Copilot context; Visual Studio agent mode. GitHub Docs (2026): Copilot CLI LSP servers. OpenCode docs.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088" dirty="0"/>
          </a:p>
        </p:txBody>
      </p:sp>
      <p:sp>
        <p:nvSpPr>
          <p:cNvPr id="3" name="Text 1"/>
          <p:cNvSpPr/>
          <p:nvPr>
            <p:ph type="title"/>
          </p:nvPr>
        </p:nvSpPr>
        <p:spPr>
          <a:xfrm>
            <a:off x="812800" y="1208385"/>
            <a:ext cx="10883392" cy="428427"/>
          </a:xfrm>
          <a:prstGeom prst="rect">
            <a:avLst/>
          </a:prstGeom>
          <a:noFill/>
          <a:ln/>
        </p:spPr>
        <p:txBody>
          <a:bodyPr wrap="square" lIns="0" tIns="0" rIns="0" bIns="0" rtlCol="0" anchor="t">
            <a:normAutofit/>
          </a:bodyPr>
          <a:lstStyle/>
          <a:p>
            <a:pPr algn="l" indent="0" marL="0">
              <a:lnSpc>
                <a:spcPts val="3168"/>
              </a:lnSpc>
              <a:buNone/>
            </a:pPr>
            <a:r>
              <a:rPr lang="en-US" sz="2880" b="1" i="0" dirty="0">
                <a:solidFill>
                  <a:srgbClr val="1E1E1E"/>
                </a:solidFill>
                <a:latin typeface="Space Grotesk" pitchFamily="34" charset="0"/>
                <a:ea typeface="Space Grotesk" pitchFamily="34" charset="-122"/>
                <a:cs typeface="Space Grotesk" pitchFamily="34" charset="-120"/>
              </a:rPr>
              <a:t>How each harness manages context and changes</a:t>
            </a:r>
            <a:endParaRPr lang="en-US" sz="288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7312"/>
          <a:ext cx="10553700" cy="3102471"/>
        </p:xfrm>
        <a:graphic>
          <a:graphicData uri="http://schemas.openxmlformats.org/drawingml/2006/table">
            <a:tbl>
              <a:tblPr/>
              <a:tblGrid>
                <a:gridCol w="1688592"/>
                <a:gridCol w="2955036"/>
                <a:gridCol w="2955036"/>
                <a:gridCol w="2955036"/>
              </a:tblGrid>
              <a:tr h="429915">
                <a:tc>
                  <a:txBody>
                    <a:bodyPr/>
                    <a:lstStyle/>
                    <a:p>
                      <a:pPr indent="0" marL="0">
                        <a:lnSpc>
                          <a:spcPts val="1886"/>
                        </a:lnSpc>
                        <a:buNone/>
                      </a:pP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86"/>
                        </a:lnSpc>
                        <a:buNone/>
                      </a:pPr>
                      <a:r>
                        <a:rPr lang="en-US" sz="1347" b="1" dirty="0">
                          <a:solidFill>
                            <a:srgbClr val="0A5A8A"/>
                          </a:solidFill>
                          <a:latin typeface="IBM Plex Sans" pitchFamily="34" charset="0"/>
                          <a:ea typeface="IBM Plex Sans" pitchFamily="34" charset="-122"/>
                          <a:cs typeface="IBM Plex Sans" pitchFamily="34" charset="-120"/>
                        </a:rPr>
                        <a:t>Visual Studio</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86"/>
                        </a:lnSpc>
                        <a:buNone/>
                      </a:pPr>
                      <a:r>
                        <a:rPr lang="en-US" sz="1347" b="1" dirty="0">
                          <a:solidFill>
                            <a:srgbClr val="0A5A8A"/>
                          </a:solidFill>
                          <a:latin typeface="IBM Plex Sans" pitchFamily="34" charset="0"/>
                          <a:ea typeface="IBM Plex Sans" pitchFamily="34" charset="-122"/>
                          <a:cs typeface="IBM Plex Sans" pitchFamily="34" charset="-120"/>
                        </a:rPr>
                        <a:t>Copilot runtime (CLI, app)</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86"/>
                        </a:lnSpc>
                        <a:buNone/>
                      </a:pPr>
                      <a:r>
                        <a:rPr lang="en-US" sz="1347" b="1" dirty="0">
                          <a:solidFill>
                            <a:srgbClr val="0A5A8A"/>
                          </a:solidFill>
                          <a:latin typeface="IBM Plex Sans" pitchFamily="34" charset="0"/>
                          <a:ea typeface="IBM Plex Sans" pitchFamily="34" charset="-122"/>
                          <a:cs typeface="IBM Plex Sans" pitchFamily="34" charset="-120"/>
                        </a:rPr>
                        <a:t>OpenCode</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668139">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Full window</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Behavior not documented</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Compacts at ~80% full, pauses at ~95%; /context, /compact</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Auto-compacts as it nears the limit</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668139">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Sub-agents</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Not supported; custom agents and @debug, @test, @profiler instead</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explore, task, general-purpose, your custom agents</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explore and general, plus your custom agents</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668139">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Where edits land</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Your open solution, in place; Keep or Undo per file; checkpoints</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CLI: your current directory. App: a separate git worktree per session</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Your current directory</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668139">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Enforcement</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No hooks; tool approval prompts</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Hooks in .github/hooks/*.json</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86"/>
                        </a:lnSpc>
                        <a:buNone/>
                      </a:pPr>
                      <a:r>
                        <a:rPr lang="en-US" sz="1347" dirty="0">
                          <a:solidFill>
                            <a:srgbClr val="1E1E1E"/>
                          </a:solidFill>
                          <a:latin typeface="IBM Plex Sans" pitchFamily="34" charset="0"/>
                          <a:ea typeface="IBM Plex Sans" pitchFamily="34" charset="-122"/>
                          <a:cs typeface="IBM Plex Sans" pitchFamily="34" charset="-120"/>
                        </a:rPr>
                        <a:t>Plugin hooks in JS/TS (tool.execute.before)</a:t>
                      </a:r>
                      <a:endParaRPr lang="en-US" sz="1347"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bl>
          </a:graphicData>
        </a:graphic>
      </p:graphicFrame>
      <p:sp>
        <p:nvSpPr>
          <p:cNvPr id="5" name="Shape 2"/>
          <p:cNvSpPr/>
          <p:nvPr/>
        </p:nvSpPr>
        <p:spPr>
          <a:xfrm>
            <a:off x="819150" y="5342533"/>
            <a:ext cx="10553700" cy="493216"/>
          </a:xfrm>
          <a:prstGeom prst="roundRect">
            <a:avLst>
              <a:gd name="adj" fmla="val 19312"/>
            </a:avLst>
          </a:prstGeom>
          <a:noFill/>
          <a:ln w="12700">
            <a:solidFill>
              <a:srgbClr val="0B3C6F"/>
            </a:solidFill>
            <a:prstDash val="solid"/>
          </a:ln>
        </p:spPr>
      </p:sp>
      <p:pic>
        <p:nvPicPr>
          <p:cNvPr id="6" name="Image 0" descr="Link">    </p:cNvPr>
          <p:cNvPicPr>
            <a:picLocks noChangeAspect="1"/>
          </p:cNvPicPr>
          <p:nvPr/>
        </p:nvPicPr>
        <p:blipFill>
          <a:blip r:embed="rId1"/>
          <a:srcRect l="0" r="0" t="0" b="0"/>
          <a:stretch/>
        </p:blipFill>
        <p:spPr>
          <a:xfrm>
            <a:off x="1003300" y="5449491"/>
            <a:ext cx="279400" cy="279400"/>
          </a:xfrm>
          <a:prstGeom prst="rect">
            <a:avLst/>
          </a:prstGeom>
        </p:spPr>
      </p:pic>
      <p:sp>
        <p:nvSpPr>
          <p:cNvPr id="7" name="Text 3"/>
          <p:cNvSpPr/>
          <p:nvPr/>
        </p:nvSpPr>
        <p:spPr>
          <a:xfrm>
            <a:off x="1435100" y="5464671"/>
            <a:ext cx="94246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Portable:</a:t>
            </a:r>
            <a:r>
              <a:rPr lang="en-US" sz="1400" dirty="0">
                <a:solidFill>
                  <a:srgbClr val="1E1E1E"/>
                </a:solidFill>
                <a:latin typeface="IBM Plex Sans" pitchFamily="34" charset="0"/>
                <a:ea typeface="IBM Plex Sans" pitchFamily="34" charset="-122"/>
                <a:cs typeface="IBM Plex Sans" pitchFamily="34" charset="-120"/>
              </a:rPr>
              <a:t> skills, MCP servers. </a:t>
            </a:r>
            <a:r>
              <a:rPr lang="en-US" sz="1400" b="1" dirty="0">
                <a:solidFill>
                  <a:srgbClr val="1E1E1E"/>
                </a:solidFill>
                <a:latin typeface="IBM Plex Sans" pitchFamily="34" charset="0"/>
                <a:ea typeface="IBM Plex Sans" pitchFamily="34" charset="-122"/>
                <a:cs typeface="IBM Plex Sans" pitchFamily="34" charset="-120"/>
              </a:rPr>
              <a:t>Check per tool:</a:t>
            </a:r>
            <a:r>
              <a:rPr lang="en-US" sz="1400" dirty="0">
                <a:solidFill>
                  <a:srgbClr val="1E1E1E"/>
                </a:solidFill>
                <a:latin typeface="IBM Plex Sans" pitchFamily="34" charset="0"/>
                <a:ea typeface="IBM Plex Sans" pitchFamily="34" charset="-122"/>
                <a:cs typeface="IBM Plex Sans" pitchFamily="34" charset="-120"/>
              </a:rPr>
              <a:t> instruction file names. </a:t>
            </a:r>
            <a:r>
              <a:rPr lang="en-US" sz="1400" b="1" dirty="0">
                <a:solidFill>
                  <a:srgbClr val="1E1E1E"/>
                </a:solidFill>
                <a:latin typeface="IBM Plex Sans" pitchFamily="34" charset="0"/>
                <a:ea typeface="IBM Plex Sans" pitchFamily="34" charset="-122"/>
                <a:cs typeface="IBM Plex Sans" pitchFamily="34" charset="-120"/>
              </a:rPr>
              <a:t>Not portable:</a:t>
            </a:r>
            <a:r>
              <a:rPr lang="en-US" sz="1400" dirty="0">
                <a:solidFill>
                  <a:srgbClr val="1E1E1E"/>
                </a:solidFill>
                <a:latin typeface="IBM Plex Sans" pitchFamily="34" charset="0"/>
                <a:ea typeface="IBM Plex Sans" pitchFamily="34" charset="-122"/>
                <a:cs typeface="IBM Plex Sans" pitchFamily="34" charset="-120"/>
              </a:rPr>
              <a:t> hooks, plugins.</a:t>
            </a:r>
            <a:endParaRPr lang="en-US" sz="14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Managing context in Copilot CLI; About the Copilot app; Customization cheat sheet. Microsoft Learn: Visual Studio agent mode.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04 · FROM PREDICTOR TO HARNESS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Why it matters: three ways to find code</a:t>
            </a:r>
            <a:endParaRPr lang="en-US" sz="3200" dirty="0"/>
          </a:p>
        </p:txBody>
      </p:sp>
      <p:sp>
        <p:nvSpPr>
          <p:cNvPr id="4" name="Shape 2"/>
          <p:cNvSpPr/>
          <p:nvPr/>
        </p:nvSpPr>
        <p:spPr>
          <a:xfrm>
            <a:off x="815975" y="1882676"/>
            <a:ext cx="3414216" cy="3504109"/>
          </a:xfrm>
          <a:prstGeom prst="roundRect">
            <a:avLst>
              <a:gd name="adj" fmla="val 3627"/>
            </a:avLst>
          </a:prstGeom>
          <a:solidFill>
            <a:srgbClr val="FBFBFC"/>
          </a:solidFill>
          <a:ln w="6350">
            <a:solidFill>
              <a:srgbClr val="D9D9D9"/>
            </a:solidFill>
            <a:prstDash val="solid"/>
          </a:ln>
        </p:spPr>
      </p:sp>
      <p:pic>
        <p:nvPicPr>
          <p:cNvPr id="5" name="Image 0" descr="Search">    </p:cNvPr>
          <p:cNvPicPr>
            <a:picLocks noChangeAspect="1"/>
          </p:cNvPicPr>
          <p:nvPr/>
        </p:nvPicPr>
        <p:blipFill>
          <a:blip r:embed="rId1"/>
          <a:srcRect l="0" r="0" t="0" b="0"/>
          <a:stretch/>
        </p:blipFill>
        <p:spPr>
          <a:xfrm>
            <a:off x="996950" y="2063651"/>
            <a:ext cx="304800" cy="304800"/>
          </a:xfrm>
          <a:prstGeom prst="rect">
            <a:avLst/>
          </a:prstGeom>
        </p:spPr>
      </p:pic>
      <p:sp>
        <p:nvSpPr>
          <p:cNvPr id="6" name="Text 3"/>
          <p:cNvSpPr/>
          <p:nvPr/>
        </p:nvSpPr>
        <p:spPr>
          <a:xfrm>
            <a:off x="1403350" y="2094111"/>
            <a:ext cx="19615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Semantic search</a:t>
            </a:r>
            <a:endParaRPr lang="en-US" sz="1600" dirty="0"/>
          </a:p>
        </p:txBody>
      </p:sp>
      <p:sp>
        <p:nvSpPr>
          <p:cNvPr id="7" name="Text 4"/>
          <p:cNvSpPr/>
          <p:nvPr/>
        </p:nvSpPr>
        <p:spPr>
          <a:xfrm>
            <a:off x="996950" y="2457351"/>
            <a:ext cx="3143834"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3C6F"/>
                </a:solidFill>
                <a:latin typeface="IBM Plex Sans" pitchFamily="34" charset="0"/>
                <a:ea typeface="IBM Plex Sans" pitchFamily="34" charset="-122"/>
                <a:cs typeface="IBM Plex Sans" pitchFamily="34" charset="-120"/>
              </a:rPr>
              <a:t>Good at:</a:t>
            </a:r>
            <a:r>
              <a:rPr lang="en-US" sz="1400" dirty="0">
                <a:solidFill>
                  <a:srgbClr val="1E1E1E"/>
                </a:solidFill>
                <a:latin typeface="IBM Plex Sans" pitchFamily="34" charset="0"/>
                <a:ea typeface="IBM Plex Sans" pitchFamily="34" charset="-122"/>
                <a:cs typeface="IBM Plex Sans" pitchFamily="34" charset="-120"/>
              </a:rPr>
              <a:t> “Where do we handle declines?” when you don’t know the names</a:t>
            </a:r>
            <a:endParaRPr lang="en-US" sz="1400" dirty="0"/>
          </a:p>
        </p:txBody>
      </p:sp>
      <p:sp>
        <p:nvSpPr>
          <p:cNvPr id="8" name="Text 5"/>
          <p:cNvSpPr/>
          <p:nvPr/>
        </p:nvSpPr>
        <p:spPr>
          <a:xfrm>
            <a:off x="996950" y="3266281"/>
            <a:ext cx="314383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5A8A"/>
                </a:solidFill>
                <a:latin typeface="IBM Plex Sans" pitchFamily="34" charset="0"/>
                <a:ea typeface="IBM Plex Sans" pitchFamily="34" charset="-122"/>
                <a:cs typeface="IBM Plex Sans" pitchFamily="34" charset="-120"/>
              </a:rPr>
              <a:t>Misses:</a:t>
            </a:r>
            <a:r>
              <a:rPr lang="en-US" sz="1400" dirty="0">
                <a:solidFill>
                  <a:srgbClr val="1E1E1E"/>
                </a:solidFill>
                <a:latin typeface="IBM Plex Sans" pitchFamily="34" charset="0"/>
                <a:ea typeface="IBM Plex Sans" pitchFamily="34" charset="-122"/>
                <a:cs typeface="IBM Plex Sans" pitchFamily="34" charset="-120"/>
              </a:rPr>
              <a:t> Ranked top matches, not every match; can skip a usage</a:t>
            </a:r>
            <a:endParaRPr lang="en-US" sz="1400" dirty="0"/>
          </a:p>
        </p:txBody>
      </p:sp>
      <p:sp>
        <p:nvSpPr>
          <p:cNvPr id="9" name="Shape 6"/>
          <p:cNvSpPr/>
          <p:nvPr/>
        </p:nvSpPr>
        <p:spPr>
          <a:xfrm>
            <a:off x="996950" y="4913114"/>
            <a:ext cx="3052266" cy="0"/>
          </a:xfrm>
          <a:prstGeom prst="line">
            <a:avLst/>
          </a:prstGeom>
          <a:noFill/>
          <a:ln w="6350">
            <a:solidFill>
              <a:srgbClr val="D9D9D9"/>
            </a:solidFill>
            <a:prstDash val="solid"/>
          </a:ln>
        </p:spPr>
      </p:sp>
      <p:sp>
        <p:nvSpPr>
          <p:cNvPr id="10" name="Text 7"/>
          <p:cNvSpPr/>
          <p:nvPr/>
        </p:nvSpPr>
        <p:spPr>
          <a:xfrm>
            <a:off x="996950" y="4992489"/>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Default in Visual Studio</a:t>
            </a:r>
            <a:endParaRPr lang="en-US" sz="1200" dirty="0"/>
          </a:p>
        </p:txBody>
      </p:sp>
      <p:sp>
        <p:nvSpPr>
          <p:cNvPr id="11" name="Shape 8"/>
          <p:cNvSpPr/>
          <p:nvPr/>
        </p:nvSpPr>
        <p:spPr>
          <a:xfrm>
            <a:off x="4388941" y="1882676"/>
            <a:ext cx="3414216" cy="3504109"/>
          </a:xfrm>
          <a:prstGeom prst="roundRect">
            <a:avLst>
              <a:gd name="adj" fmla="val 3627"/>
            </a:avLst>
          </a:prstGeom>
          <a:solidFill>
            <a:srgbClr val="FBFBFC"/>
          </a:solidFill>
          <a:ln w="6350">
            <a:solidFill>
              <a:srgbClr val="D9D9D9"/>
            </a:solidFill>
            <a:prstDash val="solid"/>
          </a:ln>
        </p:spPr>
      </p:sp>
      <p:pic>
        <p:nvPicPr>
          <p:cNvPr id="12" name="Image 1" descr="Code">    </p:cNvPr>
          <p:cNvPicPr>
            <a:picLocks noChangeAspect="1"/>
          </p:cNvPicPr>
          <p:nvPr/>
        </p:nvPicPr>
        <p:blipFill>
          <a:blip r:embed="rId2"/>
          <a:srcRect l="0" r="0" t="0" b="0"/>
          <a:stretch/>
        </p:blipFill>
        <p:spPr>
          <a:xfrm>
            <a:off x="4569916" y="2063651"/>
            <a:ext cx="304800" cy="304800"/>
          </a:xfrm>
          <a:prstGeom prst="rect">
            <a:avLst/>
          </a:prstGeom>
        </p:spPr>
      </p:pic>
      <p:sp>
        <p:nvSpPr>
          <p:cNvPr id="13" name="Text 9"/>
          <p:cNvSpPr/>
          <p:nvPr/>
        </p:nvSpPr>
        <p:spPr>
          <a:xfrm>
            <a:off x="4976316" y="2094111"/>
            <a:ext cx="21544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Text search (grep)</a:t>
            </a:r>
            <a:endParaRPr lang="en-US" sz="1600" dirty="0"/>
          </a:p>
        </p:txBody>
      </p:sp>
      <p:sp>
        <p:nvSpPr>
          <p:cNvPr id="14" name="Text 10"/>
          <p:cNvSpPr/>
          <p:nvPr/>
        </p:nvSpPr>
        <p:spPr>
          <a:xfrm>
            <a:off x="4569916" y="2457351"/>
            <a:ext cx="314383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3C6F"/>
                </a:solidFill>
                <a:latin typeface="IBM Plex Sans" pitchFamily="34" charset="0"/>
                <a:ea typeface="IBM Plex Sans" pitchFamily="34" charset="-122"/>
                <a:cs typeface="IBM Plex Sans" pitchFamily="34" charset="-120"/>
              </a:rPr>
              <a:t>Good at:</a:t>
            </a:r>
            <a:r>
              <a:rPr lang="en-US" sz="1400" dirty="0">
                <a:solidFill>
                  <a:srgbClr val="1E1E1E"/>
                </a:solidFill>
                <a:latin typeface="IBM Plex Sans" pitchFamily="34" charset="0"/>
                <a:ea typeface="IBM Plex Sans" pitchFamily="34" charset="-122"/>
                <a:cs typeface="IBM Plex Sans" pitchFamily="34" charset="-120"/>
              </a:rPr>
              <a:t> Exact strings; always current; cheap per call</a:t>
            </a:r>
            <a:endParaRPr lang="en-US" sz="1400" dirty="0"/>
          </a:p>
        </p:txBody>
      </p:sp>
      <p:sp>
        <p:nvSpPr>
          <p:cNvPr id="15" name="Text 11"/>
          <p:cNvSpPr/>
          <p:nvPr/>
        </p:nvSpPr>
        <p:spPr>
          <a:xfrm>
            <a:off x="4569916" y="3026271"/>
            <a:ext cx="314383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5A8A"/>
                </a:solidFill>
                <a:latin typeface="IBM Plex Sans" pitchFamily="34" charset="0"/>
                <a:ea typeface="IBM Plex Sans" pitchFamily="34" charset="-122"/>
                <a:cs typeface="IBM Plex Sans" pitchFamily="34" charset="-120"/>
              </a:rPr>
              <a:t>Misses:</a:t>
            </a:r>
            <a:r>
              <a:rPr lang="en-US" sz="1400" dirty="0">
                <a:solidFill>
                  <a:srgbClr val="1E1E1E"/>
                </a:solidFill>
                <a:latin typeface="IBM Plex Sans" pitchFamily="34" charset="0"/>
                <a:ea typeface="IBM Plex Sans" pitchFamily="34" charset="-122"/>
                <a:cs typeface="IBM Plex Sans" pitchFamily="34" charset="-120"/>
              </a:rPr>
              <a:t> Synonyms and indirect calls; needs many calls to explore</a:t>
            </a:r>
            <a:endParaRPr lang="en-US" sz="1400" dirty="0"/>
          </a:p>
        </p:txBody>
      </p:sp>
      <p:sp>
        <p:nvSpPr>
          <p:cNvPr id="16" name="Shape 12"/>
          <p:cNvSpPr/>
          <p:nvPr/>
        </p:nvSpPr>
        <p:spPr>
          <a:xfrm>
            <a:off x="4569916" y="4913114"/>
            <a:ext cx="3052266" cy="0"/>
          </a:xfrm>
          <a:prstGeom prst="line">
            <a:avLst/>
          </a:prstGeom>
          <a:noFill/>
          <a:ln w="6350">
            <a:solidFill>
              <a:srgbClr val="D9D9D9"/>
            </a:solidFill>
            <a:prstDash val="solid"/>
          </a:ln>
        </p:spPr>
      </p:sp>
      <p:sp>
        <p:nvSpPr>
          <p:cNvPr id="17" name="Text 13"/>
          <p:cNvSpPr/>
          <p:nvPr/>
        </p:nvSpPr>
        <p:spPr>
          <a:xfrm>
            <a:off x="4569916" y="4992489"/>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Default in the CLI, app, and OpenCode</a:t>
            </a:r>
            <a:endParaRPr lang="en-US" sz="1200" dirty="0"/>
          </a:p>
        </p:txBody>
      </p:sp>
      <p:sp>
        <p:nvSpPr>
          <p:cNvPr id="18" name="Shape 14"/>
          <p:cNvSpPr/>
          <p:nvPr/>
        </p:nvSpPr>
        <p:spPr>
          <a:xfrm>
            <a:off x="7961908" y="1882676"/>
            <a:ext cx="3414216" cy="3504109"/>
          </a:xfrm>
          <a:prstGeom prst="roundRect">
            <a:avLst>
              <a:gd name="adj" fmla="val 3627"/>
            </a:avLst>
          </a:prstGeom>
          <a:solidFill>
            <a:srgbClr val="FBFBFC"/>
          </a:solidFill>
          <a:ln w="6350">
            <a:solidFill>
              <a:srgbClr val="D9D9D9"/>
            </a:solidFill>
            <a:prstDash val="solid"/>
          </a:ln>
        </p:spPr>
      </p:sp>
      <p:pic>
        <p:nvPicPr>
          <p:cNvPr id="19" name="Image 2" descr="Verified">    </p:cNvPr>
          <p:cNvPicPr>
            <a:picLocks noChangeAspect="1"/>
          </p:cNvPicPr>
          <p:nvPr/>
        </p:nvPicPr>
        <p:blipFill>
          <a:blip r:embed="rId3"/>
          <a:srcRect l="0" r="0" t="0" b="0"/>
          <a:stretch/>
        </p:blipFill>
        <p:spPr>
          <a:xfrm>
            <a:off x="8142883" y="2063651"/>
            <a:ext cx="304800" cy="304800"/>
          </a:xfrm>
          <a:prstGeom prst="rect">
            <a:avLst/>
          </a:prstGeom>
        </p:spPr>
      </p:pic>
      <p:sp>
        <p:nvSpPr>
          <p:cNvPr id="20" name="Text 15"/>
          <p:cNvSpPr/>
          <p:nvPr/>
        </p:nvSpPr>
        <p:spPr>
          <a:xfrm>
            <a:off x="8549283" y="2094111"/>
            <a:ext cx="195798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Language server</a:t>
            </a:r>
            <a:endParaRPr lang="en-US" sz="1600" dirty="0"/>
          </a:p>
        </p:txBody>
      </p:sp>
      <p:sp>
        <p:nvSpPr>
          <p:cNvPr id="21" name="Text 16"/>
          <p:cNvSpPr/>
          <p:nvPr/>
        </p:nvSpPr>
        <p:spPr>
          <a:xfrm>
            <a:off x="8142883" y="2457351"/>
            <a:ext cx="3143834" cy="74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B3C6F"/>
                </a:solidFill>
                <a:latin typeface="IBM Plex Sans" pitchFamily="34" charset="0"/>
                <a:ea typeface="IBM Plex Sans" pitchFamily="34" charset="-122"/>
                <a:cs typeface="IBM Plex Sans" pitchFamily="34" charset="-120"/>
              </a:rPr>
              <a:t>Good at:</a:t>
            </a:r>
            <a:r>
              <a:rPr lang="en-US" sz="1400" dirty="0">
                <a:solidFill>
                  <a:srgbClr val="1E1E1E"/>
                </a:solidFill>
                <a:latin typeface="IBM Plex Sans" pitchFamily="34" charset="0"/>
                <a:ea typeface="IBM Plex Sans" pitchFamily="34" charset="-122"/>
                <a:cs typeface="IBM Plex Sans" pitchFamily="34" charset="-120"/>
              </a:rPr>
              <a:t> Every reference, true definitions, safe renames, compiler errors after edits</a:t>
            </a:r>
            <a:endParaRPr lang="en-US" sz="1400" dirty="0"/>
          </a:p>
        </p:txBody>
      </p:sp>
      <p:sp>
        <p:nvSpPr>
          <p:cNvPr id="22" name="Text 17"/>
          <p:cNvSpPr/>
          <p:nvPr/>
        </p:nvSpPr>
        <p:spPr>
          <a:xfrm>
            <a:off x="8142883" y="3266281"/>
            <a:ext cx="3143834" cy="50542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0A5A8A"/>
                </a:solidFill>
                <a:latin typeface="IBM Plex Sans" pitchFamily="34" charset="0"/>
                <a:ea typeface="IBM Plex Sans" pitchFamily="34" charset="-122"/>
                <a:cs typeface="IBM Plex Sans" pitchFamily="34" charset="-120"/>
              </a:rPr>
              <a:t>Misses:</a:t>
            </a:r>
            <a:r>
              <a:rPr lang="en-US" sz="1400" dirty="0">
                <a:solidFill>
                  <a:srgbClr val="1E1E1E"/>
                </a:solidFill>
                <a:latin typeface="IBM Plex Sans" pitchFamily="34" charset="0"/>
                <a:ea typeface="IBM Plex Sans" pitchFamily="34" charset="-122"/>
                <a:cs typeface="IBM Plex Sans" pitchFamily="34" charset="-120"/>
              </a:rPr>
              <a:t> Needs a working language server and a project that builds</a:t>
            </a:r>
            <a:endParaRPr lang="en-US" sz="1400" dirty="0"/>
          </a:p>
        </p:txBody>
      </p:sp>
      <p:sp>
        <p:nvSpPr>
          <p:cNvPr id="23" name="Shape 18"/>
          <p:cNvSpPr/>
          <p:nvPr/>
        </p:nvSpPr>
        <p:spPr>
          <a:xfrm>
            <a:off x="8142883" y="4699794"/>
            <a:ext cx="3052266" cy="0"/>
          </a:xfrm>
          <a:prstGeom prst="line">
            <a:avLst/>
          </a:prstGeom>
          <a:noFill/>
          <a:ln w="6350">
            <a:solidFill>
              <a:srgbClr val="D9D9D9"/>
            </a:solidFill>
            <a:prstDash val="solid"/>
          </a:ln>
        </p:spPr>
      </p:sp>
      <p:sp>
        <p:nvSpPr>
          <p:cNvPr id="24" name="Text 19"/>
          <p:cNvSpPr/>
          <p:nvPr/>
        </p:nvSpPr>
        <p:spPr>
          <a:xfrm>
            <a:off x="8142883" y="4779169"/>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Visual Studio find_symbol; OpenCode auto; CLI if configured</a:t>
            </a:r>
            <a:endParaRPr lang="en-US" sz="1200" dirty="0"/>
          </a:p>
        </p:txBody>
      </p:sp>
      <p:sp>
        <p:nvSpPr>
          <p:cNvPr id="25" name="Text 20"/>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For a big refactor, one missed reference is a bug.</a:t>
            </a:r>
            <a:r>
              <a:rPr lang="en-US" sz="1400" dirty="0">
                <a:solidFill>
                  <a:srgbClr val="1E1E1E"/>
                </a:solidFill>
                <a:latin typeface="IBM Plex Sans" pitchFamily="34" charset="0"/>
                <a:ea typeface="IBM Plex Sans" pitchFamily="34" charset="-122"/>
                <a:cs typeface="IBM Plex Sans" pitchFamily="34" charset="-120"/>
              </a:rPr>
              <a:t> Visual Studio has this built in; in the CLI, configure a C# language server first.</a:t>
            </a:r>
            <a:endParaRPr lang="en-US" sz="1400" dirty="0"/>
          </a:p>
        </p:txBody>
      </p:sp>
      <p:sp>
        <p:nvSpPr>
          <p:cNvPr id="26"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Microsoft Learn (2026): Visual Studio agent mode; Copilot context. GitHub Docs: Copilot CLI LSP servers. Strengths and limits: our assessment.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127000" cy="127000"/>
          </a:xfrm>
          <a:prstGeom prst="roundRect">
            <a:avLst>
              <a:gd name="adj" fmla="val 50000"/>
            </a:avLst>
          </a:prstGeom>
          <a:solidFill>
            <a:srgbClr val="D9D9D9"/>
          </a:solidFill>
          <a:ln/>
        </p:spPr>
      </p:sp>
      <p:sp>
        <p:nvSpPr>
          <p:cNvPr id="6" name="Shape 4"/>
          <p:cNvSpPr/>
          <p:nvPr/>
        </p:nvSpPr>
        <p:spPr>
          <a:xfrm>
            <a:off x="1625600" y="812800"/>
            <a:ext cx="457200" cy="127000"/>
          </a:xfrm>
          <a:prstGeom prst="roundRect">
            <a:avLst>
              <a:gd name="adj" fmla="val 50000"/>
            </a:avLst>
          </a:prstGeom>
          <a:solidFill>
            <a:srgbClr val="00AEEF"/>
          </a:solidFill>
          <a:ln/>
        </p:spPr>
      </p:sp>
      <p:sp>
        <p:nvSpPr>
          <p:cNvPr id="7" name="Shape 5"/>
          <p:cNvSpPr/>
          <p:nvPr/>
        </p:nvSpPr>
        <p:spPr>
          <a:xfrm>
            <a:off x="2159000" y="812800"/>
            <a:ext cx="127000" cy="127000"/>
          </a:xfrm>
          <a:prstGeom prst="roundRect">
            <a:avLst>
              <a:gd name="adj" fmla="val 50000"/>
            </a:avLst>
          </a:prstGeom>
          <a:solidFill>
            <a:srgbClr val="D9D9D9"/>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05</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The agent loop</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The loop every agent runs, what the harness sends each turn, and what happens when it fills up</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05 · THE AGENT LOOP</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Every coding agent runs the same loop</a:t>
            </a:r>
            <a:endParaRPr lang="en-US" sz="3200" dirty="0"/>
          </a:p>
        </p:txBody>
      </p:sp>
      <p:sp>
        <p:nvSpPr>
          <p:cNvPr id="4" name="Shape 2"/>
          <p:cNvSpPr/>
          <p:nvPr/>
        </p:nvSpPr>
        <p:spPr>
          <a:xfrm>
            <a:off x="819150" y="3028851"/>
            <a:ext cx="2273300" cy="1003300"/>
          </a:xfrm>
          <a:prstGeom prst="roundRect">
            <a:avLst>
              <a:gd name="adj" fmla="val 9494"/>
            </a:avLst>
          </a:prstGeom>
          <a:solidFill>
            <a:srgbClr val="FBFBFC"/>
          </a:solidFill>
          <a:ln w="12700">
            <a:solidFill>
              <a:srgbClr val="D9D9D9"/>
            </a:solidFill>
            <a:prstDash val="solid"/>
          </a:ln>
        </p:spPr>
      </p:sp>
      <p:sp>
        <p:nvSpPr>
          <p:cNvPr id="5" name="Text 3"/>
          <p:cNvSpPr/>
          <p:nvPr/>
        </p:nvSpPr>
        <p:spPr>
          <a:xfrm>
            <a:off x="977900" y="329178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1 · Gather</a:t>
            </a:r>
            <a:endParaRPr lang="en-US" sz="1400" dirty="0"/>
          </a:p>
        </p:txBody>
      </p:sp>
      <p:sp>
        <p:nvSpPr>
          <p:cNvPr id="6" name="Text 4"/>
          <p:cNvSpPr/>
          <p:nvPr/>
        </p:nvSpPr>
        <p:spPr>
          <a:xfrm>
            <a:off x="977900" y="355590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prompt + instructions</a:t>
            </a:r>
            <a:endParaRPr lang="en-US" sz="1200" dirty="0"/>
          </a:p>
        </p:txBody>
      </p:sp>
      <p:sp>
        <p:nvSpPr>
          <p:cNvPr id="7" name="Shape 5"/>
          <p:cNvSpPr/>
          <p:nvPr/>
        </p:nvSpPr>
        <p:spPr>
          <a:xfrm>
            <a:off x="4959350" y="1885851"/>
            <a:ext cx="2273300" cy="1003300"/>
          </a:xfrm>
          <a:prstGeom prst="roundRect">
            <a:avLst>
              <a:gd name="adj" fmla="val 9494"/>
            </a:avLst>
          </a:prstGeom>
          <a:solidFill>
            <a:srgbClr val="FBFBFC"/>
          </a:solidFill>
          <a:ln w="12700">
            <a:solidFill>
              <a:srgbClr val="D9D9D9"/>
            </a:solidFill>
            <a:prstDash val="solid"/>
          </a:ln>
        </p:spPr>
      </p:sp>
      <p:sp>
        <p:nvSpPr>
          <p:cNvPr id="8" name="Text 6"/>
          <p:cNvSpPr/>
          <p:nvPr/>
        </p:nvSpPr>
        <p:spPr>
          <a:xfrm>
            <a:off x="5118100" y="214878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2 · Decide</a:t>
            </a:r>
            <a:endParaRPr lang="en-US" sz="1400" dirty="0"/>
          </a:p>
        </p:txBody>
      </p:sp>
      <p:sp>
        <p:nvSpPr>
          <p:cNvPr id="9" name="Text 7"/>
          <p:cNvSpPr/>
          <p:nvPr/>
        </p:nvSpPr>
        <p:spPr>
          <a:xfrm>
            <a:off x="5118100" y="241290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model picks next step</a:t>
            </a:r>
            <a:endParaRPr lang="en-US" sz="1200" dirty="0"/>
          </a:p>
        </p:txBody>
      </p:sp>
      <p:sp>
        <p:nvSpPr>
          <p:cNvPr id="10" name="Shape 8"/>
          <p:cNvSpPr/>
          <p:nvPr/>
        </p:nvSpPr>
        <p:spPr>
          <a:xfrm>
            <a:off x="9099550" y="3028851"/>
            <a:ext cx="2273300" cy="1003300"/>
          </a:xfrm>
          <a:prstGeom prst="roundRect">
            <a:avLst>
              <a:gd name="adj" fmla="val 9494"/>
            </a:avLst>
          </a:prstGeom>
          <a:solidFill>
            <a:srgbClr val="FBFBFC"/>
          </a:solidFill>
          <a:ln w="12700">
            <a:solidFill>
              <a:srgbClr val="D9D9D9"/>
            </a:solidFill>
            <a:prstDash val="solid"/>
          </a:ln>
        </p:spPr>
      </p:sp>
      <p:sp>
        <p:nvSpPr>
          <p:cNvPr id="11" name="Text 9"/>
          <p:cNvSpPr/>
          <p:nvPr/>
        </p:nvSpPr>
        <p:spPr>
          <a:xfrm>
            <a:off x="9258300" y="329178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3 · Act</a:t>
            </a:r>
            <a:endParaRPr lang="en-US" sz="1400" dirty="0"/>
          </a:p>
        </p:txBody>
      </p:sp>
      <p:sp>
        <p:nvSpPr>
          <p:cNvPr id="12" name="Text 10"/>
          <p:cNvSpPr/>
          <p:nvPr/>
        </p:nvSpPr>
        <p:spPr>
          <a:xfrm>
            <a:off x="9258300" y="355590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read, edit, or run</a:t>
            </a:r>
            <a:endParaRPr lang="en-US" sz="1200" dirty="0"/>
          </a:p>
        </p:txBody>
      </p:sp>
      <p:sp>
        <p:nvSpPr>
          <p:cNvPr id="13" name="Shape 11"/>
          <p:cNvSpPr/>
          <p:nvPr/>
        </p:nvSpPr>
        <p:spPr>
          <a:xfrm>
            <a:off x="4959350" y="4171851"/>
            <a:ext cx="2273300" cy="1003300"/>
          </a:xfrm>
          <a:prstGeom prst="roundRect">
            <a:avLst>
              <a:gd name="adj" fmla="val 9494"/>
            </a:avLst>
          </a:prstGeom>
          <a:solidFill>
            <a:srgbClr val="FBFBFC"/>
          </a:solidFill>
          <a:ln w="12700">
            <a:solidFill>
              <a:srgbClr val="D9D9D9"/>
            </a:solidFill>
            <a:prstDash val="solid"/>
          </a:ln>
        </p:spPr>
      </p:sp>
      <p:sp>
        <p:nvSpPr>
          <p:cNvPr id="14" name="Text 12"/>
          <p:cNvSpPr/>
          <p:nvPr/>
        </p:nvSpPr>
        <p:spPr>
          <a:xfrm>
            <a:off x="5118100" y="443478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4 · Observe</a:t>
            </a:r>
            <a:endParaRPr lang="en-US" sz="1400" dirty="0"/>
          </a:p>
        </p:txBody>
      </p:sp>
      <p:sp>
        <p:nvSpPr>
          <p:cNvPr id="15" name="Text 13"/>
          <p:cNvSpPr/>
          <p:nvPr/>
        </p:nvSpPr>
        <p:spPr>
          <a:xfrm>
            <a:off x="5118100" y="469890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result joins context</a:t>
            </a:r>
            <a:endParaRPr lang="en-US" sz="1200" dirty="0"/>
          </a:p>
        </p:txBody>
      </p:sp>
      <p:pic>
        <p:nvPicPr>
          <p:cNvPr id="16" name="Image 0" descr="connector">    </p:cNvPr>
          <p:cNvPicPr>
            <a:picLocks noChangeAspect="1"/>
          </p:cNvPicPr>
          <p:nvPr/>
        </p:nvPicPr>
        <p:blipFill>
          <a:blip r:embed="rId1"/>
          <a:srcRect l="0" r="0" t="0" b="0"/>
          <a:stretch/>
        </p:blipFill>
        <p:spPr>
          <a:xfrm>
            <a:off x="1892300" y="2324001"/>
            <a:ext cx="3124200" cy="762000"/>
          </a:xfrm>
          <a:prstGeom prst="rect">
            <a:avLst/>
          </a:prstGeom>
        </p:spPr>
      </p:pic>
      <p:pic>
        <p:nvPicPr>
          <p:cNvPr id="17" name="Image 1" descr="connector">    </p:cNvPr>
          <p:cNvPicPr>
            <a:picLocks noChangeAspect="1"/>
          </p:cNvPicPr>
          <p:nvPr/>
        </p:nvPicPr>
        <p:blipFill>
          <a:blip r:embed="rId2"/>
          <a:srcRect l="0" r="0" t="0" b="0"/>
          <a:stretch/>
        </p:blipFill>
        <p:spPr>
          <a:xfrm>
            <a:off x="7175500" y="2324001"/>
            <a:ext cx="3124200" cy="762000"/>
          </a:xfrm>
          <a:prstGeom prst="rect">
            <a:avLst/>
          </a:prstGeom>
        </p:spPr>
      </p:pic>
      <p:pic>
        <p:nvPicPr>
          <p:cNvPr id="18" name="Image 2" descr="connector">    </p:cNvPr>
          <p:cNvPicPr>
            <a:picLocks noChangeAspect="1"/>
          </p:cNvPicPr>
          <p:nvPr/>
        </p:nvPicPr>
        <p:blipFill>
          <a:blip r:embed="rId3"/>
          <a:srcRect l="0" r="0" t="0" b="0"/>
          <a:stretch/>
        </p:blipFill>
        <p:spPr>
          <a:xfrm>
            <a:off x="7175500" y="3975001"/>
            <a:ext cx="3124200" cy="762000"/>
          </a:xfrm>
          <a:prstGeom prst="rect">
            <a:avLst/>
          </a:prstGeom>
        </p:spPr>
      </p:pic>
      <p:pic>
        <p:nvPicPr>
          <p:cNvPr id="19" name="Image 3" descr="connector">    </p:cNvPr>
          <p:cNvPicPr>
            <a:picLocks noChangeAspect="1"/>
          </p:cNvPicPr>
          <p:nvPr/>
        </p:nvPicPr>
        <p:blipFill>
          <a:blip r:embed="rId4"/>
          <a:srcRect l="0" r="0" t="0" b="0"/>
          <a:stretch/>
        </p:blipFill>
        <p:spPr>
          <a:xfrm>
            <a:off x="6032500" y="2832001"/>
            <a:ext cx="127000" cy="1397000"/>
          </a:xfrm>
          <a:prstGeom prst="rect">
            <a:avLst/>
          </a:prstGeom>
        </p:spPr>
      </p:pic>
      <p:sp>
        <p:nvSpPr>
          <p:cNvPr id="20" name="Text 14"/>
          <p:cNvSpPr/>
          <p:nvPr/>
        </p:nvSpPr>
        <p:spPr>
          <a:xfrm>
            <a:off x="6248400" y="3403501"/>
            <a:ext cx="23545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A8A"/>
                </a:solidFill>
                <a:latin typeface="IBM Plex Sans" pitchFamily="34" charset="0"/>
                <a:ea typeface="IBM Plex Sans" pitchFamily="34" charset="-122"/>
                <a:cs typeface="IBM Plex Sans" pitchFamily="34" charset="-120"/>
              </a:rPr>
              <a:t>repeat until done</a:t>
            </a:r>
            <a:endParaRPr lang="en-US" sz="1400" dirty="0"/>
          </a:p>
        </p:txBody>
      </p:sp>
      <p:sp>
        <p:nvSpPr>
          <p:cNvPr id="21" name="Text 15"/>
          <p:cNvSpPr/>
          <p:nvPr/>
        </p:nvSpPr>
        <p:spPr>
          <a:xfrm>
            <a:off x="812800" y="53847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It exits when the model decides it’s finished — then </a:t>
            </a:r>
            <a:r>
              <a:rPr lang="en-US" sz="1400" b="1" dirty="0">
                <a:solidFill>
                  <a:srgbClr val="1E1E1E"/>
                </a:solidFill>
                <a:latin typeface="IBM Plex Sans" pitchFamily="34" charset="0"/>
                <a:ea typeface="IBM Plex Sans" pitchFamily="34" charset="-122"/>
                <a:cs typeface="IBM Plex Sans" pitchFamily="34" charset="-120"/>
              </a:rPr>
              <a:t>you</a:t>
            </a:r>
            <a:r>
              <a:rPr lang="en-US" sz="1400" dirty="0">
                <a:solidFill>
                  <a:srgbClr val="1E1E1E"/>
                </a:solidFill>
                <a:latin typeface="IBM Plex Sans" pitchFamily="34" charset="0"/>
                <a:ea typeface="IBM Plex Sans" pitchFamily="34" charset="-122"/>
                <a:cs typeface="IBM Plex Sans" pitchFamily="34" charset="-120"/>
              </a:rPr>
              <a:t> review the result.</a:t>
            </a:r>
            <a:endParaRPr lang="en-US" sz="14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Yao et al., ReAct, 2022; Anthropic, “Building effective agents,” 2024; GitHub Docs, Copilot SDK “Agent Loop”</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05 · THE AGENT LOOP</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Every turn, the harness rebuilds the model’s input</a:t>
            </a:r>
            <a:endParaRPr lang="en-US" sz="3200" dirty="0"/>
          </a:p>
        </p:txBody>
      </p:sp>
      <p:sp>
        <p:nvSpPr>
          <p:cNvPr id="4" name="Text 2"/>
          <p:cNvSpPr/>
          <p:nvPr/>
        </p:nvSpPr>
        <p:spPr>
          <a:xfrm>
            <a:off x="812800" y="1879699"/>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WHAT GETS SENT, EVERY CALL</a:t>
            </a:r>
            <a:endParaRPr lang="en-US" sz="1200" dirty="0"/>
          </a:p>
        </p:txBody>
      </p:sp>
      <p:sp>
        <p:nvSpPr>
          <p:cNvPr id="5" name="Shape 3"/>
          <p:cNvSpPr/>
          <p:nvPr/>
        </p:nvSpPr>
        <p:spPr>
          <a:xfrm>
            <a:off x="815975" y="2134295"/>
            <a:ext cx="4438650" cy="422870"/>
          </a:xfrm>
          <a:prstGeom prst="roundRect">
            <a:avLst>
              <a:gd name="adj" fmla="val 14266"/>
            </a:avLst>
          </a:prstGeom>
          <a:solidFill>
            <a:srgbClr val="DCEEF9"/>
          </a:solidFill>
          <a:ln w="6350">
            <a:solidFill>
              <a:srgbClr val="D9D9D9"/>
            </a:solidFill>
            <a:prstDash val="solid"/>
          </a:ln>
        </p:spPr>
      </p:sp>
      <p:sp>
        <p:nvSpPr>
          <p:cNvPr id="6" name="Text 4"/>
          <p:cNvSpPr/>
          <p:nvPr/>
        </p:nvSpPr>
        <p:spPr>
          <a:xfrm>
            <a:off x="946150" y="2239070"/>
            <a:ext cx="12940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System prompt</a:t>
            </a:r>
            <a:endParaRPr lang="en-US" sz="1200" dirty="0"/>
          </a:p>
        </p:txBody>
      </p:sp>
      <p:sp>
        <p:nvSpPr>
          <p:cNvPr id="7" name="Text 5"/>
          <p:cNvSpPr/>
          <p:nvPr/>
        </p:nvSpPr>
        <p:spPr>
          <a:xfrm>
            <a:off x="3255050" y="2239070"/>
            <a:ext cx="18694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harness: role and rules</a:t>
            </a:r>
            <a:endParaRPr lang="en-US" sz="1200" dirty="0"/>
          </a:p>
        </p:txBody>
      </p:sp>
      <p:sp>
        <p:nvSpPr>
          <p:cNvPr id="8" name="Shape 6"/>
          <p:cNvSpPr/>
          <p:nvPr/>
        </p:nvSpPr>
        <p:spPr>
          <a:xfrm>
            <a:off x="815975" y="2601615"/>
            <a:ext cx="4438650" cy="422870"/>
          </a:xfrm>
          <a:prstGeom prst="roundRect">
            <a:avLst>
              <a:gd name="adj" fmla="val 14266"/>
            </a:avLst>
          </a:prstGeom>
          <a:solidFill>
            <a:srgbClr val="DCEEF9"/>
          </a:solidFill>
          <a:ln w="6350">
            <a:solidFill>
              <a:srgbClr val="D9D9D9"/>
            </a:solidFill>
            <a:prstDash val="solid"/>
          </a:ln>
        </p:spPr>
      </p:sp>
      <p:sp>
        <p:nvSpPr>
          <p:cNvPr id="9" name="Text 7"/>
          <p:cNvSpPr/>
          <p:nvPr/>
        </p:nvSpPr>
        <p:spPr>
          <a:xfrm>
            <a:off x="946150" y="2706390"/>
            <a:ext cx="13009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Tool definitions</a:t>
            </a:r>
            <a:endParaRPr lang="en-US" sz="1200" dirty="0"/>
          </a:p>
        </p:txBody>
      </p:sp>
      <p:sp>
        <p:nvSpPr>
          <p:cNvPr id="10" name="Text 8"/>
          <p:cNvSpPr/>
          <p:nvPr/>
        </p:nvSpPr>
        <p:spPr>
          <a:xfrm>
            <a:off x="2323405" y="2706390"/>
            <a:ext cx="280104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harness: name, purpose, parameters</a:t>
            </a:r>
            <a:endParaRPr lang="en-US" sz="1200" dirty="0"/>
          </a:p>
        </p:txBody>
      </p:sp>
      <p:sp>
        <p:nvSpPr>
          <p:cNvPr id="11" name="Shape 9"/>
          <p:cNvSpPr/>
          <p:nvPr/>
        </p:nvSpPr>
        <p:spPr>
          <a:xfrm>
            <a:off x="815975" y="3068935"/>
            <a:ext cx="4438650" cy="422870"/>
          </a:xfrm>
          <a:prstGeom prst="roundRect">
            <a:avLst>
              <a:gd name="adj" fmla="val 14266"/>
            </a:avLst>
          </a:prstGeom>
          <a:solidFill>
            <a:srgbClr val="FBFBFC"/>
          </a:solidFill>
          <a:ln w="6350">
            <a:solidFill>
              <a:srgbClr val="D9D9D9"/>
            </a:solidFill>
            <a:prstDash val="solid"/>
          </a:ln>
        </p:spPr>
      </p:sp>
      <p:sp>
        <p:nvSpPr>
          <p:cNvPr id="12" name="Text 10"/>
          <p:cNvSpPr/>
          <p:nvPr/>
        </p:nvSpPr>
        <p:spPr>
          <a:xfrm>
            <a:off x="946150" y="3173710"/>
            <a:ext cx="17003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Custom instructions</a:t>
            </a:r>
            <a:endParaRPr lang="en-US" sz="1200" dirty="0"/>
          </a:p>
        </p:txBody>
      </p:sp>
      <p:sp>
        <p:nvSpPr>
          <p:cNvPr id="13" name="Text 11"/>
          <p:cNvSpPr/>
          <p:nvPr/>
        </p:nvSpPr>
        <p:spPr>
          <a:xfrm>
            <a:off x="3243977" y="3173710"/>
            <a:ext cx="18804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your repo: AGENTS.md</a:t>
            </a:r>
            <a:endParaRPr lang="en-US" sz="1200" dirty="0"/>
          </a:p>
        </p:txBody>
      </p:sp>
      <p:sp>
        <p:nvSpPr>
          <p:cNvPr id="14" name="Shape 12"/>
          <p:cNvSpPr/>
          <p:nvPr/>
        </p:nvSpPr>
        <p:spPr>
          <a:xfrm>
            <a:off x="815975" y="3536255"/>
            <a:ext cx="4438650" cy="422870"/>
          </a:xfrm>
          <a:prstGeom prst="roundRect">
            <a:avLst>
              <a:gd name="adj" fmla="val 14266"/>
            </a:avLst>
          </a:prstGeom>
          <a:solidFill>
            <a:srgbClr val="FBFBFC"/>
          </a:solidFill>
          <a:ln w="6350">
            <a:solidFill>
              <a:srgbClr val="D9D9D9"/>
            </a:solidFill>
            <a:prstDash val="solid"/>
          </a:ln>
        </p:spPr>
      </p:sp>
      <p:sp>
        <p:nvSpPr>
          <p:cNvPr id="15" name="Text 13"/>
          <p:cNvSpPr/>
          <p:nvPr/>
        </p:nvSpPr>
        <p:spPr>
          <a:xfrm>
            <a:off x="946150" y="3641030"/>
            <a:ext cx="88082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Skill index</a:t>
            </a:r>
            <a:endParaRPr lang="en-US" sz="1200" dirty="0"/>
          </a:p>
        </p:txBody>
      </p:sp>
      <p:sp>
        <p:nvSpPr>
          <p:cNvPr id="16" name="Text 14"/>
          <p:cNvSpPr/>
          <p:nvPr/>
        </p:nvSpPr>
        <p:spPr>
          <a:xfrm>
            <a:off x="2780586" y="3641030"/>
            <a:ext cx="234386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names and descriptions only</a:t>
            </a:r>
            <a:endParaRPr lang="en-US" sz="1200" dirty="0"/>
          </a:p>
        </p:txBody>
      </p:sp>
      <p:sp>
        <p:nvSpPr>
          <p:cNvPr id="17" name="Shape 15"/>
          <p:cNvSpPr/>
          <p:nvPr/>
        </p:nvSpPr>
        <p:spPr>
          <a:xfrm>
            <a:off x="815975" y="4003576"/>
            <a:ext cx="4438650" cy="422870"/>
          </a:xfrm>
          <a:prstGeom prst="roundRect">
            <a:avLst>
              <a:gd name="adj" fmla="val 14266"/>
            </a:avLst>
          </a:prstGeom>
          <a:solidFill>
            <a:srgbClr val="ECECEC"/>
          </a:solidFill>
          <a:ln w="6350">
            <a:solidFill>
              <a:srgbClr val="D9D9D9"/>
            </a:solidFill>
            <a:prstDash val="solid"/>
          </a:ln>
        </p:spPr>
      </p:sp>
      <p:sp>
        <p:nvSpPr>
          <p:cNvPr id="18" name="Text 16"/>
          <p:cNvSpPr/>
          <p:nvPr/>
        </p:nvSpPr>
        <p:spPr>
          <a:xfrm>
            <a:off x="946150" y="4108351"/>
            <a:ext cx="16352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Conversation so far</a:t>
            </a:r>
            <a:endParaRPr lang="en-US" sz="1200" dirty="0"/>
          </a:p>
        </p:txBody>
      </p:sp>
      <p:sp>
        <p:nvSpPr>
          <p:cNvPr id="19" name="Text 17"/>
          <p:cNvSpPr/>
          <p:nvPr/>
        </p:nvSpPr>
        <p:spPr>
          <a:xfrm>
            <a:off x="3722846" y="4108351"/>
            <a:ext cx="140160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every earlier turn</a:t>
            </a:r>
            <a:endParaRPr lang="en-US" sz="1200" dirty="0"/>
          </a:p>
        </p:txBody>
      </p:sp>
      <p:sp>
        <p:nvSpPr>
          <p:cNvPr id="20" name="Shape 18"/>
          <p:cNvSpPr/>
          <p:nvPr/>
        </p:nvSpPr>
        <p:spPr>
          <a:xfrm>
            <a:off x="815975" y="4470896"/>
            <a:ext cx="4438650" cy="422870"/>
          </a:xfrm>
          <a:prstGeom prst="roundRect">
            <a:avLst>
              <a:gd name="adj" fmla="val 14266"/>
            </a:avLst>
          </a:prstGeom>
          <a:solidFill>
            <a:srgbClr val="ECECEC"/>
          </a:solidFill>
          <a:ln w="6350">
            <a:solidFill>
              <a:srgbClr val="D9D9D9"/>
            </a:solidFill>
            <a:prstDash val="solid"/>
          </a:ln>
        </p:spPr>
      </p:sp>
      <p:sp>
        <p:nvSpPr>
          <p:cNvPr id="21" name="Text 19"/>
          <p:cNvSpPr/>
          <p:nvPr/>
        </p:nvSpPr>
        <p:spPr>
          <a:xfrm>
            <a:off x="946150" y="4575671"/>
            <a:ext cx="9813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Tool results</a:t>
            </a:r>
            <a:endParaRPr lang="en-US" sz="1200" dirty="0"/>
          </a:p>
        </p:txBody>
      </p:sp>
      <p:sp>
        <p:nvSpPr>
          <p:cNvPr id="22" name="Text 20"/>
          <p:cNvSpPr/>
          <p:nvPr/>
        </p:nvSpPr>
        <p:spPr>
          <a:xfrm>
            <a:off x="3017996" y="4575671"/>
            <a:ext cx="210645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file contents, build output</a:t>
            </a:r>
            <a:endParaRPr lang="en-US" sz="1200" dirty="0"/>
          </a:p>
        </p:txBody>
      </p:sp>
      <p:sp>
        <p:nvSpPr>
          <p:cNvPr id="23" name="Shape 21"/>
          <p:cNvSpPr/>
          <p:nvPr/>
        </p:nvSpPr>
        <p:spPr>
          <a:xfrm>
            <a:off x="815975" y="4938216"/>
            <a:ext cx="4438650" cy="422870"/>
          </a:xfrm>
          <a:prstGeom prst="roundRect">
            <a:avLst>
              <a:gd name="adj" fmla="val 14266"/>
            </a:avLst>
          </a:prstGeom>
          <a:solidFill>
            <a:srgbClr val="FBFBFC"/>
          </a:solidFill>
          <a:ln w="6350">
            <a:solidFill>
              <a:srgbClr val="D9D9D9"/>
            </a:solidFill>
            <a:prstDash val="solid"/>
          </a:ln>
        </p:spPr>
      </p:sp>
      <p:sp>
        <p:nvSpPr>
          <p:cNvPr id="24" name="Text 22"/>
          <p:cNvSpPr/>
          <p:nvPr/>
        </p:nvSpPr>
        <p:spPr>
          <a:xfrm>
            <a:off x="946150" y="5042991"/>
            <a:ext cx="15797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Your latest prompt</a:t>
            </a:r>
            <a:endParaRPr lang="en-US" sz="1200" dirty="0"/>
          </a:p>
        </p:txBody>
      </p:sp>
      <p:pic>
        <p:nvPicPr>
          <p:cNvPr id="25" name="Image 0" descr="arrow-right">    </p:cNvPr>
          <p:cNvPicPr>
            <a:picLocks noChangeAspect="1"/>
          </p:cNvPicPr>
          <p:nvPr/>
        </p:nvPicPr>
        <p:blipFill>
          <a:blip r:embed="rId1"/>
          <a:srcRect l="0" r="0" t="0" b="0"/>
          <a:stretch/>
        </p:blipFill>
        <p:spPr>
          <a:xfrm>
            <a:off x="5410200" y="3545780"/>
            <a:ext cx="254000" cy="152400"/>
          </a:xfrm>
          <a:prstGeom prst="rect">
            <a:avLst/>
          </a:prstGeom>
        </p:spPr>
      </p:pic>
      <p:sp>
        <p:nvSpPr>
          <p:cNvPr id="26" name="Shape 23"/>
          <p:cNvSpPr/>
          <p:nvPr/>
        </p:nvSpPr>
        <p:spPr>
          <a:xfrm>
            <a:off x="5816600" y="3155950"/>
            <a:ext cx="1270000" cy="932061"/>
          </a:xfrm>
          <a:prstGeom prst="roundRect">
            <a:avLst>
              <a:gd name="adj" fmla="val 10901"/>
            </a:avLst>
          </a:prstGeom>
          <a:solidFill>
            <a:srgbClr val="00AEEF"/>
          </a:solidFill>
          <a:ln/>
        </p:spPr>
      </p:sp>
      <p:sp>
        <p:nvSpPr>
          <p:cNvPr id="27" name="Text 24"/>
          <p:cNvSpPr/>
          <p:nvPr/>
        </p:nvSpPr>
        <p:spPr>
          <a:xfrm>
            <a:off x="6043930" y="3359150"/>
            <a:ext cx="815340" cy="299641"/>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Model</a:t>
            </a:r>
            <a:endParaRPr lang="en-US" sz="1800" dirty="0"/>
          </a:p>
        </p:txBody>
      </p:sp>
      <p:sp>
        <p:nvSpPr>
          <p:cNvPr id="28" name="Text 25"/>
          <p:cNvSpPr/>
          <p:nvPr/>
        </p:nvSpPr>
        <p:spPr>
          <a:xfrm>
            <a:off x="6081206" y="3671491"/>
            <a:ext cx="74068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stateless</a:t>
            </a:r>
            <a:endParaRPr lang="en-US" sz="1200" dirty="0"/>
          </a:p>
        </p:txBody>
      </p:sp>
      <p:pic>
        <p:nvPicPr>
          <p:cNvPr id="29" name="Image 1" descr="arrow-right">    </p:cNvPr>
          <p:cNvPicPr>
            <a:picLocks noChangeAspect="1"/>
          </p:cNvPicPr>
          <p:nvPr/>
        </p:nvPicPr>
        <p:blipFill>
          <a:blip r:embed="rId2"/>
          <a:srcRect l="0" r="0" t="0" b="0"/>
          <a:stretch/>
        </p:blipFill>
        <p:spPr>
          <a:xfrm>
            <a:off x="7239000" y="3545780"/>
            <a:ext cx="254000" cy="152400"/>
          </a:xfrm>
          <a:prstGeom prst="rect">
            <a:avLst/>
          </a:prstGeom>
        </p:spPr>
      </p:pic>
      <p:sp>
        <p:nvSpPr>
          <p:cNvPr id="30" name="Text 26"/>
          <p:cNvSpPr/>
          <p:nvPr/>
        </p:nvSpPr>
        <p:spPr>
          <a:xfrm>
            <a:off x="7645400" y="2438499"/>
            <a:ext cx="384581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REPLIES WITH ONE OF</a:t>
            </a:r>
            <a:endParaRPr lang="en-US" sz="1200" dirty="0"/>
          </a:p>
        </p:txBody>
      </p:sp>
      <p:sp>
        <p:nvSpPr>
          <p:cNvPr id="31" name="Shape 27"/>
          <p:cNvSpPr/>
          <p:nvPr/>
        </p:nvSpPr>
        <p:spPr>
          <a:xfrm>
            <a:off x="7648575" y="2756595"/>
            <a:ext cx="3727450" cy="730151"/>
          </a:xfrm>
          <a:prstGeom prst="roundRect">
            <a:avLst>
              <a:gd name="adj" fmla="val 13480"/>
            </a:avLst>
          </a:prstGeom>
          <a:solidFill>
            <a:srgbClr val="FBFBFC"/>
          </a:solidFill>
          <a:ln w="6350">
            <a:solidFill>
              <a:srgbClr val="D9D9D9"/>
            </a:solidFill>
            <a:prstDash val="solid"/>
          </a:ln>
        </p:spPr>
      </p:sp>
      <p:sp>
        <p:nvSpPr>
          <p:cNvPr id="32" name="Text 28"/>
          <p:cNvSpPr/>
          <p:nvPr/>
        </p:nvSpPr>
        <p:spPr>
          <a:xfrm>
            <a:off x="7804150" y="288677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Text</a:t>
            </a:r>
            <a:endParaRPr lang="en-US" sz="1400" dirty="0"/>
          </a:p>
        </p:txBody>
      </p:sp>
      <p:sp>
        <p:nvSpPr>
          <p:cNvPr id="33" name="Text 29"/>
          <p:cNvSpPr/>
          <p:nvPr/>
        </p:nvSpPr>
        <p:spPr>
          <a:xfrm>
            <a:off x="7804150" y="3150890"/>
            <a:ext cx="351878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An answer, shown to you. The loop ends.</a:t>
            </a:r>
            <a:endParaRPr lang="en-US" sz="1200" dirty="0"/>
          </a:p>
        </p:txBody>
      </p:sp>
      <p:sp>
        <p:nvSpPr>
          <p:cNvPr id="34" name="Shape 30"/>
          <p:cNvSpPr/>
          <p:nvPr/>
        </p:nvSpPr>
        <p:spPr>
          <a:xfrm>
            <a:off x="7648575" y="3594695"/>
            <a:ext cx="3727450" cy="1207591"/>
          </a:xfrm>
          <a:prstGeom prst="roundRect">
            <a:avLst>
              <a:gd name="adj" fmla="val 8151"/>
            </a:avLst>
          </a:prstGeom>
          <a:solidFill>
            <a:srgbClr val="FBFBFC"/>
          </a:solidFill>
          <a:ln w="6350">
            <a:solidFill>
              <a:srgbClr val="D9D9D9"/>
            </a:solidFill>
            <a:prstDash val="solid"/>
          </a:ln>
        </p:spPr>
      </p:sp>
      <p:sp>
        <p:nvSpPr>
          <p:cNvPr id="35" name="Text 31"/>
          <p:cNvSpPr/>
          <p:nvPr/>
        </p:nvSpPr>
        <p:spPr>
          <a:xfrm>
            <a:off x="7804150" y="372487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A tool call</a:t>
            </a:r>
            <a:endParaRPr lang="en-US" sz="1400" dirty="0"/>
          </a:p>
        </p:txBody>
      </p:sp>
      <p:sp>
        <p:nvSpPr>
          <p:cNvPr id="36" name="Text 32"/>
          <p:cNvSpPr/>
          <p:nvPr/>
        </p:nvSpPr>
        <p:spPr>
          <a:xfrm>
            <a:off x="7804150" y="3988991"/>
            <a:ext cx="351878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 "tool": "view",</a:t>
            </a:r>
            <a:endParaRPr lang="en-US" sz="1200" dirty="0"/>
          </a:p>
          <a:p>
            <a:pPr algn="l"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  "path": "Auth/Token.cs" }</a:t>
            </a:r>
            <a:endParaRPr lang="en-US" sz="1200" dirty="0"/>
          </a:p>
        </p:txBody>
      </p:sp>
      <p:sp>
        <p:nvSpPr>
          <p:cNvPr id="37" name="Text 33"/>
          <p:cNvSpPr/>
          <p:nvPr/>
        </p:nvSpPr>
        <p:spPr>
          <a:xfrm>
            <a:off x="7804150" y="4466431"/>
            <a:ext cx="351878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Harness runs it, appends the result, calls again.</a:t>
            </a:r>
            <a:endParaRPr lang="en-US" sz="1200" dirty="0"/>
          </a:p>
        </p:txBody>
      </p:sp>
      <p:sp>
        <p:nvSpPr>
          <p:cNvPr id="38" name="Text 34"/>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The model remembers nothing between calls. Everything it “knows” about your task is in this stack.</a:t>
            </a:r>
            <a:endParaRPr lang="en-US" sz="1400" dirty="0"/>
          </a:p>
        </p:txBody>
      </p:sp>
      <p:sp>
        <p:nvSpPr>
          <p:cNvPr id="39" name="Text 3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Managing context in Copilot CLI; Anthropic Docs: Tool use. Tool-call format illustrative.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17785"/>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0A5A8A"/>
                </a:solidFill>
                <a:latin typeface="IBM Plex Sans" pitchFamily="34" charset="0"/>
                <a:ea typeface="IBM Plex Sans" pitchFamily="34" charset="-122"/>
                <a:cs typeface="IBM Plex Sans" pitchFamily="34" charset="-120"/>
              </a:rPr>
              <a:t>05 · THE AGENT LOOP</a:t>
            </a:r>
            <a:endParaRPr lang="en-US" sz="1088" dirty="0"/>
          </a:p>
        </p:txBody>
      </p:sp>
      <p:sp>
        <p:nvSpPr>
          <p:cNvPr id="3" name="Text 1"/>
          <p:cNvSpPr/>
          <p:nvPr>
            <p:ph type="title"/>
          </p:nvPr>
        </p:nvSpPr>
        <p:spPr>
          <a:xfrm>
            <a:off x="812800" y="1157585"/>
            <a:ext cx="10883392" cy="428427"/>
          </a:xfrm>
          <a:prstGeom prst="rect">
            <a:avLst/>
          </a:prstGeom>
          <a:noFill/>
          <a:ln/>
        </p:spPr>
        <p:txBody>
          <a:bodyPr wrap="square" lIns="0" tIns="0" rIns="0" bIns="0" rtlCol="0" anchor="t">
            <a:normAutofit/>
          </a:bodyPr>
          <a:lstStyle/>
          <a:p>
            <a:pPr algn="l" indent="0" marL="0">
              <a:lnSpc>
                <a:spcPts val="3168"/>
              </a:lnSpc>
              <a:buNone/>
            </a:pPr>
            <a:r>
              <a:rPr lang="en-US" sz="2880" b="1" i="0" dirty="0">
                <a:solidFill>
                  <a:srgbClr val="1E1E1E"/>
                </a:solidFill>
                <a:latin typeface="Space Grotesk" pitchFamily="34" charset="0"/>
                <a:ea typeface="Space Grotesk" pitchFamily="34" charset="-122"/>
                <a:cs typeface="Space Grotesk" pitchFamily="34" charset="-120"/>
              </a:rPr>
              <a:t>When the window fills, the harness compacts it</a:t>
            </a:r>
            <a:endParaRPr lang="en-US" sz="2880" dirty="0"/>
          </a:p>
        </p:txBody>
      </p:sp>
      <p:sp>
        <p:nvSpPr>
          <p:cNvPr id="4" name="Shape 2"/>
          <p:cNvSpPr/>
          <p:nvPr/>
        </p:nvSpPr>
        <p:spPr>
          <a:xfrm>
            <a:off x="812800" y="2068612"/>
            <a:ext cx="10566400" cy="254000"/>
          </a:xfrm>
          <a:prstGeom prst="roundRect">
            <a:avLst>
              <a:gd name="adj" fmla="val 30000"/>
            </a:avLst>
          </a:prstGeom>
          <a:gradFill rotWithShape="1">
            <a:gsLst>
              <a:gs pos="0">
                <a:srgbClr val="DCEEF9"/>
              </a:gs>
              <a:gs pos="80000">
                <a:srgbClr val="DCEEF9"/>
              </a:gs>
              <a:gs pos="80000">
                <a:srgbClr val="00AEEF"/>
              </a:gs>
              <a:gs pos="95000">
                <a:srgbClr val="00AEEF"/>
              </a:gs>
              <a:gs pos="95000">
                <a:srgbClr val="0A5A8A"/>
              </a:gs>
            </a:gsLst>
            <a:lin ang="0" scaled="0"/>
          </a:gradFill>
          <a:ln/>
        </p:spPr>
      </p:sp>
      <p:sp>
        <p:nvSpPr>
          <p:cNvPr id="5" name="Shape 3"/>
          <p:cNvSpPr/>
          <p:nvPr/>
        </p:nvSpPr>
        <p:spPr>
          <a:xfrm>
            <a:off x="9258300" y="1992412"/>
            <a:ext cx="25400" cy="406400"/>
          </a:xfrm>
          <a:prstGeom prst="rect">
            <a:avLst/>
          </a:prstGeom>
          <a:solidFill>
            <a:srgbClr val="1E1E1E"/>
          </a:solidFill>
          <a:ln/>
        </p:spPr>
      </p:sp>
      <p:sp>
        <p:nvSpPr>
          <p:cNvPr id="6" name="Shape 4"/>
          <p:cNvSpPr/>
          <p:nvPr/>
        </p:nvSpPr>
        <p:spPr>
          <a:xfrm>
            <a:off x="10839450" y="1992412"/>
            <a:ext cx="25400" cy="406400"/>
          </a:xfrm>
          <a:prstGeom prst="rect">
            <a:avLst/>
          </a:prstGeom>
          <a:solidFill>
            <a:srgbClr val="1E1E1E"/>
          </a:solidFill>
          <a:ln/>
        </p:spPr>
      </p:sp>
      <p:sp>
        <p:nvSpPr>
          <p:cNvPr id="7" name="Text 5"/>
          <p:cNvSpPr/>
          <p:nvPr/>
        </p:nvSpPr>
        <p:spPr>
          <a:xfrm>
            <a:off x="5924550" y="1713012"/>
            <a:ext cx="32702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~80%: compaction starts in background</a:t>
            </a:r>
            <a:endParaRPr lang="en-US" sz="1200" dirty="0"/>
          </a:p>
        </p:txBody>
      </p:sp>
      <p:sp>
        <p:nvSpPr>
          <p:cNvPr id="8" name="Text 6"/>
          <p:cNvSpPr/>
          <p:nvPr/>
        </p:nvSpPr>
        <p:spPr>
          <a:xfrm>
            <a:off x="7473950" y="2449612"/>
            <a:ext cx="32702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~95%: pauses until it finishes</a:t>
            </a:r>
            <a:endParaRPr lang="en-US" sz="1200" dirty="0"/>
          </a:p>
        </p:txBody>
      </p:sp>
      <p:sp>
        <p:nvSpPr>
          <p:cNvPr id="9" name="Text 7"/>
          <p:cNvSpPr/>
          <p:nvPr/>
        </p:nvSpPr>
        <p:spPr>
          <a:xfrm>
            <a:off x="812800" y="244961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0% — context window used</a:t>
            </a:r>
            <a:endParaRPr lang="en-US" sz="1200" dirty="0"/>
          </a:p>
        </p:txBody>
      </p:sp>
      <p:sp>
        <p:nvSpPr>
          <p:cNvPr id="10" name="Text 8"/>
          <p:cNvSpPr/>
          <p:nvPr/>
        </p:nvSpPr>
        <p:spPr>
          <a:xfrm>
            <a:off x="812800" y="267364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5E5E"/>
                </a:solidFill>
                <a:latin typeface="IBM Plex Sans" pitchFamily="34" charset="0"/>
                <a:ea typeface="IBM Plex Sans" pitchFamily="34" charset="-122"/>
                <a:cs typeface="IBM Plex Sans" pitchFamily="34" charset="-120"/>
              </a:rPr>
              <a:t>BEFORE</a:t>
            </a:r>
            <a:endParaRPr lang="en-US" sz="1200" dirty="0"/>
          </a:p>
        </p:txBody>
      </p:sp>
      <p:sp>
        <p:nvSpPr>
          <p:cNvPr id="11" name="Text 9"/>
          <p:cNvSpPr/>
          <p:nvPr/>
        </p:nvSpPr>
        <p:spPr>
          <a:xfrm>
            <a:off x="815975" y="2928243"/>
            <a:ext cx="4946650" cy="295870"/>
          </a:xfrm>
          <a:prstGeom prst="roundRect">
            <a:avLst>
              <a:gd name="adj" fmla="val 16097"/>
            </a:avLst>
          </a:prstGeom>
          <a:solidFill>
            <a:srgbClr val="DCEEF9"/>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System prompt + tools</a:t>
            </a:r>
            <a:endParaRPr lang="en-US" sz="1200" dirty="0"/>
          </a:p>
        </p:txBody>
      </p:sp>
      <p:sp>
        <p:nvSpPr>
          <p:cNvPr id="12" name="Text 10"/>
          <p:cNvSpPr/>
          <p:nvPr/>
        </p:nvSpPr>
        <p:spPr>
          <a:xfrm>
            <a:off x="815975" y="3268563"/>
            <a:ext cx="4946650" cy="295870"/>
          </a:xfrm>
          <a:prstGeom prst="roundRect">
            <a:avLst>
              <a:gd name="adj" fmla="val 16097"/>
            </a:avLst>
          </a:prstGeom>
          <a:solidFill>
            <a:srgbClr val="DCEEF9"/>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Instructions + skill index</a:t>
            </a:r>
            <a:endParaRPr lang="en-US" sz="1200" dirty="0"/>
          </a:p>
        </p:txBody>
      </p:sp>
      <p:sp>
        <p:nvSpPr>
          <p:cNvPr id="13" name="Text 11"/>
          <p:cNvSpPr/>
          <p:nvPr/>
        </p:nvSpPr>
        <p:spPr>
          <a:xfrm>
            <a:off x="815975" y="3608884"/>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1: files, tool output</a:t>
            </a:r>
            <a:endParaRPr lang="en-US" sz="1200" dirty="0"/>
          </a:p>
        </p:txBody>
      </p:sp>
      <p:sp>
        <p:nvSpPr>
          <p:cNvPr id="14" name="Text 12"/>
          <p:cNvSpPr/>
          <p:nvPr/>
        </p:nvSpPr>
        <p:spPr>
          <a:xfrm>
            <a:off x="815975" y="3949204"/>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2: files, tool output</a:t>
            </a:r>
            <a:endParaRPr lang="en-US" sz="1200" dirty="0"/>
          </a:p>
        </p:txBody>
      </p:sp>
      <p:sp>
        <p:nvSpPr>
          <p:cNvPr id="15" name="Text 13"/>
          <p:cNvSpPr/>
          <p:nvPr/>
        </p:nvSpPr>
        <p:spPr>
          <a:xfrm>
            <a:off x="815975" y="4289524"/>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3: files, tool output</a:t>
            </a:r>
            <a:endParaRPr lang="en-US" sz="1200" dirty="0"/>
          </a:p>
        </p:txBody>
      </p:sp>
      <p:sp>
        <p:nvSpPr>
          <p:cNvPr id="16" name="Text 14"/>
          <p:cNvSpPr/>
          <p:nvPr/>
        </p:nvSpPr>
        <p:spPr>
          <a:xfrm>
            <a:off x="815975" y="4629845"/>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4: files, tool output</a:t>
            </a:r>
            <a:endParaRPr lang="en-US" sz="1200" dirty="0"/>
          </a:p>
        </p:txBody>
      </p:sp>
      <p:sp>
        <p:nvSpPr>
          <p:cNvPr id="17" name="Text 15"/>
          <p:cNvSpPr/>
          <p:nvPr/>
        </p:nvSpPr>
        <p:spPr>
          <a:xfrm>
            <a:off x="815975" y="4970165"/>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5: files, tool output</a:t>
            </a:r>
            <a:endParaRPr lang="en-US" sz="1200" dirty="0"/>
          </a:p>
        </p:txBody>
      </p:sp>
      <p:sp>
        <p:nvSpPr>
          <p:cNvPr id="18" name="Text 16"/>
          <p:cNvSpPr/>
          <p:nvPr/>
        </p:nvSpPr>
        <p:spPr>
          <a:xfrm>
            <a:off x="815975" y="5310485"/>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6: files, tool output</a:t>
            </a:r>
            <a:endParaRPr lang="en-US" sz="1200" dirty="0"/>
          </a:p>
        </p:txBody>
      </p:sp>
      <p:pic>
        <p:nvPicPr>
          <p:cNvPr id="19" name="Image 0" descr="arrow-right">    </p:cNvPr>
          <p:cNvPicPr>
            <a:picLocks noChangeAspect="1"/>
          </p:cNvPicPr>
          <p:nvPr/>
        </p:nvPicPr>
        <p:blipFill>
          <a:blip r:embed="rId1"/>
          <a:srcRect l="0" r="0" t="0" b="0"/>
          <a:stretch/>
        </p:blipFill>
        <p:spPr>
          <a:xfrm>
            <a:off x="5969000" y="4065389"/>
            <a:ext cx="254000" cy="152400"/>
          </a:xfrm>
          <a:prstGeom prst="rect">
            <a:avLst/>
          </a:prstGeom>
        </p:spPr>
      </p:pic>
      <p:sp>
        <p:nvSpPr>
          <p:cNvPr id="20" name="Text 17"/>
          <p:cNvSpPr/>
          <p:nvPr/>
        </p:nvSpPr>
        <p:spPr>
          <a:xfrm>
            <a:off x="6426200" y="3058418"/>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5E5E"/>
                </a:solidFill>
                <a:latin typeface="IBM Plex Sans" pitchFamily="34" charset="0"/>
                <a:ea typeface="IBM Plex Sans" pitchFamily="34" charset="-122"/>
                <a:cs typeface="IBM Plex Sans" pitchFamily="34" charset="-120"/>
              </a:rPr>
              <a:t>AFTER</a:t>
            </a:r>
            <a:endParaRPr lang="en-US" sz="1200" dirty="0"/>
          </a:p>
        </p:txBody>
      </p:sp>
      <p:sp>
        <p:nvSpPr>
          <p:cNvPr id="21" name="Text 18"/>
          <p:cNvSpPr/>
          <p:nvPr/>
        </p:nvSpPr>
        <p:spPr>
          <a:xfrm>
            <a:off x="6429375" y="3313013"/>
            <a:ext cx="4946650" cy="295870"/>
          </a:xfrm>
          <a:prstGeom prst="roundRect">
            <a:avLst>
              <a:gd name="adj" fmla="val 16097"/>
            </a:avLst>
          </a:prstGeom>
          <a:solidFill>
            <a:srgbClr val="DCEEF9"/>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System prompt + tools</a:t>
            </a:r>
            <a:endParaRPr lang="en-US" sz="1200" dirty="0"/>
          </a:p>
        </p:txBody>
      </p:sp>
      <p:sp>
        <p:nvSpPr>
          <p:cNvPr id="22" name="Text 19"/>
          <p:cNvSpPr/>
          <p:nvPr/>
        </p:nvSpPr>
        <p:spPr>
          <a:xfrm>
            <a:off x="6429375" y="3653334"/>
            <a:ext cx="4946650" cy="295870"/>
          </a:xfrm>
          <a:prstGeom prst="roundRect">
            <a:avLst>
              <a:gd name="adj" fmla="val 16097"/>
            </a:avLst>
          </a:prstGeom>
          <a:solidFill>
            <a:srgbClr val="DCEEF9"/>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Instructions + skill index</a:t>
            </a:r>
            <a:endParaRPr lang="en-US" sz="1200" dirty="0"/>
          </a:p>
        </p:txBody>
      </p:sp>
      <p:sp>
        <p:nvSpPr>
          <p:cNvPr id="23" name="Text 20"/>
          <p:cNvSpPr/>
          <p:nvPr/>
        </p:nvSpPr>
        <p:spPr>
          <a:xfrm>
            <a:off x="6429375" y="3993654"/>
            <a:ext cx="4946650" cy="295870"/>
          </a:xfrm>
          <a:prstGeom prst="roundRect">
            <a:avLst>
              <a:gd name="adj" fmla="val 16097"/>
            </a:avLst>
          </a:prstGeom>
          <a:solidFill>
            <a:srgbClr val="00AEEF"/>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Summary of turns 1–4</a:t>
            </a:r>
            <a:endParaRPr lang="en-US" sz="1200" dirty="0"/>
          </a:p>
        </p:txBody>
      </p:sp>
      <p:sp>
        <p:nvSpPr>
          <p:cNvPr id="24" name="Text 21"/>
          <p:cNvSpPr/>
          <p:nvPr/>
        </p:nvSpPr>
        <p:spPr>
          <a:xfrm>
            <a:off x="6429375" y="4333974"/>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5: files, tool output</a:t>
            </a:r>
            <a:endParaRPr lang="en-US" sz="1200" dirty="0"/>
          </a:p>
        </p:txBody>
      </p:sp>
      <p:sp>
        <p:nvSpPr>
          <p:cNvPr id="25" name="Text 22"/>
          <p:cNvSpPr/>
          <p:nvPr/>
        </p:nvSpPr>
        <p:spPr>
          <a:xfrm>
            <a:off x="6429375" y="4674295"/>
            <a:ext cx="4946650" cy="295870"/>
          </a:xfrm>
          <a:prstGeom prst="roundRect">
            <a:avLst>
              <a:gd name="adj" fmla="val 16097"/>
            </a:avLst>
          </a:prstGeom>
          <a:solidFill>
            <a:srgbClr val="ECECEC"/>
          </a:solidFill>
          <a:ln w="6350">
            <a:solidFill>
              <a:srgbClr val="D9D9D9"/>
            </a:solidFill>
            <a:prstDash val="solid"/>
          </a:ln>
        </p:spPr>
        <p:txBody>
          <a:bodyPr wrap="square" lIns="90826" tIns="27326" rIns="0" bIns="1926" rtlCol="0" anchor="t">
            <a:normAutofit/>
          </a:bodyPr>
          <a:lstStyle/>
          <a:p>
            <a:pPr algn="l" indent="0" marL="0">
              <a:lnSpc>
                <a:spcPts val="1680"/>
              </a:lnSpc>
              <a:buNone/>
            </a:pPr>
            <a:r>
              <a:rPr lang="en-US" sz="1200" dirty="0">
                <a:solidFill>
                  <a:srgbClr val="1E1E1E"/>
                </a:solidFill>
                <a:latin typeface="IBM Plex Sans" pitchFamily="34" charset="0"/>
                <a:ea typeface="IBM Plex Sans" pitchFamily="34" charset="-122"/>
                <a:cs typeface="IBM Plex Sans" pitchFamily="34" charset="-120"/>
              </a:rPr>
              <a:t>Turn 6: files, tool output</a:t>
            </a:r>
            <a:endParaRPr lang="en-US" sz="1200" dirty="0"/>
          </a:p>
        </p:txBody>
      </p:sp>
      <p:sp>
        <p:nvSpPr>
          <p:cNvPr id="26" name="Text 23"/>
          <p:cNvSpPr/>
          <p:nvPr/>
        </p:nvSpPr>
        <p:spPr>
          <a:xfrm>
            <a:off x="6426200" y="5011440"/>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A5A8A"/>
                </a:solidFill>
                <a:latin typeface="IBM Plex Sans" pitchFamily="34" charset="0"/>
                <a:ea typeface="IBM Plex Sans" pitchFamily="34" charset="-122"/>
                <a:cs typeface="IBM Plex Sans" pitchFamily="34" charset="-120"/>
              </a:rPr>
              <a:t>Older detail is now a summary — lossy by design</a:t>
            </a:r>
            <a:endParaRPr lang="en-US" sz="1200" dirty="0"/>
          </a:p>
        </p:txBody>
      </p:sp>
      <p:sp>
        <p:nvSpPr>
          <p:cNvPr id="27" name="Text 24"/>
          <p:cNvSpPr/>
          <p:nvPr/>
        </p:nvSpPr>
        <p:spPr>
          <a:xfrm>
            <a:off x="812800" y="5617666"/>
            <a:ext cx="10883392" cy="249734"/>
          </a:xfrm>
          <a:prstGeom prst="rect">
            <a:avLst/>
          </a:prstGeom>
          <a:noFill/>
          <a:ln/>
        </p:spPr>
        <p:txBody>
          <a:bodyPr wrap="square" lIns="0" tIns="0" rIns="0" bIns="0" rtlCol="0" anchor="t">
            <a:normAutofit/>
          </a:bodyPr>
          <a:lstStyle/>
          <a:p>
            <a:pPr algn="l" indent="0" marL="0">
              <a:lnSpc>
                <a:spcPts val="1770"/>
              </a:lnSpc>
              <a:buNone/>
            </a:pPr>
            <a:r>
              <a:rPr lang="en-US" sz="1264" dirty="0">
                <a:solidFill>
                  <a:srgbClr val="1E1E1E"/>
                </a:solidFill>
                <a:latin typeface="IBM Plex Sans" pitchFamily="34" charset="0"/>
                <a:ea typeface="IBM Plex Sans" pitchFamily="34" charset="-122"/>
                <a:cs typeface="IBM Plex Sans" pitchFamily="34" charset="-120"/>
              </a:rPr>
              <a:t>Your controls: </a:t>
            </a:r>
            <a:r>
              <a:rPr lang="en-US" sz="1264" b="1" dirty="0">
                <a:solidFill>
                  <a:srgbClr val="1E1E1E"/>
                </a:solidFill>
                <a:latin typeface="IBM Plex Sans" pitchFamily="34" charset="0"/>
                <a:ea typeface="IBM Plex Sans" pitchFamily="34" charset="-122"/>
                <a:cs typeface="IBM Plex Sans" pitchFamily="34" charset="-120"/>
              </a:rPr>
              <a:t>/context</a:t>
            </a:r>
            <a:r>
              <a:rPr lang="en-US" sz="1264" dirty="0">
                <a:solidFill>
                  <a:srgbClr val="1E1E1E"/>
                </a:solidFill>
                <a:latin typeface="IBM Plex Sans" pitchFamily="34" charset="0"/>
                <a:ea typeface="IBM Plex Sans" pitchFamily="34" charset="-122"/>
                <a:cs typeface="IBM Plex Sans" pitchFamily="34" charset="-120"/>
              </a:rPr>
              <a:t> shows what’s using space · </a:t>
            </a:r>
            <a:r>
              <a:rPr lang="en-US" sz="1264" b="1" dirty="0">
                <a:solidFill>
                  <a:srgbClr val="1E1E1E"/>
                </a:solidFill>
                <a:latin typeface="IBM Plex Sans" pitchFamily="34" charset="0"/>
                <a:ea typeface="IBM Plex Sans" pitchFamily="34" charset="-122"/>
                <a:cs typeface="IBM Plex Sans" pitchFamily="34" charset="-120"/>
              </a:rPr>
              <a:t>/compact</a:t>
            </a:r>
            <a:r>
              <a:rPr lang="en-US" sz="1264" dirty="0">
                <a:solidFill>
                  <a:srgbClr val="1E1E1E"/>
                </a:solidFill>
                <a:latin typeface="IBM Plex Sans" pitchFamily="34" charset="0"/>
                <a:ea typeface="IBM Plex Sans" pitchFamily="34" charset="-122"/>
                <a:cs typeface="IBM Plex Sans" pitchFamily="34" charset="-120"/>
              </a:rPr>
              <a:t> summarizes now · a fresh session for a new task.</a:t>
            </a:r>
            <a:endParaRPr lang="en-US" sz="1264" dirty="0"/>
          </a:p>
        </p:txBody>
      </p:sp>
      <p:sp>
        <p:nvSpPr>
          <p:cNvPr id="28"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Managing context in GitHub Copilot CLI; GitHub Copilot Learning Hub. Diagram illustrative.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05 · THE AGENT LOOP</a:t>
            </a:r>
            <a:endParaRPr lang="en-US" sz="1200" dirty="0"/>
          </a:p>
        </p:txBody>
      </p:sp>
      <p:sp>
        <p:nvSpPr>
          <p:cNvPr id="3" name="Text 1"/>
          <p:cNvSpPr/>
          <p:nvPr>
            <p:ph type="title"/>
          </p:nvPr>
        </p:nvSpPr>
        <p:spPr>
          <a:xfrm>
            <a:off x="812800" y="12293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Three bottlenecks decide whether an agent succeeds</a:t>
            </a:r>
            <a:endParaRPr lang="en-US" sz="3200" dirty="0"/>
          </a:p>
        </p:txBody>
      </p:sp>
      <p:sp>
        <p:nvSpPr>
          <p:cNvPr id="4" name="Shape 2"/>
          <p:cNvSpPr/>
          <p:nvPr/>
        </p:nvSpPr>
        <p:spPr>
          <a:xfrm>
            <a:off x="815975" y="1882676"/>
            <a:ext cx="3380284" cy="3956149"/>
          </a:xfrm>
          <a:prstGeom prst="roundRect">
            <a:avLst>
              <a:gd name="adj" fmla="val 3663"/>
            </a:avLst>
          </a:prstGeom>
          <a:solidFill>
            <a:srgbClr val="FBFBFC"/>
          </a:solidFill>
          <a:ln w="6350">
            <a:solidFill>
              <a:srgbClr val="D9D9D9"/>
            </a:solidFill>
            <a:prstDash val="solid"/>
          </a:ln>
        </p:spPr>
      </p:sp>
      <p:pic>
        <p:nvPicPr>
          <p:cNvPr id="5" name="Image 0" descr="Book">    </p:cNvPr>
          <p:cNvPicPr>
            <a:picLocks noChangeAspect="1"/>
          </p:cNvPicPr>
          <p:nvPr/>
        </p:nvPicPr>
        <p:blipFill>
          <a:blip r:embed="rId1"/>
          <a:srcRect l="0" r="0" t="0" b="0"/>
          <a:stretch/>
        </p:blipFill>
        <p:spPr>
          <a:xfrm>
            <a:off x="1047750" y="2114451"/>
            <a:ext cx="355600" cy="355600"/>
          </a:xfrm>
          <a:prstGeom prst="rect">
            <a:avLst/>
          </a:prstGeom>
        </p:spPr>
      </p:pic>
      <p:sp>
        <p:nvSpPr>
          <p:cNvPr id="6" name="Text 3"/>
          <p:cNvSpPr/>
          <p:nvPr/>
        </p:nvSpPr>
        <p:spPr>
          <a:xfrm>
            <a:off x="1047750" y="2571651"/>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Context</a:t>
            </a:r>
            <a:endParaRPr lang="en-US" sz="1800" dirty="0"/>
          </a:p>
        </p:txBody>
      </p:sp>
      <p:sp>
        <p:nvSpPr>
          <p:cNvPr id="7" name="Text 4"/>
          <p:cNvSpPr/>
          <p:nvPr/>
        </p:nvSpPr>
        <p:spPr>
          <a:xfrm>
            <a:off x="1047750" y="2947491"/>
            <a:ext cx="30042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1E1E"/>
                </a:solidFill>
                <a:latin typeface="IBM Plex Sans" pitchFamily="34" charset="0"/>
                <a:ea typeface="IBM Plex Sans" pitchFamily="34" charset="-122"/>
                <a:cs typeface="IBM Plex Sans" pitchFamily="34" charset="-120"/>
              </a:rPr>
              <a:t>Does it know what it needs?</a:t>
            </a:r>
            <a:endParaRPr lang="en-US" sz="1400" dirty="0"/>
          </a:p>
        </p:txBody>
      </p:sp>
      <p:sp>
        <p:nvSpPr>
          <p:cNvPr id="8" name="Text 5"/>
          <p:cNvSpPr/>
          <p:nvPr/>
        </p:nvSpPr>
        <p:spPr>
          <a:xfrm>
            <a:off x="1047750" y="3280172"/>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Conventions, tribal knowledge, why a workaround exists.</a:t>
            </a:r>
            <a:endParaRPr lang="en-US" sz="1200" dirty="0"/>
          </a:p>
        </p:txBody>
      </p:sp>
      <p:sp>
        <p:nvSpPr>
          <p:cNvPr id="9" name="Text 6"/>
          <p:cNvSpPr/>
          <p:nvPr/>
        </p:nvSpPr>
        <p:spPr>
          <a:xfrm>
            <a:off x="1047750" y="3808413"/>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Lever:</a:t>
            </a:r>
            <a:r>
              <a:rPr lang="en-US" sz="1200" dirty="0">
                <a:solidFill>
                  <a:srgbClr val="1E1E1E"/>
                </a:solidFill>
                <a:latin typeface="IBM Plex Sans" pitchFamily="34" charset="0"/>
                <a:ea typeface="IBM Plex Sans" pitchFamily="34" charset="-122"/>
                <a:cs typeface="IBM Plex Sans" pitchFamily="34" charset="-120"/>
              </a:rPr>
              <a:t> instructions, skills, field guides</a:t>
            </a:r>
            <a:endParaRPr lang="en-US" sz="1200" dirty="0"/>
          </a:p>
        </p:txBody>
      </p:sp>
      <p:sp>
        <p:nvSpPr>
          <p:cNvPr id="10" name="Text 7"/>
          <p:cNvSpPr/>
          <p:nvPr/>
        </p:nvSpPr>
        <p:spPr>
          <a:xfrm>
            <a:off x="1047750" y="5292130"/>
            <a:ext cx="1645841" cy="314920"/>
          </a:xfrm>
          <a:prstGeom prst="roundRect">
            <a:avLst>
              <a:gd name="adj" fmla="val 50000"/>
            </a:avLst>
          </a:prstGeom>
          <a:solidFill>
            <a:srgbClr val="0B3C6F"/>
          </a:solidFill>
          <a:ln/>
        </p:spPr>
        <p:txBody>
          <a:bodyPr wrap="none" lIns="0" tIns="0" rIns="0" bIns="0" rtlCol="0" anchor="ctr">
            <a:normAutofit/>
          </a:bodyPr>
          <a:lstStyle/>
          <a:p>
            <a:pPr algn="ctr" indent="0" marL="0">
              <a:lnSpc>
                <a:spcPts val="1680"/>
              </a:lnSpc>
              <a:buNone/>
            </a:pPr>
            <a:r>
              <a:rPr lang="en-US" sz="1200" b="1" dirty="0">
                <a:solidFill>
                  <a:srgbClr val="F5F5F6"/>
                </a:solidFill>
                <a:latin typeface="IBM Plex Sans" pitchFamily="34" charset="0"/>
                <a:ea typeface="IBM Plex Sans" pitchFamily="34" charset="-122"/>
                <a:cs typeface="IBM Plex Sans" pitchFamily="34" charset="-120"/>
              </a:rPr>
              <a:t>Fixable with tooling</a:t>
            </a:r>
            <a:endParaRPr lang="en-US" sz="1200" dirty="0"/>
          </a:p>
        </p:txBody>
      </p:sp>
      <p:sp>
        <p:nvSpPr>
          <p:cNvPr id="11" name="Shape 8"/>
          <p:cNvSpPr/>
          <p:nvPr/>
        </p:nvSpPr>
        <p:spPr>
          <a:xfrm>
            <a:off x="4405809" y="1882676"/>
            <a:ext cx="3380284" cy="3956149"/>
          </a:xfrm>
          <a:prstGeom prst="roundRect">
            <a:avLst>
              <a:gd name="adj" fmla="val 3663"/>
            </a:avLst>
          </a:prstGeom>
          <a:solidFill>
            <a:srgbClr val="FBFBFC"/>
          </a:solidFill>
          <a:ln w="6350">
            <a:solidFill>
              <a:srgbClr val="D9D9D9"/>
            </a:solidFill>
            <a:prstDash val="solid"/>
          </a:ln>
        </p:spPr>
      </p:sp>
      <p:pic>
        <p:nvPicPr>
          <p:cNvPr id="12" name="Image 1" descr="CheckCircle">    </p:cNvPr>
          <p:cNvPicPr>
            <a:picLocks noChangeAspect="1"/>
          </p:cNvPicPr>
          <p:nvPr/>
        </p:nvPicPr>
        <p:blipFill>
          <a:blip r:embed="rId2"/>
          <a:srcRect l="0" r="0" t="0" b="0"/>
          <a:stretch/>
        </p:blipFill>
        <p:spPr>
          <a:xfrm>
            <a:off x="4637584" y="2114451"/>
            <a:ext cx="355600" cy="355600"/>
          </a:xfrm>
          <a:prstGeom prst="rect">
            <a:avLst/>
          </a:prstGeom>
        </p:spPr>
      </p:pic>
      <p:sp>
        <p:nvSpPr>
          <p:cNvPr id="13" name="Text 9"/>
          <p:cNvSpPr/>
          <p:nvPr/>
        </p:nvSpPr>
        <p:spPr>
          <a:xfrm>
            <a:off x="4637584" y="2571651"/>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Verification</a:t>
            </a:r>
            <a:endParaRPr lang="en-US" sz="1800" dirty="0"/>
          </a:p>
        </p:txBody>
      </p:sp>
      <p:sp>
        <p:nvSpPr>
          <p:cNvPr id="14" name="Text 10"/>
          <p:cNvSpPr/>
          <p:nvPr/>
        </p:nvSpPr>
        <p:spPr>
          <a:xfrm>
            <a:off x="4637584" y="2947491"/>
            <a:ext cx="30042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1E1E"/>
                </a:solidFill>
                <a:latin typeface="IBM Plex Sans" pitchFamily="34" charset="0"/>
                <a:ea typeface="IBM Plex Sans" pitchFamily="34" charset="-122"/>
                <a:cs typeface="IBM Plex Sans" pitchFamily="34" charset="-120"/>
              </a:rPr>
              <a:t>Can it check its own work?</a:t>
            </a:r>
            <a:endParaRPr lang="en-US" sz="1400" dirty="0"/>
          </a:p>
        </p:txBody>
      </p:sp>
      <p:sp>
        <p:nvSpPr>
          <p:cNvPr id="15" name="Text 11"/>
          <p:cNvSpPr/>
          <p:nvPr/>
        </p:nvSpPr>
        <p:spPr>
          <a:xfrm>
            <a:off x="4637584" y="3280172"/>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Without a build and tests, it can only guess.</a:t>
            </a:r>
            <a:endParaRPr lang="en-US" sz="1200" dirty="0"/>
          </a:p>
        </p:txBody>
      </p:sp>
      <p:sp>
        <p:nvSpPr>
          <p:cNvPr id="16" name="Text 12"/>
          <p:cNvSpPr/>
          <p:nvPr/>
        </p:nvSpPr>
        <p:spPr>
          <a:xfrm>
            <a:off x="4637584" y="3808413"/>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Lever:</a:t>
            </a:r>
            <a:r>
              <a:rPr lang="en-US" sz="1200" dirty="0">
                <a:solidFill>
                  <a:srgbClr val="1E1E1E"/>
                </a:solidFill>
                <a:latin typeface="IBM Plex Sans" pitchFamily="34" charset="0"/>
                <a:ea typeface="IBM Plex Sans" pitchFamily="34" charset="-122"/>
                <a:cs typeface="IBM Plex Sans" pitchFamily="34" charset="-120"/>
              </a:rPr>
              <a:t> builds, tests, hooks, CI</a:t>
            </a:r>
            <a:endParaRPr lang="en-US" sz="1200" dirty="0"/>
          </a:p>
        </p:txBody>
      </p:sp>
      <p:sp>
        <p:nvSpPr>
          <p:cNvPr id="17" name="Text 13"/>
          <p:cNvSpPr/>
          <p:nvPr/>
        </p:nvSpPr>
        <p:spPr>
          <a:xfrm>
            <a:off x="4637584" y="5292130"/>
            <a:ext cx="1645841" cy="314920"/>
          </a:xfrm>
          <a:prstGeom prst="roundRect">
            <a:avLst>
              <a:gd name="adj" fmla="val 50000"/>
            </a:avLst>
          </a:prstGeom>
          <a:solidFill>
            <a:srgbClr val="0B3C6F"/>
          </a:solidFill>
          <a:ln/>
        </p:spPr>
        <p:txBody>
          <a:bodyPr wrap="none" lIns="0" tIns="0" rIns="0" bIns="0" rtlCol="0" anchor="ctr">
            <a:normAutofit/>
          </a:bodyPr>
          <a:lstStyle/>
          <a:p>
            <a:pPr algn="ctr" indent="0" marL="0">
              <a:lnSpc>
                <a:spcPts val="1680"/>
              </a:lnSpc>
              <a:buNone/>
            </a:pPr>
            <a:r>
              <a:rPr lang="en-US" sz="1200" b="1" dirty="0">
                <a:solidFill>
                  <a:srgbClr val="F5F5F6"/>
                </a:solidFill>
                <a:latin typeface="IBM Plex Sans" pitchFamily="34" charset="0"/>
                <a:ea typeface="IBM Plex Sans" pitchFamily="34" charset="-122"/>
                <a:cs typeface="IBM Plex Sans" pitchFamily="34" charset="-120"/>
              </a:rPr>
              <a:t>Fixable with tooling</a:t>
            </a:r>
            <a:endParaRPr lang="en-US" sz="1200" dirty="0"/>
          </a:p>
        </p:txBody>
      </p:sp>
      <p:sp>
        <p:nvSpPr>
          <p:cNvPr id="18" name="Shape 14"/>
          <p:cNvSpPr/>
          <p:nvPr/>
        </p:nvSpPr>
        <p:spPr>
          <a:xfrm>
            <a:off x="7995642" y="1882676"/>
            <a:ext cx="3380284" cy="3956149"/>
          </a:xfrm>
          <a:prstGeom prst="roundRect">
            <a:avLst>
              <a:gd name="adj" fmla="val 3663"/>
            </a:avLst>
          </a:prstGeom>
          <a:solidFill>
            <a:srgbClr val="FBFBFC"/>
          </a:solidFill>
          <a:ln w="6350">
            <a:solidFill>
              <a:srgbClr val="D9D9D9"/>
            </a:solidFill>
            <a:prstDash val="solid"/>
          </a:ln>
        </p:spPr>
      </p:sp>
      <p:pic>
        <p:nvPicPr>
          <p:cNvPr id="19" name="Image 2" descr="Users">    </p:cNvPr>
          <p:cNvPicPr>
            <a:picLocks noChangeAspect="1"/>
          </p:cNvPicPr>
          <p:nvPr/>
        </p:nvPicPr>
        <p:blipFill>
          <a:blip r:embed="rId3"/>
          <a:srcRect l="0" r="0" t="0" b="0"/>
          <a:stretch/>
        </p:blipFill>
        <p:spPr>
          <a:xfrm>
            <a:off x="8227417" y="2114451"/>
            <a:ext cx="355600" cy="355600"/>
          </a:xfrm>
          <a:prstGeom prst="rect">
            <a:avLst/>
          </a:prstGeom>
        </p:spPr>
      </p:pic>
      <p:sp>
        <p:nvSpPr>
          <p:cNvPr id="20" name="Text 15"/>
          <p:cNvSpPr/>
          <p:nvPr/>
        </p:nvSpPr>
        <p:spPr>
          <a:xfrm>
            <a:off x="8227417" y="2571651"/>
            <a:ext cx="300423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Judgment</a:t>
            </a:r>
            <a:endParaRPr lang="en-US" sz="1800" dirty="0"/>
          </a:p>
        </p:txBody>
      </p:sp>
      <p:sp>
        <p:nvSpPr>
          <p:cNvPr id="21" name="Text 16"/>
          <p:cNvSpPr/>
          <p:nvPr/>
        </p:nvSpPr>
        <p:spPr>
          <a:xfrm>
            <a:off x="8227417" y="2947491"/>
            <a:ext cx="3004236"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E1E1E"/>
                </a:solidFill>
                <a:latin typeface="IBM Plex Sans" pitchFamily="34" charset="0"/>
                <a:ea typeface="IBM Plex Sans" pitchFamily="34" charset="-122"/>
                <a:cs typeface="IBM Plex Sans" pitchFamily="34" charset="-120"/>
              </a:rPr>
              <a:t>Does it make good trade-offs?</a:t>
            </a:r>
            <a:endParaRPr lang="en-US" sz="1400" dirty="0"/>
          </a:p>
        </p:txBody>
      </p:sp>
      <p:sp>
        <p:nvSpPr>
          <p:cNvPr id="22" name="Text 17"/>
          <p:cNvSpPr/>
          <p:nvPr/>
        </p:nvSpPr>
        <p:spPr>
          <a:xfrm>
            <a:off x="8227417" y="3280172"/>
            <a:ext cx="300423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Long-horizon drift, concurrency, load, design debt.</a:t>
            </a:r>
            <a:endParaRPr lang="en-US" sz="1200" dirty="0"/>
          </a:p>
        </p:txBody>
      </p:sp>
      <p:sp>
        <p:nvSpPr>
          <p:cNvPr id="23" name="Text 18"/>
          <p:cNvSpPr/>
          <p:nvPr/>
        </p:nvSpPr>
        <p:spPr>
          <a:xfrm>
            <a:off x="8227417" y="3808413"/>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1E1E"/>
                </a:solidFill>
                <a:latin typeface="IBM Plex Sans" pitchFamily="34" charset="0"/>
                <a:ea typeface="IBM Plex Sans" pitchFamily="34" charset="-122"/>
                <a:cs typeface="IBM Plex Sans" pitchFamily="34" charset="-120"/>
              </a:rPr>
              <a:t>Lever:</a:t>
            </a:r>
            <a:r>
              <a:rPr lang="en-US" sz="1200" dirty="0">
                <a:solidFill>
                  <a:srgbClr val="1E1E1E"/>
                </a:solidFill>
                <a:latin typeface="IBM Plex Sans" pitchFamily="34" charset="0"/>
                <a:ea typeface="IBM Plex Sans" pitchFamily="34" charset="-122"/>
                <a:cs typeface="IBM Plex Sans" pitchFamily="34" charset="-120"/>
              </a:rPr>
              <a:t> human design and review</a:t>
            </a:r>
            <a:endParaRPr lang="en-US" sz="1200" dirty="0"/>
          </a:p>
        </p:txBody>
      </p:sp>
      <p:sp>
        <p:nvSpPr>
          <p:cNvPr id="24" name="Text 19"/>
          <p:cNvSpPr/>
          <p:nvPr/>
        </p:nvSpPr>
        <p:spPr>
          <a:xfrm>
            <a:off x="8227417" y="5292130"/>
            <a:ext cx="1516658" cy="314920"/>
          </a:xfrm>
          <a:prstGeom prst="roundRect">
            <a:avLst>
              <a:gd name="adj" fmla="val 50000"/>
            </a:avLst>
          </a:prstGeom>
          <a:solidFill>
            <a:srgbClr val="0A5A8A"/>
          </a:solidFill>
          <a:ln/>
        </p:spPr>
        <p:txBody>
          <a:bodyPr wrap="none" lIns="0" tIns="0" rIns="0" bIns="0" rtlCol="0" anchor="ctr">
            <a:normAutofit/>
          </a:bodyPr>
          <a:lstStyle/>
          <a:p>
            <a:pPr algn="ctr" indent="0" marL="0">
              <a:lnSpc>
                <a:spcPts val="1680"/>
              </a:lnSpc>
              <a:buNone/>
            </a:pPr>
            <a:r>
              <a:rPr lang="en-US" sz="1200" b="1" dirty="0">
                <a:solidFill>
                  <a:srgbClr val="F5F5F6"/>
                </a:solidFill>
                <a:latin typeface="IBM Plex Sans" pitchFamily="34" charset="0"/>
                <a:ea typeface="IBM Plex Sans" pitchFamily="34" charset="-122"/>
                <a:cs typeface="IBM Plex Sans" pitchFamily="34" charset="-120"/>
              </a:rPr>
              <a:t>Still needs people</a:t>
            </a:r>
            <a:endParaRPr lang="en-US" sz="1200" dirty="0"/>
          </a:p>
        </p:txBody>
      </p:sp>
      <p:sp>
        <p:nvSpPr>
          <p:cNvPr id="25"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Context: METR 2025. Verification: DeepSeek-R1, Nature 2025. Judgment: see trade-offs section.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127000" cy="127000"/>
          </a:xfrm>
          <a:prstGeom prst="roundRect">
            <a:avLst>
              <a:gd name="adj" fmla="val 50000"/>
            </a:avLst>
          </a:prstGeom>
          <a:solidFill>
            <a:srgbClr val="D9D9D9"/>
          </a:solidFill>
          <a:ln/>
        </p:spPr>
      </p:sp>
      <p:sp>
        <p:nvSpPr>
          <p:cNvPr id="6" name="Shape 4"/>
          <p:cNvSpPr/>
          <p:nvPr/>
        </p:nvSpPr>
        <p:spPr>
          <a:xfrm>
            <a:off x="1625600" y="812800"/>
            <a:ext cx="127000" cy="127000"/>
          </a:xfrm>
          <a:prstGeom prst="roundRect">
            <a:avLst>
              <a:gd name="adj" fmla="val 50000"/>
            </a:avLst>
          </a:prstGeom>
          <a:solidFill>
            <a:srgbClr val="D9D9D9"/>
          </a:solidFill>
          <a:ln/>
        </p:spPr>
      </p:sp>
      <p:sp>
        <p:nvSpPr>
          <p:cNvPr id="7" name="Shape 5"/>
          <p:cNvSpPr/>
          <p:nvPr/>
        </p:nvSpPr>
        <p:spPr>
          <a:xfrm>
            <a:off x="1828800" y="812800"/>
            <a:ext cx="457200" cy="127000"/>
          </a:xfrm>
          <a:prstGeom prst="roundRect">
            <a:avLst>
              <a:gd name="adj" fmla="val 50000"/>
            </a:avLst>
          </a:prstGeom>
          <a:solidFill>
            <a:srgbClr val="00AEEF"/>
          </a:solidFill>
          <a:ln/>
        </p:spPr>
      </p:sp>
      <p:sp>
        <p:nvSpPr>
          <p:cNvPr id="8" name="Shape 6"/>
          <p:cNvSpPr/>
          <p:nvPr/>
        </p:nvSpPr>
        <p:spPr>
          <a:xfrm>
            <a:off x="2362200" y="812800"/>
            <a:ext cx="127000" cy="127000"/>
          </a:xfrm>
          <a:prstGeom prst="roundRect">
            <a:avLst>
              <a:gd name="adj" fmla="val 50000"/>
            </a:avLst>
          </a:prstGeom>
          <a:solidFill>
            <a:srgbClr val="D9D9D9"/>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06</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Steering Copilot</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Instructions, skills, agents, MCP, hooks, and plugins, mapped to the loop</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06 · STEERING COPILOT</a:t>
            </a:r>
            <a:endParaRPr lang="en-US" sz="1200" dirty="0"/>
          </a:p>
        </p:txBody>
      </p:sp>
      <p:sp>
        <p:nvSpPr>
          <p:cNvPr id="3" name="Text 1"/>
          <p:cNvSpPr/>
          <p:nvPr>
            <p:ph type="title"/>
          </p:nvPr>
        </p:nvSpPr>
        <p:spPr>
          <a:xfrm>
            <a:off x="812800" y="11785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Each customization plugs into the loop</a:t>
            </a:r>
            <a:endParaRPr lang="en-US" sz="3200" dirty="0"/>
          </a:p>
        </p:txBody>
      </p:sp>
      <p:sp>
        <p:nvSpPr>
          <p:cNvPr id="4" name="Text 2"/>
          <p:cNvSpPr/>
          <p:nvPr/>
        </p:nvSpPr>
        <p:spPr>
          <a:xfrm>
            <a:off x="812800" y="1777901"/>
            <a:ext cx="2527300" cy="401241"/>
          </a:xfrm>
          <a:custGeom>
            <a:avLst/>
            <a:gdLst/>
            <a:ahLst/>
            <a:cxnLst/>
            <a:rect l="l" t="t" r="r" b="b"/>
            <a:pathLst>
              <a:path w="2527300" h="401241">
                <a:moveTo>
                  <a:pt x="200620" y="0"/>
                </a:moveTo>
                <a:lnTo>
                  <a:pt x="2326680" y="0"/>
                </a:lnTo>
                <a:arcTo hR="200620" wR="200620" stAng="16200000" swAng="5400000"/>
                <a:lnTo>
                  <a:pt x="2527300" y="200620"/>
                </a:lnTo>
                <a:arcTo hR="200620" wR="200620" stAng="0" swAng="5400000"/>
                <a:lnTo>
                  <a:pt x="200620" y="401241"/>
                </a:lnTo>
                <a:arcTo hR="200620" wR="200620" stAng="5400000" swAng="5400000"/>
                <a:lnTo>
                  <a:pt x="0" y="200620"/>
                </a:lnTo>
                <a:arcTo hR="200620" wR="200620" stAng="10800000" swAng="5400000"/>
                <a:close/>
              </a:path>
            </a:pathLst>
          </a:custGeom>
          <a:solidFill>
            <a:srgbClr val="00AEEF"/>
          </a:solidFill>
          <a:ln/>
        </p:spPr>
        <p:txBody>
          <a:bodyPr wrap="square" lIns="40577" tIns="76200" rIns="40577" bIns="50800" rtlCol="0" anchor="t">
            <a:normAutofit/>
          </a:bodyPr>
          <a:lstStyle/>
          <a:p>
            <a:pPr algn="ctr" indent="0" marL="0">
              <a:lnSpc>
                <a:spcPts val="1960"/>
              </a:lnSpc>
              <a:buNone/>
            </a:pPr>
            <a:r>
              <a:rPr lang="en-US" sz="1400" b="1" dirty="0">
                <a:solidFill>
                  <a:srgbClr val="1E1E1E"/>
                </a:solidFill>
                <a:latin typeface="Space Grotesk" pitchFamily="34" charset="0"/>
                <a:ea typeface="Space Grotesk" pitchFamily="34" charset="-122"/>
                <a:cs typeface="Space Grotesk" pitchFamily="34" charset="-120"/>
              </a:rPr>
              <a:t>1 · Gather</a:t>
            </a:r>
            <a:endParaRPr lang="en-US" sz="1400" dirty="0"/>
          </a:p>
        </p:txBody>
      </p:sp>
      <p:sp>
        <p:nvSpPr>
          <p:cNvPr id="5" name="Text 3"/>
          <p:cNvSpPr/>
          <p:nvPr/>
        </p:nvSpPr>
        <p:spPr>
          <a:xfrm>
            <a:off x="3492500" y="1777901"/>
            <a:ext cx="2527300" cy="401241"/>
          </a:xfrm>
          <a:custGeom>
            <a:avLst/>
            <a:gdLst/>
            <a:ahLst/>
            <a:cxnLst/>
            <a:rect l="l" t="t" r="r" b="b"/>
            <a:pathLst>
              <a:path w="2527300" h="401241">
                <a:moveTo>
                  <a:pt x="200620" y="0"/>
                </a:moveTo>
                <a:lnTo>
                  <a:pt x="2326680" y="0"/>
                </a:lnTo>
                <a:arcTo hR="200620" wR="200620" stAng="16200000" swAng="5400000"/>
                <a:lnTo>
                  <a:pt x="2527300" y="200620"/>
                </a:lnTo>
                <a:arcTo hR="200620" wR="200620" stAng="0" swAng="5400000"/>
                <a:lnTo>
                  <a:pt x="200620" y="401241"/>
                </a:lnTo>
                <a:arcTo hR="200620" wR="200620" stAng="5400000" swAng="5400000"/>
                <a:lnTo>
                  <a:pt x="0" y="200620"/>
                </a:lnTo>
                <a:arcTo hR="200620" wR="200620" stAng="10800000" swAng="5400000"/>
                <a:close/>
              </a:path>
            </a:pathLst>
          </a:custGeom>
          <a:solidFill>
            <a:srgbClr val="00AEEF"/>
          </a:solidFill>
          <a:ln/>
        </p:spPr>
        <p:txBody>
          <a:bodyPr wrap="square" lIns="40577" tIns="76200" rIns="40577" bIns="50800" rtlCol="0" anchor="t">
            <a:normAutofit/>
          </a:bodyPr>
          <a:lstStyle/>
          <a:p>
            <a:pPr algn="ctr" indent="0" marL="0">
              <a:lnSpc>
                <a:spcPts val="1960"/>
              </a:lnSpc>
              <a:buNone/>
            </a:pPr>
            <a:r>
              <a:rPr lang="en-US" sz="1400" b="1" dirty="0">
                <a:solidFill>
                  <a:srgbClr val="1E1E1E"/>
                </a:solidFill>
                <a:latin typeface="Space Grotesk" pitchFamily="34" charset="0"/>
                <a:ea typeface="Space Grotesk" pitchFamily="34" charset="-122"/>
                <a:cs typeface="Space Grotesk" pitchFamily="34" charset="-120"/>
              </a:rPr>
              <a:t>2 · Decide</a:t>
            </a:r>
            <a:endParaRPr lang="en-US" sz="1400" dirty="0"/>
          </a:p>
        </p:txBody>
      </p:sp>
      <p:sp>
        <p:nvSpPr>
          <p:cNvPr id="6" name="Text 4"/>
          <p:cNvSpPr/>
          <p:nvPr/>
        </p:nvSpPr>
        <p:spPr>
          <a:xfrm>
            <a:off x="6172200" y="1777901"/>
            <a:ext cx="2527300" cy="401241"/>
          </a:xfrm>
          <a:custGeom>
            <a:avLst/>
            <a:gdLst/>
            <a:ahLst/>
            <a:cxnLst/>
            <a:rect l="l" t="t" r="r" b="b"/>
            <a:pathLst>
              <a:path w="2527300" h="401241">
                <a:moveTo>
                  <a:pt x="200620" y="0"/>
                </a:moveTo>
                <a:lnTo>
                  <a:pt x="2326680" y="0"/>
                </a:lnTo>
                <a:arcTo hR="200620" wR="200620" stAng="16200000" swAng="5400000"/>
                <a:lnTo>
                  <a:pt x="2527300" y="200620"/>
                </a:lnTo>
                <a:arcTo hR="200620" wR="200620" stAng="0" swAng="5400000"/>
                <a:lnTo>
                  <a:pt x="200620" y="401241"/>
                </a:lnTo>
                <a:arcTo hR="200620" wR="200620" stAng="5400000" swAng="5400000"/>
                <a:lnTo>
                  <a:pt x="0" y="200620"/>
                </a:lnTo>
                <a:arcTo hR="200620" wR="200620" stAng="10800000" swAng="5400000"/>
                <a:close/>
              </a:path>
            </a:pathLst>
          </a:custGeom>
          <a:solidFill>
            <a:srgbClr val="00AEEF"/>
          </a:solidFill>
          <a:ln/>
        </p:spPr>
        <p:txBody>
          <a:bodyPr wrap="square" lIns="40577" tIns="76200" rIns="40577" bIns="50800" rtlCol="0" anchor="t">
            <a:normAutofit/>
          </a:bodyPr>
          <a:lstStyle/>
          <a:p>
            <a:pPr algn="ctr" indent="0" marL="0">
              <a:lnSpc>
                <a:spcPts val="1960"/>
              </a:lnSpc>
              <a:buNone/>
            </a:pPr>
            <a:r>
              <a:rPr lang="en-US" sz="1400" b="1" dirty="0">
                <a:solidFill>
                  <a:srgbClr val="1E1E1E"/>
                </a:solidFill>
                <a:latin typeface="Space Grotesk" pitchFamily="34" charset="0"/>
                <a:ea typeface="Space Grotesk" pitchFamily="34" charset="-122"/>
                <a:cs typeface="Space Grotesk" pitchFamily="34" charset="-120"/>
              </a:rPr>
              <a:t>3 · Act</a:t>
            </a:r>
            <a:endParaRPr lang="en-US" sz="1400" dirty="0"/>
          </a:p>
        </p:txBody>
      </p:sp>
      <p:sp>
        <p:nvSpPr>
          <p:cNvPr id="7" name="Text 5"/>
          <p:cNvSpPr/>
          <p:nvPr/>
        </p:nvSpPr>
        <p:spPr>
          <a:xfrm>
            <a:off x="8851900" y="1777901"/>
            <a:ext cx="2527300" cy="401241"/>
          </a:xfrm>
          <a:custGeom>
            <a:avLst/>
            <a:gdLst/>
            <a:ahLst/>
            <a:cxnLst/>
            <a:rect l="l" t="t" r="r" b="b"/>
            <a:pathLst>
              <a:path w="2527300" h="401241">
                <a:moveTo>
                  <a:pt x="200620" y="0"/>
                </a:moveTo>
                <a:lnTo>
                  <a:pt x="2326680" y="0"/>
                </a:lnTo>
                <a:arcTo hR="200620" wR="200620" stAng="16200000" swAng="5400000"/>
                <a:lnTo>
                  <a:pt x="2527300" y="200620"/>
                </a:lnTo>
                <a:arcTo hR="200620" wR="200620" stAng="0" swAng="5400000"/>
                <a:lnTo>
                  <a:pt x="200620" y="401241"/>
                </a:lnTo>
                <a:arcTo hR="200620" wR="200620" stAng="5400000" swAng="5400000"/>
                <a:lnTo>
                  <a:pt x="0" y="200620"/>
                </a:lnTo>
                <a:arcTo hR="200620" wR="200620" stAng="10800000" swAng="5400000"/>
                <a:close/>
              </a:path>
            </a:pathLst>
          </a:custGeom>
          <a:solidFill>
            <a:srgbClr val="00AEEF"/>
          </a:solidFill>
          <a:ln/>
        </p:spPr>
        <p:txBody>
          <a:bodyPr wrap="square" lIns="40577" tIns="76200" rIns="40577" bIns="50800" rtlCol="0" anchor="t">
            <a:normAutofit/>
          </a:bodyPr>
          <a:lstStyle/>
          <a:p>
            <a:pPr algn="ctr" indent="0" marL="0">
              <a:lnSpc>
                <a:spcPts val="1960"/>
              </a:lnSpc>
              <a:buNone/>
            </a:pPr>
            <a:r>
              <a:rPr lang="en-US" sz="1400" b="1" dirty="0">
                <a:solidFill>
                  <a:srgbClr val="1E1E1E"/>
                </a:solidFill>
                <a:latin typeface="Space Grotesk" pitchFamily="34" charset="0"/>
                <a:ea typeface="Space Grotesk" pitchFamily="34" charset="-122"/>
                <a:cs typeface="Space Grotesk" pitchFamily="34" charset="-120"/>
              </a:rPr>
              <a:t>4 · Observe</a:t>
            </a:r>
            <a:endParaRPr lang="en-US" sz="1400" dirty="0"/>
          </a:p>
        </p:txBody>
      </p:sp>
      <p:sp>
        <p:nvSpPr>
          <p:cNvPr id="8" name="Shape 6"/>
          <p:cNvSpPr/>
          <p:nvPr/>
        </p:nvSpPr>
        <p:spPr>
          <a:xfrm>
            <a:off x="815975" y="2334716"/>
            <a:ext cx="2520950" cy="717451"/>
          </a:xfrm>
          <a:prstGeom prst="roundRect">
            <a:avLst>
              <a:gd name="adj" fmla="val 13719"/>
            </a:avLst>
          </a:prstGeom>
          <a:solidFill>
            <a:srgbClr val="FBFBFC"/>
          </a:solidFill>
          <a:ln w="6350">
            <a:solidFill>
              <a:srgbClr val="D9D9D9"/>
            </a:solidFill>
            <a:prstDash val="solid"/>
          </a:ln>
        </p:spPr>
      </p:sp>
      <p:sp>
        <p:nvSpPr>
          <p:cNvPr id="9" name="Text 7"/>
          <p:cNvSpPr/>
          <p:nvPr/>
        </p:nvSpPr>
        <p:spPr>
          <a:xfrm>
            <a:off x="971550" y="2464891"/>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Custom instructions</a:t>
            </a:r>
            <a:endParaRPr lang="en-US" sz="1400" dirty="0"/>
          </a:p>
        </p:txBody>
      </p:sp>
      <p:sp>
        <p:nvSpPr>
          <p:cNvPr id="10" name="Text 8"/>
          <p:cNvSpPr/>
          <p:nvPr/>
        </p:nvSpPr>
        <p:spPr>
          <a:xfrm>
            <a:off x="971550" y="2716312"/>
            <a:ext cx="22760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Always-on house rules</a:t>
            </a:r>
            <a:endParaRPr lang="en-US" sz="1200" dirty="0"/>
          </a:p>
        </p:txBody>
      </p:sp>
      <p:sp>
        <p:nvSpPr>
          <p:cNvPr id="11" name="Shape 9"/>
          <p:cNvSpPr/>
          <p:nvPr/>
        </p:nvSpPr>
        <p:spPr>
          <a:xfrm>
            <a:off x="815975" y="3160117"/>
            <a:ext cx="2520950" cy="923131"/>
          </a:xfrm>
          <a:prstGeom prst="roundRect">
            <a:avLst>
              <a:gd name="adj" fmla="val 10662"/>
            </a:avLst>
          </a:prstGeom>
          <a:solidFill>
            <a:srgbClr val="FBFBFC"/>
          </a:solidFill>
          <a:ln w="6350">
            <a:solidFill>
              <a:srgbClr val="D9D9D9"/>
            </a:solidFill>
            <a:prstDash val="solid"/>
          </a:ln>
        </p:spPr>
      </p:sp>
      <p:sp>
        <p:nvSpPr>
          <p:cNvPr id="12" name="Text 10"/>
          <p:cNvSpPr/>
          <p:nvPr/>
        </p:nvSpPr>
        <p:spPr>
          <a:xfrm>
            <a:off x="971550" y="3290292"/>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Skills</a:t>
            </a:r>
            <a:endParaRPr lang="en-US" sz="1400" dirty="0"/>
          </a:p>
        </p:txBody>
      </p:sp>
      <p:sp>
        <p:nvSpPr>
          <p:cNvPr id="13" name="Text 11"/>
          <p:cNvSpPr/>
          <p:nvPr/>
        </p:nvSpPr>
        <p:spPr>
          <a:xfrm>
            <a:off x="971550" y="3541713"/>
            <a:ext cx="227609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Playbooks loaded when relevant</a:t>
            </a:r>
            <a:endParaRPr lang="en-US" sz="1200" dirty="0"/>
          </a:p>
        </p:txBody>
      </p:sp>
      <p:sp>
        <p:nvSpPr>
          <p:cNvPr id="14" name="Shape 12"/>
          <p:cNvSpPr/>
          <p:nvPr/>
        </p:nvSpPr>
        <p:spPr>
          <a:xfrm>
            <a:off x="3495675" y="2334716"/>
            <a:ext cx="2520950" cy="717451"/>
          </a:xfrm>
          <a:prstGeom prst="roundRect">
            <a:avLst>
              <a:gd name="adj" fmla="val 13719"/>
            </a:avLst>
          </a:prstGeom>
          <a:solidFill>
            <a:srgbClr val="FBFBFC"/>
          </a:solidFill>
          <a:ln w="6350">
            <a:solidFill>
              <a:srgbClr val="D9D9D9"/>
            </a:solidFill>
            <a:prstDash val="solid"/>
          </a:ln>
        </p:spPr>
      </p:sp>
      <p:sp>
        <p:nvSpPr>
          <p:cNvPr id="15" name="Text 13"/>
          <p:cNvSpPr/>
          <p:nvPr/>
        </p:nvSpPr>
        <p:spPr>
          <a:xfrm>
            <a:off x="3651250" y="2464891"/>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Model choice</a:t>
            </a:r>
            <a:endParaRPr lang="en-US" sz="1400" dirty="0"/>
          </a:p>
        </p:txBody>
      </p:sp>
      <p:sp>
        <p:nvSpPr>
          <p:cNvPr id="16" name="Text 14"/>
          <p:cNvSpPr/>
          <p:nvPr/>
        </p:nvSpPr>
        <p:spPr>
          <a:xfrm>
            <a:off x="3651250" y="2716312"/>
            <a:ext cx="22760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Pick a model, or Auto</a:t>
            </a:r>
            <a:endParaRPr lang="en-US" sz="1200" dirty="0"/>
          </a:p>
        </p:txBody>
      </p:sp>
      <p:sp>
        <p:nvSpPr>
          <p:cNvPr id="17" name="Shape 15"/>
          <p:cNvSpPr/>
          <p:nvPr/>
        </p:nvSpPr>
        <p:spPr>
          <a:xfrm>
            <a:off x="3495675" y="3160117"/>
            <a:ext cx="2520950" cy="923131"/>
          </a:xfrm>
          <a:prstGeom prst="roundRect">
            <a:avLst>
              <a:gd name="adj" fmla="val 10662"/>
            </a:avLst>
          </a:prstGeom>
          <a:solidFill>
            <a:srgbClr val="FBFBFC"/>
          </a:solidFill>
          <a:ln w="6350">
            <a:solidFill>
              <a:srgbClr val="D9D9D9"/>
            </a:solidFill>
            <a:prstDash val="solid"/>
          </a:ln>
        </p:spPr>
      </p:sp>
      <p:sp>
        <p:nvSpPr>
          <p:cNvPr id="18" name="Text 16"/>
          <p:cNvSpPr/>
          <p:nvPr/>
        </p:nvSpPr>
        <p:spPr>
          <a:xfrm>
            <a:off x="3651250" y="3290292"/>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Custom agents</a:t>
            </a:r>
            <a:endParaRPr lang="en-US" sz="1400" dirty="0"/>
          </a:p>
        </p:txBody>
      </p:sp>
      <p:sp>
        <p:nvSpPr>
          <p:cNvPr id="19" name="Text 17"/>
          <p:cNvSpPr/>
          <p:nvPr/>
        </p:nvSpPr>
        <p:spPr>
          <a:xfrm>
            <a:off x="3651250" y="3541713"/>
            <a:ext cx="227609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Specialists with their own context</a:t>
            </a:r>
            <a:endParaRPr lang="en-US" sz="1200" dirty="0"/>
          </a:p>
        </p:txBody>
      </p:sp>
      <p:sp>
        <p:nvSpPr>
          <p:cNvPr id="20" name="Shape 18"/>
          <p:cNvSpPr/>
          <p:nvPr/>
        </p:nvSpPr>
        <p:spPr>
          <a:xfrm>
            <a:off x="6175375" y="2334716"/>
            <a:ext cx="2520950" cy="717451"/>
          </a:xfrm>
          <a:prstGeom prst="roundRect">
            <a:avLst>
              <a:gd name="adj" fmla="val 13719"/>
            </a:avLst>
          </a:prstGeom>
          <a:solidFill>
            <a:srgbClr val="FBFBFC"/>
          </a:solidFill>
          <a:ln w="6350">
            <a:solidFill>
              <a:srgbClr val="D9D9D9"/>
            </a:solidFill>
            <a:prstDash val="solid"/>
          </a:ln>
        </p:spPr>
      </p:sp>
      <p:sp>
        <p:nvSpPr>
          <p:cNvPr id="21" name="Text 19"/>
          <p:cNvSpPr/>
          <p:nvPr/>
        </p:nvSpPr>
        <p:spPr>
          <a:xfrm>
            <a:off x="6330950" y="2464891"/>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Tool permissions</a:t>
            </a:r>
            <a:endParaRPr lang="en-US" sz="1400" dirty="0"/>
          </a:p>
        </p:txBody>
      </p:sp>
      <p:sp>
        <p:nvSpPr>
          <p:cNvPr id="22" name="Text 20"/>
          <p:cNvSpPr/>
          <p:nvPr/>
        </p:nvSpPr>
        <p:spPr>
          <a:xfrm>
            <a:off x="6330950" y="2716312"/>
            <a:ext cx="22760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Allow or deny per tool</a:t>
            </a:r>
            <a:endParaRPr lang="en-US" sz="1200" dirty="0"/>
          </a:p>
        </p:txBody>
      </p:sp>
      <p:sp>
        <p:nvSpPr>
          <p:cNvPr id="23" name="Shape 21"/>
          <p:cNvSpPr/>
          <p:nvPr/>
        </p:nvSpPr>
        <p:spPr>
          <a:xfrm>
            <a:off x="6175375" y="3160117"/>
            <a:ext cx="2520950" cy="717451"/>
          </a:xfrm>
          <a:prstGeom prst="roundRect">
            <a:avLst>
              <a:gd name="adj" fmla="val 13719"/>
            </a:avLst>
          </a:prstGeom>
          <a:solidFill>
            <a:srgbClr val="FBFBFC"/>
          </a:solidFill>
          <a:ln w="6350">
            <a:solidFill>
              <a:srgbClr val="D9D9D9"/>
            </a:solidFill>
            <a:prstDash val="solid"/>
          </a:ln>
        </p:spPr>
      </p:sp>
      <p:sp>
        <p:nvSpPr>
          <p:cNvPr id="24" name="Text 22"/>
          <p:cNvSpPr/>
          <p:nvPr/>
        </p:nvSpPr>
        <p:spPr>
          <a:xfrm>
            <a:off x="6330950" y="3290292"/>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MCP servers</a:t>
            </a:r>
            <a:endParaRPr lang="en-US" sz="1400" dirty="0"/>
          </a:p>
        </p:txBody>
      </p:sp>
      <p:sp>
        <p:nvSpPr>
          <p:cNvPr id="25" name="Text 23"/>
          <p:cNvSpPr/>
          <p:nvPr/>
        </p:nvSpPr>
        <p:spPr>
          <a:xfrm>
            <a:off x="6330950" y="3541713"/>
            <a:ext cx="227609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Add tools for external systems</a:t>
            </a:r>
            <a:endParaRPr lang="en-US" sz="1200" dirty="0"/>
          </a:p>
        </p:txBody>
      </p:sp>
      <p:sp>
        <p:nvSpPr>
          <p:cNvPr id="26" name="Shape 24"/>
          <p:cNvSpPr/>
          <p:nvPr/>
        </p:nvSpPr>
        <p:spPr>
          <a:xfrm>
            <a:off x="8855075" y="2334716"/>
            <a:ext cx="2520950" cy="923131"/>
          </a:xfrm>
          <a:prstGeom prst="roundRect">
            <a:avLst>
              <a:gd name="adj" fmla="val 10662"/>
            </a:avLst>
          </a:prstGeom>
          <a:solidFill>
            <a:srgbClr val="FBFBFC"/>
          </a:solidFill>
          <a:ln w="6350">
            <a:solidFill>
              <a:srgbClr val="D9D9D9"/>
            </a:solidFill>
            <a:prstDash val="solid"/>
          </a:ln>
        </p:spPr>
      </p:sp>
      <p:sp>
        <p:nvSpPr>
          <p:cNvPr id="27" name="Text 25"/>
          <p:cNvSpPr/>
          <p:nvPr/>
        </p:nvSpPr>
        <p:spPr>
          <a:xfrm>
            <a:off x="9010650" y="2464891"/>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Sub-agent results</a:t>
            </a:r>
            <a:endParaRPr lang="en-US" sz="1400" dirty="0"/>
          </a:p>
        </p:txBody>
      </p:sp>
      <p:sp>
        <p:nvSpPr>
          <p:cNvPr id="28" name="Text 26"/>
          <p:cNvSpPr/>
          <p:nvPr/>
        </p:nvSpPr>
        <p:spPr>
          <a:xfrm>
            <a:off x="9010650" y="2716312"/>
            <a:ext cx="227609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Summaries return to the main agent</a:t>
            </a:r>
            <a:endParaRPr lang="en-US" sz="1200" dirty="0"/>
          </a:p>
        </p:txBody>
      </p:sp>
      <p:sp>
        <p:nvSpPr>
          <p:cNvPr id="29" name="Shape 27"/>
          <p:cNvSpPr/>
          <p:nvPr/>
        </p:nvSpPr>
        <p:spPr>
          <a:xfrm>
            <a:off x="8855075" y="3365798"/>
            <a:ext cx="2520950" cy="923131"/>
          </a:xfrm>
          <a:prstGeom prst="roundRect">
            <a:avLst>
              <a:gd name="adj" fmla="val 10662"/>
            </a:avLst>
          </a:prstGeom>
          <a:solidFill>
            <a:srgbClr val="FBFBFC"/>
          </a:solidFill>
          <a:ln w="6350">
            <a:solidFill>
              <a:srgbClr val="D9D9D9"/>
            </a:solidFill>
            <a:prstDash val="solid"/>
          </a:ln>
        </p:spPr>
      </p:sp>
      <p:sp>
        <p:nvSpPr>
          <p:cNvPr id="30" name="Text 28"/>
          <p:cNvSpPr/>
          <p:nvPr/>
        </p:nvSpPr>
        <p:spPr>
          <a:xfrm>
            <a:off x="9010650" y="3495973"/>
            <a:ext cx="22760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Tool output</a:t>
            </a:r>
            <a:endParaRPr lang="en-US" sz="1400" dirty="0"/>
          </a:p>
        </p:txBody>
      </p:sp>
      <p:sp>
        <p:nvSpPr>
          <p:cNvPr id="31" name="Text 29"/>
          <p:cNvSpPr/>
          <p:nvPr/>
        </p:nvSpPr>
        <p:spPr>
          <a:xfrm>
            <a:off x="9010650" y="3747393"/>
            <a:ext cx="227609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Build and test results become context</a:t>
            </a:r>
            <a:endParaRPr lang="en-US" sz="1200" dirty="0"/>
          </a:p>
        </p:txBody>
      </p:sp>
      <p:sp>
        <p:nvSpPr>
          <p:cNvPr id="32" name="Shape 30"/>
          <p:cNvSpPr/>
          <p:nvPr/>
        </p:nvSpPr>
        <p:spPr>
          <a:xfrm>
            <a:off x="819150" y="4450854"/>
            <a:ext cx="10553700" cy="546100"/>
          </a:xfrm>
          <a:prstGeom prst="roundRect">
            <a:avLst>
              <a:gd name="adj" fmla="val 17442"/>
            </a:avLst>
          </a:prstGeom>
          <a:noFill/>
          <a:ln w="12700">
            <a:solidFill>
              <a:srgbClr val="0A5A8A"/>
            </a:solidFill>
            <a:prstDash val="solid"/>
          </a:ln>
        </p:spPr>
      </p:sp>
      <p:pic>
        <p:nvPicPr>
          <p:cNvPr id="33" name="Image 0" descr="Lightning">    </p:cNvPr>
          <p:cNvPicPr>
            <a:picLocks noChangeAspect="1"/>
          </p:cNvPicPr>
          <p:nvPr/>
        </p:nvPicPr>
        <p:blipFill>
          <a:blip r:embed="rId1"/>
          <a:srcRect l="0" r="0" t="0" b="0"/>
          <a:stretch/>
        </p:blipFill>
        <p:spPr>
          <a:xfrm>
            <a:off x="1028700" y="4584204"/>
            <a:ext cx="279400" cy="279400"/>
          </a:xfrm>
          <a:prstGeom prst="rect">
            <a:avLst/>
          </a:prstGeom>
        </p:spPr>
      </p:pic>
      <p:sp>
        <p:nvSpPr>
          <p:cNvPr id="34" name="Text 31"/>
          <p:cNvSpPr/>
          <p:nvPr/>
        </p:nvSpPr>
        <p:spPr>
          <a:xfrm>
            <a:off x="1460500" y="4599484"/>
            <a:ext cx="75378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Hooks</a:t>
            </a:r>
            <a:r>
              <a:rPr lang="en-US" sz="1400" dirty="0">
                <a:solidFill>
                  <a:srgbClr val="1E1E1E"/>
                </a:solidFill>
                <a:latin typeface="IBM Plex Sans" pitchFamily="34" charset="0"/>
                <a:ea typeface="IBM Plex Sans" pitchFamily="34" charset="-122"/>
                <a:cs typeface="IBM Plex Sans" pitchFamily="34" charset="-120"/>
              </a:rPr>
              <a:t> — your scripts run at fixed lifecycle points. Enforcement, not suggestion.</a:t>
            </a:r>
            <a:endParaRPr lang="en-US" sz="1400" dirty="0"/>
          </a:p>
        </p:txBody>
      </p:sp>
      <p:sp>
        <p:nvSpPr>
          <p:cNvPr id="35" name="Shape 32"/>
          <p:cNvSpPr/>
          <p:nvPr/>
        </p:nvSpPr>
        <p:spPr>
          <a:xfrm>
            <a:off x="819150" y="5162054"/>
            <a:ext cx="10553700" cy="546100"/>
          </a:xfrm>
          <a:prstGeom prst="roundRect">
            <a:avLst>
              <a:gd name="adj" fmla="val 17442"/>
            </a:avLst>
          </a:prstGeom>
          <a:noFill/>
          <a:ln w="12700">
            <a:solidFill>
              <a:srgbClr val="0B3C6F"/>
            </a:solidFill>
            <a:prstDash val="solid"/>
          </a:ln>
        </p:spPr>
      </p:sp>
      <p:pic>
        <p:nvPicPr>
          <p:cNvPr id="36" name="Image 1" descr="Link">    </p:cNvPr>
          <p:cNvPicPr>
            <a:picLocks noChangeAspect="1"/>
          </p:cNvPicPr>
          <p:nvPr/>
        </p:nvPicPr>
        <p:blipFill>
          <a:blip r:embed="rId2"/>
          <a:srcRect l="0" r="0" t="0" b="0"/>
          <a:stretch/>
        </p:blipFill>
        <p:spPr>
          <a:xfrm>
            <a:off x="1028700" y="5295404"/>
            <a:ext cx="279400" cy="279400"/>
          </a:xfrm>
          <a:prstGeom prst="rect">
            <a:avLst/>
          </a:prstGeom>
        </p:spPr>
      </p:pic>
      <p:sp>
        <p:nvSpPr>
          <p:cNvPr id="37" name="Text 33"/>
          <p:cNvSpPr/>
          <p:nvPr/>
        </p:nvSpPr>
        <p:spPr>
          <a:xfrm>
            <a:off x="1460500" y="5310684"/>
            <a:ext cx="654653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Plugins</a:t>
            </a:r>
            <a:r>
              <a:rPr lang="en-US" sz="1400" dirty="0">
                <a:solidFill>
                  <a:srgbClr val="1E1E1E"/>
                </a:solidFill>
                <a:latin typeface="IBM Plex Sans" pitchFamily="34" charset="0"/>
                <a:ea typeface="IBM Plex Sans" pitchFamily="34" charset="-122"/>
                <a:cs typeface="IBM Plex Sans" pitchFamily="34" charset="-120"/>
              </a:rPr>
              <a:t> — package all of the above and share it with the whole team.</a:t>
            </a:r>
            <a:endParaRPr lang="en-US" sz="1400" dirty="0"/>
          </a:p>
        </p:txBody>
      </p:sp>
      <p:sp>
        <p:nvSpPr>
          <p:cNvPr id="38"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Comparing GitHub Copilot CLI customization features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06 · STEERING COPILOT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Hooks turn “please” into “must”</a:t>
            </a:r>
            <a:endParaRPr lang="en-US" sz="3200" dirty="0"/>
          </a:p>
        </p:txBody>
      </p:sp>
      <p:sp>
        <p:nvSpPr>
          <p:cNvPr id="4" name="Text 2"/>
          <p:cNvSpPr/>
          <p:nvPr/>
        </p:nvSpPr>
        <p:spPr>
          <a:xfrm>
            <a:off x="812800" y="18795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Instructions and skills ask the model. Hooks run your code at these points (plus errorOccurred).</a:t>
            </a:r>
            <a:endParaRPr lang="en-US" sz="1400" dirty="0"/>
          </a:p>
        </p:txBody>
      </p:sp>
      <p:sp>
        <p:nvSpPr>
          <p:cNvPr id="5" name="Shape 3"/>
          <p:cNvSpPr/>
          <p:nvPr/>
        </p:nvSpPr>
        <p:spPr>
          <a:xfrm>
            <a:off x="812800" y="3080841"/>
            <a:ext cx="10566400" cy="25400"/>
          </a:xfrm>
          <a:prstGeom prst="rect">
            <a:avLst/>
          </a:prstGeom>
          <a:solidFill>
            <a:srgbClr val="C4C4C4"/>
          </a:solidFill>
          <a:ln/>
        </p:spPr>
      </p:sp>
      <p:pic>
        <p:nvPicPr>
          <p:cNvPr id="6" name="Image 0" descr="ellipse">    </p:cNvPr>
          <p:cNvPicPr>
            <a:picLocks noChangeAspect="1"/>
          </p:cNvPicPr>
          <p:nvPr/>
        </p:nvPicPr>
        <p:blipFill>
          <a:blip r:embed="rId1"/>
          <a:srcRect l="0" r="0" t="0" b="0"/>
          <a:stretch/>
        </p:blipFill>
        <p:spPr>
          <a:xfrm>
            <a:off x="1739900" y="3004641"/>
            <a:ext cx="177800" cy="177800"/>
          </a:xfrm>
          <a:prstGeom prst="rect">
            <a:avLst/>
          </a:prstGeom>
        </p:spPr>
      </p:pic>
      <p:sp>
        <p:nvSpPr>
          <p:cNvPr id="7" name="Text 4"/>
          <p:cNvSpPr/>
          <p:nvPr/>
        </p:nvSpPr>
        <p:spPr>
          <a:xfrm>
            <a:off x="847725" y="25855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sessionStart</a:t>
            </a:r>
            <a:endParaRPr lang="en-US" sz="1200" dirty="0"/>
          </a:p>
        </p:txBody>
      </p:sp>
      <p:pic>
        <p:nvPicPr>
          <p:cNvPr id="8" name="Image 1" descr="ellipse">    </p:cNvPr>
          <p:cNvPicPr>
            <a:picLocks noChangeAspect="1"/>
          </p:cNvPicPr>
          <p:nvPr/>
        </p:nvPicPr>
        <p:blipFill>
          <a:blip r:embed="rId2"/>
          <a:srcRect l="0" r="0" t="0" b="0"/>
          <a:stretch/>
        </p:blipFill>
        <p:spPr>
          <a:xfrm>
            <a:off x="3200400" y="3004641"/>
            <a:ext cx="177800" cy="177800"/>
          </a:xfrm>
          <a:prstGeom prst="rect">
            <a:avLst/>
          </a:prstGeom>
        </p:spPr>
      </p:pic>
      <p:sp>
        <p:nvSpPr>
          <p:cNvPr id="9" name="Text 5"/>
          <p:cNvSpPr/>
          <p:nvPr/>
        </p:nvSpPr>
        <p:spPr>
          <a:xfrm>
            <a:off x="2308225" y="33221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userPromptSubmitted</a:t>
            </a:r>
            <a:endParaRPr lang="en-US" sz="1200" dirty="0"/>
          </a:p>
        </p:txBody>
      </p:sp>
      <p:pic>
        <p:nvPicPr>
          <p:cNvPr id="10" name="Image 2" descr="ellipse">    </p:cNvPr>
          <p:cNvPicPr>
            <a:picLocks noChangeAspect="1"/>
          </p:cNvPicPr>
          <p:nvPr/>
        </p:nvPicPr>
        <p:blipFill>
          <a:blip r:embed="rId3"/>
          <a:srcRect l="0" r="0" t="0" b="0"/>
          <a:stretch/>
        </p:blipFill>
        <p:spPr>
          <a:xfrm>
            <a:off x="4660900" y="3004641"/>
            <a:ext cx="177800" cy="177800"/>
          </a:xfrm>
          <a:prstGeom prst="rect">
            <a:avLst/>
          </a:prstGeom>
        </p:spPr>
      </p:pic>
      <p:sp>
        <p:nvSpPr>
          <p:cNvPr id="11" name="Text 6"/>
          <p:cNvSpPr/>
          <p:nvPr/>
        </p:nvSpPr>
        <p:spPr>
          <a:xfrm>
            <a:off x="3768725" y="25855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preToolUse</a:t>
            </a:r>
            <a:endParaRPr lang="en-US" sz="1200" dirty="0"/>
          </a:p>
        </p:txBody>
      </p:sp>
      <p:pic>
        <p:nvPicPr>
          <p:cNvPr id="12" name="Image 3" descr="ellipse">    </p:cNvPr>
          <p:cNvPicPr>
            <a:picLocks noChangeAspect="1"/>
          </p:cNvPicPr>
          <p:nvPr/>
        </p:nvPicPr>
        <p:blipFill>
          <a:blip r:embed="rId4"/>
          <a:srcRect l="0" r="0" t="0" b="0"/>
          <a:stretch/>
        </p:blipFill>
        <p:spPr>
          <a:xfrm>
            <a:off x="6121400" y="3004641"/>
            <a:ext cx="177800" cy="177800"/>
          </a:xfrm>
          <a:prstGeom prst="rect">
            <a:avLst/>
          </a:prstGeom>
        </p:spPr>
      </p:pic>
      <p:sp>
        <p:nvSpPr>
          <p:cNvPr id="13" name="Text 7"/>
          <p:cNvSpPr/>
          <p:nvPr/>
        </p:nvSpPr>
        <p:spPr>
          <a:xfrm>
            <a:off x="5229225" y="33221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postToolUse</a:t>
            </a:r>
            <a:endParaRPr lang="en-US" sz="1200" dirty="0"/>
          </a:p>
        </p:txBody>
      </p:sp>
      <p:pic>
        <p:nvPicPr>
          <p:cNvPr id="14" name="Image 4" descr="ellipse">    </p:cNvPr>
          <p:cNvPicPr>
            <a:picLocks noChangeAspect="1"/>
          </p:cNvPicPr>
          <p:nvPr/>
        </p:nvPicPr>
        <p:blipFill>
          <a:blip r:embed="rId5"/>
          <a:srcRect l="0" r="0" t="0" b="0"/>
          <a:stretch/>
        </p:blipFill>
        <p:spPr>
          <a:xfrm>
            <a:off x="7581900" y="3004641"/>
            <a:ext cx="177800" cy="177800"/>
          </a:xfrm>
          <a:prstGeom prst="rect">
            <a:avLst/>
          </a:prstGeom>
        </p:spPr>
      </p:pic>
      <p:sp>
        <p:nvSpPr>
          <p:cNvPr id="15" name="Text 8"/>
          <p:cNvSpPr/>
          <p:nvPr/>
        </p:nvSpPr>
        <p:spPr>
          <a:xfrm>
            <a:off x="6689725" y="25855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subagentStop</a:t>
            </a:r>
            <a:endParaRPr lang="en-US" sz="1200" dirty="0"/>
          </a:p>
        </p:txBody>
      </p:sp>
      <p:pic>
        <p:nvPicPr>
          <p:cNvPr id="16" name="Image 5" descr="ellipse">    </p:cNvPr>
          <p:cNvPicPr>
            <a:picLocks noChangeAspect="1"/>
          </p:cNvPicPr>
          <p:nvPr/>
        </p:nvPicPr>
        <p:blipFill>
          <a:blip r:embed="rId6"/>
          <a:srcRect l="0" r="0" t="0" b="0"/>
          <a:stretch/>
        </p:blipFill>
        <p:spPr>
          <a:xfrm>
            <a:off x="9042400" y="3004641"/>
            <a:ext cx="177800" cy="177800"/>
          </a:xfrm>
          <a:prstGeom prst="rect">
            <a:avLst/>
          </a:prstGeom>
        </p:spPr>
      </p:pic>
      <p:sp>
        <p:nvSpPr>
          <p:cNvPr id="17" name="Text 9"/>
          <p:cNvSpPr/>
          <p:nvPr/>
        </p:nvSpPr>
        <p:spPr>
          <a:xfrm>
            <a:off x="8150225" y="33221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agentStop</a:t>
            </a:r>
            <a:endParaRPr lang="en-US" sz="1200" dirty="0"/>
          </a:p>
        </p:txBody>
      </p:sp>
      <p:pic>
        <p:nvPicPr>
          <p:cNvPr id="18" name="Image 6" descr="ellipse">    </p:cNvPr>
          <p:cNvPicPr>
            <a:picLocks noChangeAspect="1"/>
          </p:cNvPicPr>
          <p:nvPr/>
        </p:nvPicPr>
        <p:blipFill>
          <a:blip r:embed="rId7"/>
          <a:srcRect l="0" r="0" t="0" b="0"/>
          <a:stretch/>
        </p:blipFill>
        <p:spPr>
          <a:xfrm>
            <a:off x="10185400" y="3004641"/>
            <a:ext cx="177800" cy="177800"/>
          </a:xfrm>
          <a:prstGeom prst="rect">
            <a:avLst/>
          </a:prstGeom>
        </p:spPr>
      </p:pic>
      <p:sp>
        <p:nvSpPr>
          <p:cNvPr id="19" name="Text 10"/>
          <p:cNvSpPr/>
          <p:nvPr/>
        </p:nvSpPr>
        <p:spPr>
          <a:xfrm>
            <a:off x="9293225" y="2585541"/>
            <a:ext cx="196215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1E1E1E"/>
                </a:solidFill>
                <a:latin typeface="JetBrains Mono" pitchFamily="49" charset="0"/>
                <a:ea typeface="JetBrains Mono" pitchFamily="49" charset="-122"/>
                <a:cs typeface="JetBrains Mono" pitchFamily="49" charset="-120"/>
              </a:rPr>
              <a:t>sessionEnd</a:t>
            </a:r>
            <a:endParaRPr lang="en-US" sz="1200" dirty="0"/>
          </a:p>
        </p:txBody>
      </p:sp>
      <p:sp>
        <p:nvSpPr>
          <p:cNvPr id="20" name="Shape 11"/>
          <p:cNvSpPr/>
          <p:nvPr/>
        </p:nvSpPr>
        <p:spPr>
          <a:xfrm>
            <a:off x="815975" y="4061916"/>
            <a:ext cx="3414216" cy="1494631"/>
          </a:xfrm>
          <a:prstGeom prst="roundRect">
            <a:avLst>
              <a:gd name="adj" fmla="val 6585"/>
            </a:avLst>
          </a:prstGeom>
          <a:solidFill>
            <a:srgbClr val="FBFBFC"/>
          </a:solidFill>
          <a:ln w="6350">
            <a:solidFill>
              <a:srgbClr val="D9D9D9"/>
            </a:solidFill>
            <a:prstDash val="solid"/>
          </a:ln>
        </p:spPr>
      </p:sp>
      <p:sp>
        <p:nvSpPr>
          <p:cNvPr id="21" name="Text 12"/>
          <p:cNvSpPr/>
          <p:nvPr/>
        </p:nvSpPr>
        <p:spPr>
          <a:xfrm>
            <a:off x="996950" y="4242891"/>
            <a:ext cx="31438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3C6F"/>
                </a:solidFill>
                <a:latin typeface="JetBrains Mono" pitchFamily="49" charset="0"/>
                <a:ea typeface="JetBrains Mono" pitchFamily="49" charset="-122"/>
                <a:cs typeface="JetBrains Mono" pitchFamily="49" charset="-120"/>
              </a:rPr>
              <a:t>preToolUse</a:t>
            </a:r>
            <a:endParaRPr lang="en-US" sz="1400" dirty="0"/>
          </a:p>
        </p:txBody>
      </p:sp>
      <p:sp>
        <p:nvSpPr>
          <p:cNvPr id="22" name="Text 13"/>
          <p:cNvSpPr/>
          <p:nvPr/>
        </p:nvSpPr>
        <p:spPr>
          <a:xfrm>
            <a:off x="996950" y="4555232"/>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Block edits under infra/ unless a ticket ID is present</a:t>
            </a:r>
            <a:endParaRPr lang="en-US" sz="1400" dirty="0"/>
          </a:p>
        </p:txBody>
      </p:sp>
      <p:sp>
        <p:nvSpPr>
          <p:cNvPr id="23" name="Text 14"/>
          <p:cNvSpPr/>
          <p:nvPr/>
        </p:nvSpPr>
        <p:spPr>
          <a:xfrm>
            <a:off x="996950" y="5162252"/>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Example from GitHub Docs</a:t>
            </a:r>
            <a:endParaRPr lang="en-US" sz="1200" dirty="0"/>
          </a:p>
        </p:txBody>
      </p:sp>
      <p:sp>
        <p:nvSpPr>
          <p:cNvPr id="24" name="Shape 15"/>
          <p:cNvSpPr/>
          <p:nvPr/>
        </p:nvSpPr>
        <p:spPr>
          <a:xfrm>
            <a:off x="4388941" y="4061916"/>
            <a:ext cx="3414216" cy="1494631"/>
          </a:xfrm>
          <a:prstGeom prst="roundRect">
            <a:avLst>
              <a:gd name="adj" fmla="val 6585"/>
            </a:avLst>
          </a:prstGeom>
          <a:solidFill>
            <a:srgbClr val="FBFBFC"/>
          </a:solidFill>
          <a:ln w="6350">
            <a:solidFill>
              <a:srgbClr val="D9D9D9"/>
            </a:solidFill>
            <a:prstDash val="solid"/>
          </a:ln>
        </p:spPr>
      </p:sp>
      <p:sp>
        <p:nvSpPr>
          <p:cNvPr id="25" name="Text 16"/>
          <p:cNvSpPr/>
          <p:nvPr/>
        </p:nvSpPr>
        <p:spPr>
          <a:xfrm>
            <a:off x="4569916" y="4242891"/>
            <a:ext cx="31438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3C6F"/>
                </a:solidFill>
                <a:latin typeface="JetBrains Mono" pitchFamily="49" charset="0"/>
                <a:ea typeface="JetBrains Mono" pitchFamily="49" charset="-122"/>
                <a:cs typeface="JetBrains Mono" pitchFamily="49" charset="-120"/>
              </a:rPr>
              <a:t>agentStop</a:t>
            </a:r>
            <a:endParaRPr lang="en-US" sz="1400" dirty="0"/>
          </a:p>
        </p:txBody>
      </p:sp>
      <p:sp>
        <p:nvSpPr>
          <p:cNvPr id="26" name="Text 17"/>
          <p:cNvSpPr/>
          <p:nvPr/>
        </p:nvSpPr>
        <p:spPr>
          <a:xfrm>
            <a:off x="4569916" y="4555232"/>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Archive the session transcript to storage</a:t>
            </a:r>
            <a:endParaRPr lang="en-US" sz="1400" dirty="0"/>
          </a:p>
        </p:txBody>
      </p:sp>
      <p:sp>
        <p:nvSpPr>
          <p:cNvPr id="27" name="Text 18"/>
          <p:cNvSpPr/>
          <p:nvPr/>
        </p:nvSpPr>
        <p:spPr>
          <a:xfrm>
            <a:off x="4569916" y="5162252"/>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Example from GitHub Docs</a:t>
            </a:r>
            <a:endParaRPr lang="en-US" sz="1200" dirty="0"/>
          </a:p>
        </p:txBody>
      </p:sp>
      <p:sp>
        <p:nvSpPr>
          <p:cNvPr id="28" name="Shape 19"/>
          <p:cNvSpPr/>
          <p:nvPr/>
        </p:nvSpPr>
        <p:spPr>
          <a:xfrm>
            <a:off x="7961908" y="4061916"/>
            <a:ext cx="3414216" cy="1494631"/>
          </a:xfrm>
          <a:prstGeom prst="roundRect">
            <a:avLst>
              <a:gd name="adj" fmla="val 6585"/>
            </a:avLst>
          </a:prstGeom>
          <a:solidFill>
            <a:srgbClr val="FBFBFC"/>
          </a:solidFill>
          <a:ln w="6350">
            <a:solidFill>
              <a:srgbClr val="D9D9D9"/>
            </a:solidFill>
            <a:prstDash val="solid"/>
          </a:ln>
        </p:spPr>
      </p:sp>
      <p:sp>
        <p:nvSpPr>
          <p:cNvPr id="29" name="Text 20"/>
          <p:cNvSpPr/>
          <p:nvPr/>
        </p:nvSpPr>
        <p:spPr>
          <a:xfrm>
            <a:off x="8142883" y="4242891"/>
            <a:ext cx="31438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5A8A"/>
                </a:solidFill>
                <a:latin typeface="JetBrains Mono" pitchFamily="49" charset="0"/>
                <a:ea typeface="JetBrains Mono" pitchFamily="49" charset="-122"/>
                <a:cs typeface="JetBrains Mono" pitchFamily="49" charset="-120"/>
              </a:rPr>
              <a:t>postToolUse</a:t>
            </a:r>
            <a:endParaRPr lang="en-US" sz="1400" dirty="0"/>
          </a:p>
        </p:txBody>
      </p:sp>
      <p:sp>
        <p:nvSpPr>
          <p:cNvPr id="30" name="Text 21"/>
          <p:cNvSpPr/>
          <p:nvPr/>
        </p:nvSpPr>
        <p:spPr>
          <a:xfrm>
            <a:off x="8142883" y="4555232"/>
            <a:ext cx="314383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Run dotnet build after each edit; feed errors back</a:t>
            </a:r>
            <a:endParaRPr lang="en-US" sz="1400" dirty="0"/>
          </a:p>
        </p:txBody>
      </p:sp>
      <p:sp>
        <p:nvSpPr>
          <p:cNvPr id="31" name="Text 22"/>
          <p:cNvSpPr/>
          <p:nvPr/>
        </p:nvSpPr>
        <p:spPr>
          <a:xfrm>
            <a:off x="8142883" y="5162252"/>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Our idea — to pilot</a:t>
            </a:r>
            <a:endParaRPr lang="en-US" sz="1200" dirty="0"/>
          </a:p>
        </p:txBody>
      </p:sp>
      <p:sp>
        <p:nvSpPr>
          <p:cNvPr id="32"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Comparing CLI customization features; Hooks reference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06 · STEERING COPILOT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Where each piece lives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849563"/>
        </p:xfrm>
        <a:graphic>
          <a:graphicData uri="http://schemas.openxmlformats.org/drawingml/2006/table">
            <a:tbl>
              <a:tblPr/>
              <a:tblGrid>
                <a:gridCol w="1688592"/>
                <a:gridCol w="3377184"/>
                <a:gridCol w="3166110"/>
                <a:gridCol w="2321814"/>
              </a:tblGrid>
              <a:tr h="403820">
                <a:tc>
                  <a:txBody>
                    <a:bodyPr/>
                    <a:lstStyle/>
                    <a:p>
                      <a:pPr indent="0" marL="0">
                        <a:lnSpc>
                          <a:spcPts val="1680"/>
                        </a:lnSpc>
                        <a:buNone/>
                      </a:pPr>
                      <a:r>
                        <a:rPr lang="en-US" sz="1200" b="1" dirty="0">
                          <a:solidFill>
                            <a:srgbClr val="0A5A8A"/>
                          </a:solidFill>
                          <a:latin typeface="JetBrains Mono" pitchFamily="49" charset="0"/>
                          <a:ea typeface="JetBrains Mono" pitchFamily="49" charset="-122"/>
                          <a:cs typeface="JetBrains Mono" pitchFamily="49" charset="-120"/>
                        </a:rPr>
                        <a:t>Feature</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680"/>
                        </a:lnSpc>
                        <a:buNone/>
                      </a:pPr>
                      <a:r>
                        <a:rPr lang="en-US" sz="1200" b="1" dirty="0">
                          <a:solidFill>
                            <a:srgbClr val="0A5A8A"/>
                          </a:solidFill>
                          <a:latin typeface="JetBrains Mono" pitchFamily="49" charset="0"/>
                          <a:ea typeface="JetBrains Mono" pitchFamily="49" charset="-122"/>
                          <a:cs typeface="JetBrains Mono" pitchFamily="49" charset="-120"/>
                        </a:rPr>
                        <a:t>In the repo (team)</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680"/>
                        </a:lnSpc>
                        <a:buNone/>
                      </a:pPr>
                      <a:r>
                        <a:rPr lang="en-US" sz="1200" b="1" dirty="0">
                          <a:solidFill>
                            <a:srgbClr val="0A5A8A"/>
                          </a:solidFill>
                          <a:latin typeface="JetBrains Mono" pitchFamily="49" charset="0"/>
                          <a:ea typeface="JetBrains Mono" pitchFamily="49" charset="-122"/>
                          <a:cs typeface="JetBrains Mono" pitchFamily="49" charset="-120"/>
                        </a:rPr>
                        <a:t>Personal</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680"/>
                        </a:lnSpc>
                        <a:buNone/>
                      </a:pPr>
                      <a:r>
                        <a:rPr lang="en-US" sz="1200" b="1" dirty="0">
                          <a:solidFill>
                            <a:srgbClr val="0A5A8A"/>
                          </a:solidFill>
                          <a:latin typeface="JetBrains Mono" pitchFamily="49" charset="0"/>
                          <a:ea typeface="JetBrains Mono" pitchFamily="49" charset="-122"/>
                          <a:cs typeface="JetBrains Mono" pitchFamily="49" charset="-120"/>
                        </a:rPr>
                        <a:t>Loaded</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617141">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Instructions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AGENTS.md or .github/copilot-instructions.md</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~/.copilot/copilot-instructions.md</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Every session</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617141">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Skills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.github/skills/ (also .claude/ or .agents/)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~/.copilot/skills/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When relevant, or /name</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03820">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Custom agents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.github/agents/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~/.copilot/agents/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Delegated, or --agent</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403820">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Hooks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.github/ hooks config</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At lifecycle events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03820">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Plugins</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Marketplace or a GitHub repo</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/plugin install</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680"/>
                        </a:lnSpc>
                        <a:buNone/>
                      </a:pPr>
                      <a:r>
                        <a:rPr lang="en-US" sz="1200" dirty="0">
                          <a:solidFill>
                            <a:srgbClr val="1E1E1E"/>
                          </a:solidFill>
                          <a:latin typeface="JetBrains Mono" pitchFamily="49" charset="0"/>
                          <a:ea typeface="JetBrains Mono" pitchFamily="49" charset="-122"/>
                          <a:cs typeface="JetBrains Mono" pitchFamily="49" charset="-120"/>
                        </a:rPr>
                        <a:t>Bundles the rest</a:t>
                      </a:r>
                      <a:endParaRPr lang="en-US" sz="1200" dirty="0">
                        <a:latin typeface="JetBrains Mono" charset="0"/>
                        <a:ea typeface="JetBrains Mono" charset="0"/>
                        <a:cs typeface="JetBrains Mono"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(2026): Comparing CLI features; Customization cheat sheet. Paths change — check your version.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127000" cy="127000"/>
          </a:xfrm>
          <a:prstGeom prst="roundRect">
            <a:avLst>
              <a:gd name="adj" fmla="val 50000"/>
            </a:avLst>
          </a:prstGeom>
          <a:solidFill>
            <a:srgbClr val="D9D9D9"/>
          </a:solidFill>
          <a:ln/>
        </p:spPr>
      </p:sp>
      <p:sp>
        <p:nvSpPr>
          <p:cNvPr id="6" name="Shape 4"/>
          <p:cNvSpPr/>
          <p:nvPr/>
        </p:nvSpPr>
        <p:spPr>
          <a:xfrm>
            <a:off x="1625600" y="812800"/>
            <a:ext cx="127000" cy="127000"/>
          </a:xfrm>
          <a:prstGeom prst="roundRect">
            <a:avLst>
              <a:gd name="adj" fmla="val 50000"/>
            </a:avLst>
          </a:prstGeom>
          <a:solidFill>
            <a:srgbClr val="D9D9D9"/>
          </a:solidFill>
          <a:ln/>
        </p:spPr>
      </p:sp>
      <p:sp>
        <p:nvSpPr>
          <p:cNvPr id="7" name="Shape 5"/>
          <p:cNvSpPr/>
          <p:nvPr/>
        </p:nvSpPr>
        <p:spPr>
          <a:xfrm>
            <a:off x="1828800" y="812800"/>
            <a:ext cx="127000" cy="127000"/>
          </a:xfrm>
          <a:prstGeom prst="roundRect">
            <a:avLst>
              <a:gd name="adj" fmla="val 50000"/>
            </a:avLst>
          </a:prstGeom>
          <a:solidFill>
            <a:srgbClr val="D9D9D9"/>
          </a:solidFill>
          <a:ln/>
        </p:spPr>
      </p:sp>
      <p:sp>
        <p:nvSpPr>
          <p:cNvPr id="8" name="Shape 6"/>
          <p:cNvSpPr/>
          <p:nvPr/>
        </p:nvSpPr>
        <p:spPr>
          <a:xfrm>
            <a:off x="2032000" y="812800"/>
            <a:ext cx="457200" cy="127000"/>
          </a:xfrm>
          <a:prstGeom prst="roundRect">
            <a:avLst>
              <a:gd name="adj" fmla="val 50000"/>
            </a:avLst>
          </a:prstGeom>
          <a:solidFill>
            <a:srgbClr val="00AEEF"/>
          </a:solidFill>
          <a:ln/>
        </p:spPr>
      </p:sp>
      <p:sp>
        <p:nvSpPr>
          <p:cNvPr id="9" name="Shape 7"/>
          <p:cNvSpPr/>
          <p:nvPr/>
        </p:nvSpPr>
        <p:spPr>
          <a:xfrm>
            <a:off x="2565400" y="812800"/>
            <a:ext cx="127000" cy="127000"/>
          </a:xfrm>
          <a:prstGeom prst="roundRect">
            <a:avLst>
              <a:gd name="adj" fmla="val 50000"/>
            </a:avLst>
          </a:prstGeom>
          <a:solidFill>
            <a:srgbClr val="D9D9D9"/>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07</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Quality and cost</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Tests as the boundary, honest trade-offs, and token cost</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07 · QUALITY AND COST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TDD gives the agent a definition of “right”</a:t>
            </a:r>
            <a:endParaRPr lang="en-US" sz="3200" dirty="0"/>
          </a:p>
        </p:txBody>
      </p:sp>
      <p:sp>
        <p:nvSpPr>
          <p:cNvPr id="4" name="Shape 2"/>
          <p:cNvSpPr/>
          <p:nvPr/>
        </p:nvSpPr>
        <p:spPr>
          <a:xfrm>
            <a:off x="819150" y="1885851"/>
            <a:ext cx="2781300" cy="1066800"/>
          </a:xfrm>
          <a:prstGeom prst="roundRect">
            <a:avLst>
              <a:gd name="adj" fmla="val 8929"/>
            </a:avLst>
          </a:prstGeom>
          <a:solidFill>
            <a:srgbClr val="FBFBFC"/>
          </a:solidFill>
          <a:ln w="12700">
            <a:solidFill>
              <a:srgbClr val="D9D9D9"/>
            </a:solidFill>
            <a:prstDash val="solid"/>
          </a:ln>
        </p:spPr>
      </p:sp>
      <p:sp>
        <p:nvSpPr>
          <p:cNvPr id="5" name="Text 3"/>
          <p:cNvSpPr/>
          <p:nvPr/>
        </p:nvSpPr>
        <p:spPr>
          <a:xfrm>
            <a:off x="977900" y="20446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1 · Red</a:t>
            </a:r>
            <a:endParaRPr lang="en-US" sz="1400" dirty="0"/>
          </a:p>
        </p:txBody>
      </p:sp>
      <p:sp>
        <p:nvSpPr>
          <p:cNvPr id="6" name="Text 4"/>
          <p:cNvSpPr/>
          <p:nvPr/>
        </p:nvSpPr>
        <p:spPr>
          <a:xfrm>
            <a:off x="977900" y="2308721"/>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Human writes or approves a failing test</a:t>
            </a:r>
            <a:endParaRPr lang="en-US" sz="1200" dirty="0"/>
          </a:p>
        </p:txBody>
      </p:sp>
      <p:sp>
        <p:nvSpPr>
          <p:cNvPr id="7" name="Shape 5"/>
          <p:cNvSpPr/>
          <p:nvPr/>
        </p:nvSpPr>
        <p:spPr>
          <a:xfrm>
            <a:off x="8591550" y="1885851"/>
            <a:ext cx="2781300" cy="1066800"/>
          </a:xfrm>
          <a:prstGeom prst="roundRect">
            <a:avLst>
              <a:gd name="adj" fmla="val 8929"/>
            </a:avLst>
          </a:prstGeom>
          <a:solidFill>
            <a:srgbClr val="FBFBFC"/>
          </a:solidFill>
          <a:ln w="12700">
            <a:solidFill>
              <a:srgbClr val="D9D9D9"/>
            </a:solidFill>
            <a:prstDash val="solid"/>
          </a:ln>
        </p:spPr>
      </p:sp>
      <p:sp>
        <p:nvSpPr>
          <p:cNvPr id="8" name="Text 6"/>
          <p:cNvSpPr/>
          <p:nvPr/>
        </p:nvSpPr>
        <p:spPr>
          <a:xfrm>
            <a:off x="8750300" y="20446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2 · Green</a:t>
            </a:r>
            <a:endParaRPr lang="en-US" sz="1400" dirty="0"/>
          </a:p>
        </p:txBody>
      </p:sp>
      <p:sp>
        <p:nvSpPr>
          <p:cNvPr id="9" name="Text 7"/>
          <p:cNvSpPr/>
          <p:nvPr/>
        </p:nvSpPr>
        <p:spPr>
          <a:xfrm>
            <a:off x="8750300" y="23087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Agent writes code until it passes</a:t>
            </a:r>
            <a:endParaRPr lang="en-US" sz="1200" dirty="0"/>
          </a:p>
        </p:txBody>
      </p:sp>
      <p:sp>
        <p:nvSpPr>
          <p:cNvPr id="10" name="Shape 8"/>
          <p:cNvSpPr/>
          <p:nvPr/>
        </p:nvSpPr>
        <p:spPr>
          <a:xfrm>
            <a:off x="8591550" y="4108351"/>
            <a:ext cx="2781300" cy="1066800"/>
          </a:xfrm>
          <a:prstGeom prst="roundRect">
            <a:avLst>
              <a:gd name="adj" fmla="val 8929"/>
            </a:avLst>
          </a:prstGeom>
          <a:solidFill>
            <a:srgbClr val="FBFBFC"/>
          </a:solidFill>
          <a:ln w="12700">
            <a:solidFill>
              <a:srgbClr val="D9D9D9"/>
            </a:solidFill>
            <a:prstDash val="solid"/>
          </a:ln>
        </p:spPr>
      </p:sp>
      <p:sp>
        <p:nvSpPr>
          <p:cNvPr id="11" name="Text 9"/>
          <p:cNvSpPr/>
          <p:nvPr/>
        </p:nvSpPr>
        <p:spPr>
          <a:xfrm>
            <a:off x="8750300" y="42671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3 · Refactor</a:t>
            </a:r>
            <a:endParaRPr lang="en-US" sz="1400" dirty="0"/>
          </a:p>
        </p:txBody>
      </p:sp>
      <p:sp>
        <p:nvSpPr>
          <p:cNvPr id="12" name="Text 10"/>
          <p:cNvSpPr/>
          <p:nvPr/>
        </p:nvSpPr>
        <p:spPr>
          <a:xfrm>
            <a:off x="8750300" y="4531221"/>
            <a:ext cx="2537714"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Agent cleans up; tests stay green</a:t>
            </a:r>
            <a:endParaRPr lang="en-US" sz="1200" dirty="0"/>
          </a:p>
        </p:txBody>
      </p:sp>
      <p:sp>
        <p:nvSpPr>
          <p:cNvPr id="13" name="Shape 11"/>
          <p:cNvSpPr/>
          <p:nvPr/>
        </p:nvSpPr>
        <p:spPr>
          <a:xfrm>
            <a:off x="819150" y="4108351"/>
            <a:ext cx="2781300" cy="1066800"/>
          </a:xfrm>
          <a:prstGeom prst="roundRect">
            <a:avLst>
              <a:gd name="adj" fmla="val 8929"/>
            </a:avLst>
          </a:prstGeom>
          <a:solidFill>
            <a:srgbClr val="FBFBFC"/>
          </a:solidFill>
          <a:ln w="12700">
            <a:solidFill>
              <a:srgbClr val="D9D9D9"/>
            </a:solidFill>
            <a:prstDash val="solid"/>
          </a:ln>
        </p:spPr>
      </p:sp>
      <p:sp>
        <p:nvSpPr>
          <p:cNvPr id="14" name="Text 12"/>
          <p:cNvSpPr/>
          <p:nvPr/>
        </p:nvSpPr>
        <p:spPr>
          <a:xfrm>
            <a:off x="977900" y="4267101"/>
            <a:ext cx="253771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A5A8A"/>
                </a:solidFill>
                <a:latin typeface="IBM Plex Sans" pitchFamily="34" charset="0"/>
                <a:ea typeface="IBM Plex Sans" pitchFamily="34" charset="-122"/>
                <a:cs typeface="IBM Plex Sans" pitchFamily="34" charset="-120"/>
              </a:rPr>
              <a:t>4 · Review</a:t>
            </a:r>
            <a:endParaRPr lang="en-US" sz="1400" dirty="0"/>
          </a:p>
        </p:txBody>
      </p:sp>
      <p:sp>
        <p:nvSpPr>
          <p:cNvPr id="15" name="Text 13"/>
          <p:cNvSpPr/>
          <p:nvPr/>
        </p:nvSpPr>
        <p:spPr>
          <a:xfrm>
            <a:off x="977900" y="4531221"/>
            <a:ext cx="253771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Human reviews the diff and the tests</a:t>
            </a:r>
            <a:endParaRPr lang="en-US" sz="1200" dirty="0"/>
          </a:p>
        </p:txBody>
      </p:sp>
      <p:pic>
        <p:nvPicPr>
          <p:cNvPr id="16" name="Image 0" descr="connector">    </p:cNvPr>
          <p:cNvPicPr>
            <a:picLocks noChangeAspect="1"/>
          </p:cNvPicPr>
          <p:nvPr/>
        </p:nvPicPr>
        <p:blipFill>
          <a:blip r:embed="rId1"/>
          <a:srcRect l="0" r="0" t="0" b="0"/>
          <a:stretch/>
        </p:blipFill>
        <p:spPr>
          <a:xfrm>
            <a:off x="3543300" y="2355751"/>
            <a:ext cx="5105400" cy="127000"/>
          </a:xfrm>
          <a:prstGeom prst="rect">
            <a:avLst/>
          </a:prstGeom>
        </p:spPr>
      </p:pic>
      <p:pic>
        <p:nvPicPr>
          <p:cNvPr id="17" name="Image 1" descr="connector">    </p:cNvPr>
          <p:cNvPicPr>
            <a:picLocks noChangeAspect="1"/>
          </p:cNvPicPr>
          <p:nvPr/>
        </p:nvPicPr>
        <p:blipFill>
          <a:blip r:embed="rId2"/>
          <a:srcRect l="0" r="0" t="0" b="0"/>
          <a:stretch/>
        </p:blipFill>
        <p:spPr>
          <a:xfrm>
            <a:off x="9918700" y="2895501"/>
            <a:ext cx="127000" cy="1270000"/>
          </a:xfrm>
          <a:prstGeom prst="rect">
            <a:avLst/>
          </a:prstGeom>
        </p:spPr>
      </p:pic>
      <p:pic>
        <p:nvPicPr>
          <p:cNvPr id="18" name="Image 2" descr="connector">    </p:cNvPr>
          <p:cNvPicPr>
            <a:picLocks noChangeAspect="1"/>
          </p:cNvPicPr>
          <p:nvPr/>
        </p:nvPicPr>
        <p:blipFill>
          <a:blip r:embed="rId3"/>
          <a:srcRect l="0" r="0" t="0" b="0"/>
          <a:stretch/>
        </p:blipFill>
        <p:spPr>
          <a:xfrm>
            <a:off x="3543300" y="4578251"/>
            <a:ext cx="5105400" cy="127000"/>
          </a:xfrm>
          <a:prstGeom prst="rect">
            <a:avLst/>
          </a:prstGeom>
        </p:spPr>
      </p:pic>
      <p:pic>
        <p:nvPicPr>
          <p:cNvPr id="19" name="Image 3" descr="connector">    </p:cNvPr>
          <p:cNvPicPr>
            <a:picLocks noChangeAspect="1"/>
          </p:cNvPicPr>
          <p:nvPr/>
        </p:nvPicPr>
        <p:blipFill>
          <a:blip r:embed="rId4"/>
          <a:srcRect l="0" r="0" t="0" b="0"/>
          <a:stretch/>
        </p:blipFill>
        <p:spPr>
          <a:xfrm>
            <a:off x="2146300" y="2895501"/>
            <a:ext cx="127000" cy="1270000"/>
          </a:xfrm>
          <a:prstGeom prst="rect">
            <a:avLst/>
          </a:prstGeom>
        </p:spPr>
      </p:pic>
      <p:sp>
        <p:nvSpPr>
          <p:cNvPr id="20" name="Text 14"/>
          <p:cNvSpPr/>
          <p:nvPr/>
        </p:nvSpPr>
        <p:spPr>
          <a:xfrm>
            <a:off x="3793744" y="3124101"/>
            <a:ext cx="4604512" cy="322560"/>
          </a:xfrm>
          <a:prstGeom prst="rect">
            <a:avLst/>
          </a:prstGeom>
          <a:noFill/>
          <a:ln/>
        </p:spPr>
        <p:txBody>
          <a:bodyPr wrap="square" lIns="0" tIns="0" rIns="0" bIns="0" rtlCol="0" anchor="t">
            <a:normAutofit/>
          </a:bodyPr>
          <a:lstStyle/>
          <a:p>
            <a:pPr algn="ctr" indent="0" marL="0">
              <a:lnSpc>
                <a:spcPts val="2340"/>
              </a:lnSpc>
              <a:buNone/>
            </a:pPr>
            <a:r>
              <a:rPr lang="en-US" sz="1800" b="1" dirty="0">
                <a:solidFill>
                  <a:srgbClr val="1E1E1E"/>
                </a:solidFill>
                <a:latin typeface="Space Grotesk" pitchFamily="34" charset="0"/>
                <a:ea typeface="Space Grotesk" pitchFamily="34" charset="-122"/>
                <a:cs typeface="Space Grotesk" pitchFamily="34" charset="-120"/>
              </a:rPr>
              <a:t>The tests are the boundary</a:t>
            </a:r>
            <a:endParaRPr lang="en-US" sz="1800" dirty="0"/>
          </a:p>
        </p:txBody>
      </p:sp>
      <p:sp>
        <p:nvSpPr>
          <p:cNvPr id="21" name="Text 15"/>
          <p:cNvSpPr/>
          <p:nvPr/>
        </p:nvSpPr>
        <p:spPr>
          <a:xfrm>
            <a:off x="3793744" y="3784501"/>
            <a:ext cx="46045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Agents may change the code, never the tests that judge it</a:t>
            </a:r>
            <a:endParaRPr lang="en-US" sz="1200" dirty="0"/>
          </a:p>
        </p:txBody>
      </p:sp>
      <p:sp>
        <p:nvSpPr>
          <p:cNvPr id="22"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Beck, Test-Driven Development: By Example, 2002; METR, “Recent Frontier Models Are Reward Hacking,” Jun 2025</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07 · QUALITY AND COST</a:t>
            </a:r>
            <a:endParaRPr lang="en-US" sz="1200" dirty="0"/>
          </a:p>
        </p:txBody>
      </p:sp>
      <p:sp>
        <p:nvSpPr>
          <p:cNvPr id="3" name="Text 1"/>
          <p:cNvSpPr/>
          <p:nvPr>
            <p:ph type="title"/>
          </p:nvPr>
        </p:nvSpPr>
        <p:spPr>
          <a:xfrm>
            <a:off x="812800" y="12039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Treat generated code as a black box; verify its boundary</a:t>
            </a:r>
            <a:endParaRPr lang="en-US" sz="3200" dirty="0"/>
          </a:p>
        </p:txBody>
      </p:sp>
      <p:sp>
        <p:nvSpPr>
          <p:cNvPr id="4" name="Text 2"/>
          <p:cNvSpPr/>
          <p:nvPr/>
        </p:nvSpPr>
        <p:spPr>
          <a:xfrm>
            <a:off x="2710061" y="2490291"/>
            <a:ext cx="995759" cy="502841"/>
          </a:xfrm>
          <a:prstGeom prst="roundRect">
            <a:avLst>
              <a:gd name="adj" fmla="val 15154"/>
            </a:avLst>
          </a:prstGeom>
          <a:solidFill>
            <a:srgbClr val="DCE6F5"/>
          </a:solidFill>
          <a:ln/>
        </p:spPr>
        <p:txBody>
          <a:bodyPr wrap="none" lIns="0" tIns="0" rIns="0" bIns="0" rtlCol="0" anchor="ctr">
            <a:normAutofit/>
          </a:bodyPr>
          <a:lstStyle/>
          <a:p>
            <a:pPr algn="ctr" indent="0" marL="0">
              <a:lnSpc>
                <a:spcPts val="1960"/>
              </a:lnSpc>
              <a:buNone/>
            </a:pPr>
            <a:r>
              <a:rPr lang="en-US" sz="1400" b="1" dirty="0">
                <a:solidFill>
                  <a:srgbClr val="1E1E1E"/>
                </a:solidFill>
                <a:latin typeface="JetBrains Mono" pitchFamily="49" charset="0"/>
                <a:ea typeface="JetBrains Mono" pitchFamily="49" charset="-122"/>
                <a:cs typeface="JetBrains Mono" pitchFamily="49" charset="-120"/>
              </a:rPr>
              <a:t>Inputs</a:t>
            </a:r>
            <a:endParaRPr lang="en-US" sz="1400" dirty="0"/>
          </a:p>
        </p:txBody>
      </p:sp>
      <p:pic>
        <p:nvPicPr>
          <p:cNvPr id="5" name="Image 0" descr="arrow-right">    </p:cNvPr>
          <p:cNvPicPr>
            <a:picLocks noChangeAspect="1"/>
          </p:cNvPicPr>
          <p:nvPr/>
        </p:nvPicPr>
        <p:blipFill>
          <a:blip r:embed="rId1"/>
          <a:srcRect l="0" r="0" t="0" b="0"/>
          <a:stretch/>
        </p:blipFill>
        <p:spPr>
          <a:xfrm>
            <a:off x="3858220" y="2665512"/>
            <a:ext cx="254000" cy="152400"/>
          </a:xfrm>
          <a:prstGeom prst="rect">
            <a:avLst/>
          </a:prstGeom>
        </p:spPr>
      </p:pic>
      <p:sp>
        <p:nvSpPr>
          <p:cNvPr id="6" name="Shape 3"/>
          <p:cNvSpPr/>
          <p:nvPr/>
        </p:nvSpPr>
        <p:spPr>
          <a:xfrm>
            <a:off x="4274145" y="2285206"/>
            <a:ext cx="3536950" cy="913011"/>
          </a:xfrm>
          <a:prstGeom prst="roundRect">
            <a:avLst>
              <a:gd name="adj" fmla="val 10085"/>
            </a:avLst>
          </a:prstGeom>
          <a:solidFill>
            <a:srgbClr val="ECECEC"/>
          </a:solidFill>
          <a:ln w="19050">
            <a:solidFill>
              <a:srgbClr val="1E1E1E"/>
            </a:solidFill>
            <a:prstDash val="dash"/>
          </a:ln>
        </p:spPr>
      </p:sp>
      <p:sp>
        <p:nvSpPr>
          <p:cNvPr id="7" name="Text 4"/>
          <p:cNvSpPr/>
          <p:nvPr/>
        </p:nvSpPr>
        <p:spPr>
          <a:xfrm>
            <a:off x="4987141" y="2472531"/>
            <a:ext cx="2110859" cy="299641"/>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Generated code</a:t>
            </a:r>
            <a:endParaRPr lang="en-US" sz="1800" dirty="0"/>
          </a:p>
        </p:txBody>
      </p:sp>
      <p:sp>
        <p:nvSpPr>
          <p:cNvPr id="8" name="Text 5"/>
          <p:cNvSpPr/>
          <p:nvPr/>
        </p:nvSpPr>
        <p:spPr>
          <a:xfrm>
            <a:off x="4628634" y="2797572"/>
            <a:ext cx="282797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judged by behavior, not authorship</a:t>
            </a:r>
            <a:endParaRPr lang="en-US" sz="1200" dirty="0"/>
          </a:p>
        </p:txBody>
      </p:sp>
      <p:pic>
        <p:nvPicPr>
          <p:cNvPr id="9" name="Image 1" descr="arrow-right">    </p:cNvPr>
          <p:cNvPicPr>
            <a:picLocks noChangeAspect="1"/>
          </p:cNvPicPr>
          <p:nvPr/>
        </p:nvPicPr>
        <p:blipFill>
          <a:blip r:embed="rId2"/>
          <a:srcRect l="0" r="0" t="0" b="0"/>
          <a:stretch/>
        </p:blipFill>
        <p:spPr>
          <a:xfrm>
            <a:off x="7973020" y="2665512"/>
            <a:ext cx="254000" cy="152400"/>
          </a:xfrm>
          <a:prstGeom prst="rect">
            <a:avLst/>
          </a:prstGeom>
        </p:spPr>
      </p:pic>
      <p:sp>
        <p:nvSpPr>
          <p:cNvPr id="10" name="Text 6"/>
          <p:cNvSpPr/>
          <p:nvPr/>
        </p:nvSpPr>
        <p:spPr>
          <a:xfrm>
            <a:off x="8379420" y="2490291"/>
            <a:ext cx="1102420" cy="502841"/>
          </a:xfrm>
          <a:prstGeom prst="roundRect">
            <a:avLst>
              <a:gd name="adj" fmla="val 15154"/>
            </a:avLst>
          </a:prstGeom>
          <a:solidFill>
            <a:srgbClr val="DCE6F5"/>
          </a:solidFill>
          <a:ln/>
        </p:spPr>
        <p:txBody>
          <a:bodyPr wrap="none" lIns="0" tIns="0" rIns="0" bIns="0" rtlCol="0" anchor="ctr">
            <a:normAutofit/>
          </a:bodyPr>
          <a:lstStyle/>
          <a:p>
            <a:pPr algn="ctr" indent="0" marL="0">
              <a:lnSpc>
                <a:spcPts val="1960"/>
              </a:lnSpc>
              <a:buNone/>
            </a:pPr>
            <a:r>
              <a:rPr lang="en-US" sz="1400" b="1" dirty="0">
                <a:solidFill>
                  <a:srgbClr val="1E1E1E"/>
                </a:solidFill>
                <a:latin typeface="JetBrains Mono" pitchFamily="49" charset="0"/>
                <a:ea typeface="JetBrains Mono" pitchFamily="49" charset="-122"/>
                <a:cs typeface="JetBrains Mono" pitchFamily="49" charset="-120"/>
              </a:rPr>
              <a:t>Outputs</a:t>
            </a:r>
            <a:endParaRPr lang="en-US" sz="1400" dirty="0"/>
          </a:p>
        </p:txBody>
      </p:sp>
      <p:sp>
        <p:nvSpPr>
          <p:cNvPr id="11" name="Shape 7"/>
          <p:cNvSpPr/>
          <p:nvPr/>
        </p:nvSpPr>
        <p:spPr>
          <a:xfrm>
            <a:off x="815975" y="3388717"/>
            <a:ext cx="2025650" cy="1192312"/>
          </a:xfrm>
          <a:prstGeom prst="roundRect">
            <a:avLst>
              <a:gd name="adj" fmla="val 8255"/>
            </a:avLst>
          </a:prstGeom>
          <a:solidFill>
            <a:srgbClr val="FBFBFC"/>
          </a:solidFill>
          <a:ln w="6350">
            <a:solidFill>
              <a:srgbClr val="D9D9D9"/>
            </a:solidFill>
            <a:prstDash val="solid"/>
          </a:ln>
        </p:spPr>
      </p:sp>
      <p:sp>
        <p:nvSpPr>
          <p:cNvPr id="12" name="Text 8"/>
          <p:cNvSpPr/>
          <p:nvPr/>
        </p:nvSpPr>
        <p:spPr>
          <a:xfrm>
            <a:off x="971550" y="3544292"/>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3C6F"/>
                </a:solidFill>
                <a:latin typeface="IBM Plex Sans" pitchFamily="34" charset="0"/>
                <a:ea typeface="IBM Plex Sans" pitchFamily="34" charset="-122"/>
                <a:cs typeface="IBM Plex Sans" pitchFamily="34" charset="-120"/>
              </a:rPr>
              <a:t>Unit tests</a:t>
            </a:r>
            <a:endParaRPr lang="en-US" sz="1400" dirty="0"/>
          </a:p>
        </p:txBody>
      </p:sp>
      <p:sp>
        <p:nvSpPr>
          <p:cNvPr id="13" name="Text 9"/>
          <p:cNvSpPr/>
          <p:nvPr/>
        </p:nvSpPr>
        <p:spPr>
          <a:xfrm>
            <a:off x="971550" y="3808413"/>
            <a:ext cx="17659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Specified behavior, written first</a:t>
            </a:r>
            <a:endParaRPr lang="en-US" sz="1200" dirty="0"/>
          </a:p>
        </p:txBody>
      </p:sp>
      <p:sp>
        <p:nvSpPr>
          <p:cNvPr id="14" name="Shape 10"/>
          <p:cNvSpPr/>
          <p:nvPr/>
        </p:nvSpPr>
        <p:spPr>
          <a:xfrm>
            <a:off x="2949575" y="3388717"/>
            <a:ext cx="2025650" cy="1192312"/>
          </a:xfrm>
          <a:prstGeom prst="roundRect">
            <a:avLst>
              <a:gd name="adj" fmla="val 8255"/>
            </a:avLst>
          </a:prstGeom>
          <a:solidFill>
            <a:srgbClr val="FBFBFC"/>
          </a:solidFill>
          <a:ln w="6350">
            <a:solidFill>
              <a:srgbClr val="D9D9D9"/>
            </a:solidFill>
            <a:prstDash val="solid"/>
          </a:ln>
        </p:spPr>
      </p:sp>
      <p:sp>
        <p:nvSpPr>
          <p:cNvPr id="15" name="Text 11"/>
          <p:cNvSpPr/>
          <p:nvPr/>
        </p:nvSpPr>
        <p:spPr>
          <a:xfrm>
            <a:off x="3105150" y="3544292"/>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3C6F"/>
                </a:solidFill>
                <a:latin typeface="IBM Plex Sans" pitchFamily="34" charset="0"/>
                <a:ea typeface="IBM Plex Sans" pitchFamily="34" charset="-122"/>
                <a:cs typeface="IBM Plex Sans" pitchFamily="34" charset="-120"/>
              </a:rPr>
              <a:t>Contract tests</a:t>
            </a:r>
            <a:endParaRPr lang="en-US" sz="1400" dirty="0"/>
          </a:p>
        </p:txBody>
      </p:sp>
      <p:sp>
        <p:nvSpPr>
          <p:cNvPr id="16" name="Text 12"/>
          <p:cNvSpPr/>
          <p:nvPr/>
        </p:nvSpPr>
        <p:spPr>
          <a:xfrm>
            <a:off x="3105150" y="3808413"/>
            <a:ext cx="17659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Interfaces other services rely on</a:t>
            </a:r>
            <a:endParaRPr lang="en-US" sz="1200" dirty="0"/>
          </a:p>
        </p:txBody>
      </p:sp>
      <p:sp>
        <p:nvSpPr>
          <p:cNvPr id="17" name="Shape 13"/>
          <p:cNvSpPr/>
          <p:nvPr/>
        </p:nvSpPr>
        <p:spPr>
          <a:xfrm>
            <a:off x="5083175" y="3388717"/>
            <a:ext cx="2025650" cy="1192312"/>
          </a:xfrm>
          <a:prstGeom prst="roundRect">
            <a:avLst>
              <a:gd name="adj" fmla="val 8255"/>
            </a:avLst>
          </a:prstGeom>
          <a:solidFill>
            <a:srgbClr val="FBFBFC"/>
          </a:solidFill>
          <a:ln w="6350">
            <a:solidFill>
              <a:srgbClr val="D9D9D9"/>
            </a:solidFill>
            <a:prstDash val="solid"/>
          </a:ln>
        </p:spPr>
      </p:sp>
      <p:sp>
        <p:nvSpPr>
          <p:cNvPr id="18" name="Text 14"/>
          <p:cNvSpPr/>
          <p:nvPr/>
        </p:nvSpPr>
        <p:spPr>
          <a:xfrm>
            <a:off x="5238750" y="3544292"/>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3C6F"/>
                </a:solidFill>
                <a:latin typeface="IBM Plex Sans" pitchFamily="34" charset="0"/>
                <a:ea typeface="IBM Plex Sans" pitchFamily="34" charset="-122"/>
                <a:cs typeface="IBM Plex Sans" pitchFamily="34" charset="-120"/>
              </a:rPr>
              <a:t>Property-based</a:t>
            </a:r>
            <a:endParaRPr lang="en-US" sz="1400" dirty="0"/>
          </a:p>
        </p:txBody>
      </p:sp>
      <p:sp>
        <p:nvSpPr>
          <p:cNvPr id="19" name="Text 15"/>
          <p:cNvSpPr/>
          <p:nvPr/>
        </p:nvSpPr>
        <p:spPr>
          <a:xfrm>
            <a:off x="5238750" y="3808413"/>
            <a:ext cx="17659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Invariants over thousands of inputs (FsCheck)</a:t>
            </a:r>
            <a:endParaRPr lang="en-US" sz="1200" dirty="0"/>
          </a:p>
        </p:txBody>
      </p:sp>
      <p:sp>
        <p:nvSpPr>
          <p:cNvPr id="20" name="Shape 16"/>
          <p:cNvSpPr/>
          <p:nvPr/>
        </p:nvSpPr>
        <p:spPr>
          <a:xfrm>
            <a:off x="7216775" y="3388717"/>
            <a:ext cx="2025650" cy="1192312"/>
          </a:xfrm>
          <a:prstGeom prst="roundRect">
            <a:avLst>
              <a:gd name="adj" fmla="val 8255"/>
            </a:avLst>
          </a:prstGeom>
          <a:solidFill>
            <a:srgbClr val="FBFBFC"/>
          </a:solidFill>
          <a:ln w="6350">
            <a:solidFill>
              <a:srgbClr val="D9D9D9"/>
            </a:solidFill>
            <a:prstDash val="solid"/>
          </a:ln>
        </p:spPr>
      </p:sp>
      <p:sp>
        <p:nvSpPr>
          <p:cNvPr id="21" name="Text 17"/>
          <p:cNvSpPr/>
          <p:nvPr/>
        </p:nvSpPr>
        <p:spPr>
          <a:xfrm>
            <a:off x="7372350" y="3544292"/>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3C6F"/>
                </a:solidFill>
                <a:latin typeface="IBM Plex Sans" pitchFamily="34" charset="0"/>
                <a:ea typeface="IBM Plex Sans" pitchFamily="34" charset="-122"/>
                <a:cs typeface="IBM Plex Sans" pitchFamily="34" charset="-120"/>
              </a:rPr>
              <a:t>Mutation tests</a:t>
            </a:r>
            <a:endParaRPr lang="en-US" sz="1400" dirty="0"/>
          </a:p>
        </p:txBody>
      </p:sp>
      <p:sp>
        <p:nvSpPr>
          <p:cNvPr id="22" name="Text 18"/>
          <p:cNvSpPr/>
          <p:nvPr/>
        </p:nvSpPr>
        <p:spPr>
          <a:xfrm>
            <a:off x="7372350" y="3808413"/>
            <a:ext cx="176593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Do the tests catch injected bugs? (Stryker.NET)</a:t>
            </a:r>
            <a:endParaRPr lang="en-US" sz="1200" dirty="0"/>
          </a:p>
        </p:txBody>
      </p:sp>
      <p:sp>
        <p:nvSpPr>
          <p:cNvPr id="23" name="Shape 19"/>
          <p:cNvSpPr/>
          <p:nvPr/>
        </p:nvSpPr>
        <p:spPr>
          <a:xfrm>
            <a:off x="9350375" y="3388717"/>
            <a:ext cx="2025650" cy="1192312"/>
          </a:xfrm>
          <a:prstGeom prst="roundRect">
            <a:avLst>
              <a:gd name="adj" fmla="val 8255"/>
            </a:avLst>
          </a:prstGeom>
          <a:solidFill>
            <a:srgbClr val="FBFBFC"/>
          </a:solidFill>
          <a:ln w="6350">
            <a:solidFill>
              <a:srgbClr val="D9D9D9"/>
            </a:solidFill>
            <a:prstDash val="solid"/>
          </a:ln>
        </p:spPr>
      </p:sp>
      <p:sp>
        <p:nvSpPr>
          <p:cNvPr id="24" name="Text 20"/>
          <p:cNvSpPr/>
          <p:nvPr/>
        </p:nvSpPr>
        <p:spPr>
          <a:xfrm>
            <a:off x="9505950" y="3544292"/>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3C6F"/>
                </a:solidFill>
                <a:latin typeface="IBM Plex Sans" pitchFamily="34" charset="0"/>
                <a:ea typeface="IBM Plex Sans" pitchFamily="34" charset="-122"/>
                <a:cs typeface="IBM Plex Sans" pitchFamily="34" charset="-120"/>
              </a:rPr>
              <a:t>Static analysis</a:t>
            </a:r>
            <a:endParaRPr lang="en-US" sz="1400" dirty="0"/>
          </a:p>
        </p:txBody>
      </p:sp>
      <p:sp>
        <p:nvSpPr>
          <p:cNvPr id="25" name="Text 21"/>
          <p:cNvSpPr/>
          <p:nvPr/>
        </p:nvSpPr>
        <p:spPr>
          <a:xfrm>
            <a:off x="9505950" y="3808413"/>
            <a:ext cx="1765935"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E1E1E"/>
                </a:solidFill>
                <a:latin typeface="IBM Plex Sans" pitchFamily="34" charset="0"/>
                <a:ea typeface="IBM Plex Sans" pitchFamily="34" charset="-122"/>
                <a:cs typeface="IBM Plex Sans" pitchFamily="34" charset="-120"/>
              </a:rPr>
              <a:t>Security and style scans in CI</a:t>
            </a:r>
            <a:endParaRPr lang="en-US" sz="1200" dirty="0"/>
          </a:p>
        </p:txBody>
      </p:sp>
      <p:sp>
        <p:nvSpPr>
          <p:cNvPr id="26" name="Shape 22"/>
          <p:cNvSpPr/>
          <p:nvPr/>
        </p:nvSpPr>
        <p:spPr>
          <a:xfrm>
            <a:off x="819150" y="5289550"/>
            <a:ext cx="10553700" cy="546100"/>
          </a:xfrm>
          <a:prstGeom prst="roundRect">
            <a:avLst>
              <a:gd name="adj" fmla="val 17442"/>
            </a:avLst>
          </a:prstGeom>
          <a:noFill/>
          <a:ln w="12700">
            <a:solidFill>
              <a:srgbClr val="0A5A8A"/>
            </a:solidFill>
            <a:prstDash val="solid"/>
          </a:ln>
        </p:spPr>
      </p:sp>
      <p:pic>
        <p:nvPicPr>
          <p:cNvPr id="27" name="Image 2" descr="Warning">    </p:cNvPr>
          <p:cNvPicPr>
            <a:picLocks noChangeAspect="1"/>
          </p:cNvPicPr>
          <p:nvPr/>
        </p:nvPicPr>
        <p:blipFill>
          <a:blip r:embed="rId3"/>
          <a:srcRect l="0" r="0" t="0" b="0"/>
          <a:stretch/>
        </p:blipFill>
        <p:spPr>
          <a:xfrm>
            <a:off x="1028700" y="5422900"/>
            <a:ext cx="279400" cy="279400"/>
          </a:xfrm>
          <a:prstGeom prst="rect">
            <a:avLst/>
          </a:prstGeom>
        </p:spPr>
      </p:pic>
      <p:sp>
        <p:nvSpPr>
          <p:cNvPr id="28" name="Text 23"/>
          <p:cNvSpPr/>
          <p:nvPr/>
        </p:nvSpPr>
        <p:spPr>
          <a:xfrm>
            <a:off x="1460500" y="5438180"/>
            <a:ext cx="67795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Open the box for security, concurrency, performance, and money math.</a:t>
            </a:r>
            <a:endParaRPr lang="en-US" sz="1400" dirty="0"/>
          </a:p>
        </p:txBody>
      </p:sp>
      <p:sp>
        <p:nvSpPr>
          <p:cNvPr id="29"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FsCheck (fscheck.github.io); Stryker.NET (stryker-mutator.io); Veracode 2025 GenAI Code Security Report</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07 · QUALITY AND COST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Trade-offs of LLM-generated code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631406"/>
        </p:xfrm>
        <a:graphic>
          <a:graphicData uri="http://schemas.openxmlformats.org/drawingml/2006/table">
            <a:tbl>
              <a:tblPr/>
              <a:tblGrid>
                <a:gridCol w="2532888"/>
                <a:gridCol w="4854702"/>
                <a:gridCol w="3166110"/>
              </a:tblGrid>
              <a:tr h="439341">
                <a:tc>
                  <a:txBody>
                    <a:bodyPr/>
                    <a:lstStyle/>
                    <a:p>
                      <a:pPr indent="0" marL="0">
                        <a:lnSpc>
                          <a:spcPts val="1960"/>
                        </a:lnSpc>
                        <a:buNone/>
                      </a:pPr>
                      <a:r>
                        <a:rPr lang="en-US" sz="1400" b="1" dirty="0">
                          <a:solidFill>
                            <a:srgbClr val="0A5A8A"/>
                          </a:solidFill>
                          <a:latin typeface="IBM Plex Sans" pitchFamily="34" charset="0"/>
                          <a:ea typeface="IBM Plex Sans" pitchFamily="34" charset="-122"/>
                          <a:cs typeface="IBM Plex Sans" pitchFamily="34" charset="-120"/>
                        </a:rPr>
                        <a:t>Trade-off</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960"/>
                        </a:lnSpc>
                        <a:buNone/>
                      </a:pPr>
                      <a:r>
                        <a:rPr lang="en-US" sz="1400" b="1" dirty="0">
                          <a:solidFill>
                            <a:srgbClr val="0A5A8A"/>
                          </a:solidFill>
                          <a:latin typeface="IBM Plex Sans" pitchFamily="34" charset="0"/>
                          <a:ea typeface="IBM Plex Sans" pitchFamily="34" charset="-122"/>
                          <a:cs typeface="IBM Plex Sans" pitchFamily="34" charset="-120"/>
                        </a:rPr>
                        <a:t>Why it matters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960"/>
                        </a:lnSpc>
                        <a:buNone/>
                      </a:pPr>
                      <a:r>
                        <a:rPr lang="en-US" sz="1400" b="1" dirty="0">
                          <a:solidFill>
                            <a:srgbClr val="0A5A8A"/>
                          </a:solidFill>
                          <a:latin typeface="IBM Plex Sans" pitchFamily="34" charset="0"/>
                          <a:ea typeface="IBM Plex Sans" pitchFamily="34" charset="-122"/>
                          <a:cs typeface="IBM Plex Sans" pitchFamily="34" charset="-120"/>
                        </a:rPr>
                        <a:t>Evidence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688181">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Speed vs. review load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Code arrives faster than people can review it; review becomes the bottleneck</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DORA 2025: throughput up, stability down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688181">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Plausible ≠ secure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Insecure patterns still pass functional tests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Veracode 2025: flaws in 45% of tasks; C# 38–45%</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Tests can be gamed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Agents sometimes edit tests to get a pass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METR, Jun 2025</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688181">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Felt vs. real speed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Teams overestimate gains without measurement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METR 2025: felt +20%, measured −19%</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Token cost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Every loop step re-sends context, and usage is billed per token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GitHub, Jun 2026 (next slide)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DORA 2025; Veracode, Jul 2025; METR, Jun &amp; Jul 2025; GitHub Blog, 2026</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07 · QUALITY AND COST</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Token consumption: the hidden cost of the loop</a:t>
            </a:r>
            <a:endParaRPr lang="en-US" sz="3200" dirty="0"/>
          </a:p>
        </p:txBody>
      </p:sp>
      <p:sp>
        <p:nvSpPr>
          <p:cNvPr id="4" name="Shape 2"/>
          <p:cNvSpPr/>
          <p:nvPr/>
        </p:nvSpPr>
        <p:spPr>
          <a:xfrm>
            <a:off x="812800" y="4426446"/>
            <a:ext cx="4572000" cy="0"/>
          </a:xfrm>
          <a:prstGeom prst="line">
            <a:avLst/>
          </a:prstGeom>
          <a:noFill/>
          <a:ln w="19050">
            <a:solidFill>
              <a:srgbClr val="D9D9D9"/>
            </a:solidFill>
            <a:prstDash val="solid"/>
          </a:ln>
        </p:spPr>
      </p:sp>
      <p:sp>
        <p:nvSpPr>
          <p:cNvPr id="5" name="Shape 3"/>
          <p:cNvSpPr/>
          <p:nvPr/>
        </p:nvSpPr>
        <p:spPr>
          <a:xfrm>
            <a:off x="1028700" y="3784501"/>
            <a:ext cx="406400" cy="355600"/>
          </a:xfrm>
          <a:prstGeom prst="rect">
            <a:avLst/>
          </a:prstGeom>
          <a:solidFill>
            <a:srgbClr val="0B3C6F"/>
          </a:solidFill>
          <a:ln/>
        </p:spPr>
      </p:sp>
      <p:sp>
        <p:nvSpPr>
          <p:cNvPr id="6" name="Text 4"/>
          <p:cNvSpPr/>
          <p:nvPr/>
        </p:nvSpPr>
        <p:spPr>
          <a:xfrm>
            <a:off x="11171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T1</a:t>
            </a:r>
            <a:endParaRPr lang="en-US" sz="1200" dirty="0"/>
          </a:p>
        </p:txBody>
      </p:sp>
      <p:sp>
        <p:nvSpPr>
          <p:cNvPr id="7" name="Shape 5"/>
          <p:cNvSpPr/>
          <p:nvPr/>
        </p:nvSpPr>
        <p:spPr>
          <a:xfrm>
            <a:off x="1562100" y="3505101"/>
            <a:ext cx="406400" cy="279400"/>
          </a:xfrm>
          <a:custGeom>
            <a:avLst/>
            <a:gdLst/>
            <a:ahLst/>
            <a:cxnLst/>
            <a:rect l="l" t="t" r="r" b="b"/>
            <a:pathLst>
              <a:path w="406400" h="279400">
                <a:moveTo>
                  <a:pt x="38100" y="0"/>
                </a:moveTo>
                <a:lnTo>
                  <a:pt x="368300" y="0"/>
                </a:lnTo>
                <a:arcTo hR="38100" wR="38100" stAng="16200000" swAng="5400000"/>
                <a:lnTo>
                  <a:pt x="406400" y="279400"/>
                </a:lnTo>
                <a:lnTo>
                  <a:pt x="0" y="279400"/>
                </a:lnTo>
                <a:lnTo>
                  <a:pt x="0" y="38100"/>
                </a:lnTo>
                <a:arcTo hR="38100" wR="38100" stAng="10800000" swAng="5400000"/>
                <a:close/>
              </a:path>
            </a:pathLst>
          </a:custGeom>
          <a:solidFill>
            <a:srgbClr val="00AEEF"/>
          </a:solidFill>
          <a:ln/>
        </p:spPr>
      </p:sp>
      <p:sp>
        <p:nvSpPr>
          <p:cNvPr id="8" name="Shape 6"/>
          <p:cNvSpPr/>
          <p:nvPr/>
        </p:nvSpPr>
        <p:spPr>
          <a:xfrm>
            <a:off x="1562100" y="3784501"/>
            <a:ext cx="406400" cy="355600"/>
          </a:xfrm>
          <a:prstGeom prst="rect">
            <a:avLst/>
          </a:prstGeom>
          <a:solidFill>
            <a:srgbClr val="0B3C6F"/>
          </a:solidFill>
          <a:ln/>
        </p:spPr>
      </p:sp>
      <p:sp>
        <p:nvSpPr>
          <p:cNvPr id="9" name="Text 7"/>
          <p:cNvSpPr/>
          <p:nvPr/>
        </p:nvSpPr>
        <p:spPr>
          <a:xfrm>
            <a:off x="16505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T2</a:t>
            </a:r>
            <a:endParaRPr lang="en-US" sz="1200" dirty="0"/>
          </a:p>
        </p:txBody>
      </p:sp>
      <p:sp>
        <p:nvSpPr>
          <p:cNvPr id="10" name="Shape 8"/>
          <p:cNvSpPr/>
          <p:nvPr/>
        </p:nvSpPr>
        <p:spPr>
          <a:xfrm>
            <a:off x="2095500" y="3225701"/>
            <a:ext cx="406400" cy="558800"/>
          </a:xfrm>
          <a:custGeom>
            <a:avLst/>
            <a:gdLst/>
            <a:ahLst/>
            <a:cxnLst/>
            <a:rect l="l" t="t" r="r" b="b"/>
            <a:pathLst>
              <a:path w="406400" h="558800">
                <a:moveTo>
                  <a:pt x="38100" y="0"/>
                </a:moveTo>
                <a:lnTo>
                  <a:pt x="368300" y="0"/>
                </a:lnTo>
                <a:arcTo hR="38100" wR="38100" stAng="16200000" swAng="5400000"/>
                <a:lnTo>
                  <a:pt x="406400" y="558800"/>
                </a:lnTo>
                <a:lnTo>
                  <a:pt x="0" y="558800"/>
                </a:lnTo>
                <a:lnTo>
                  <a:pt x="0" y="38100"/>
                </a:lnTo>
                <a:arcTo hR="38100" wR="38100" stAng="10800000" swAng="5400000"/>
                <a:close/>
              </a:path>
            </a:pathLst>
          </a:custGeom>
          <a:solidFill>
            <a:srgbClr val="00AEEF"/>
          </a:solidFill>
          <a:ln/>
        </p:spPr>
      </p:sp>
      <p:sp>
        <p:nvSpPr>
          <p:cNvPr id="11" name="Shape 9"/>
          <p:cNvSpPr/>
          <p:nvPr/>
        </p:nvSpPr>
        <p:spPr>
          <a:xfrm>
            <a:off x="2095500" y="3784501"/>
            <a:ext cx="406400" cy="355600"/>
          </a:xfrm>
          <a:prstGeom prst="rect">
            <a:avLst/>
          </a:prstGeom>
          <a:solidFill>
            <a:srgbClr val="0B3C6F"/>
          </a:solidFill>
          <a:ln/>
        </p:spPr>
      </p:sp>
      <p:sp>
        <p:nvSpPr>
          <p:cNvPr id="12" name="Text 10"/>
          <p:cNvSpPr/>
          <p:nvPr/>
        </p:nvSpPr>
        <p:spPr>
          <a:xfrm>
            <a:off x="21839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T3</a:t>
            </a:r>
            <a:endParaRPr lang="en-US" sz="1200" dirty="0"/>
          </a:p>
        </p:txBody>
      </p:sp>
      <p:sp>
        <p:nvSpPr>
          <p:cNvPr id="13" name="Shape 11"/>
          <p:cNvSpPr/>
          <p:nvPr/>
        </p:nvSpPr>
        <p:spPr>
          <a:xfrm>
            <a:off x="2628900" y="2946301"/>
            <a:ext cx="406400" cy="838200"/>
          </a:xfrm>
          <a:custGeom>
            <a:avLst/>
            <a:gdLst/>
            <a:ahLst/>
            <a:cxnLst/>
            <a:rect l="l" t="t" r="r" b="b"/>
            <a:pathLst>
              <a:path w="406400" h="838200">
                <a:moveTo>
                  <a:pt x="38100" y="0"/>
                </a:moveTo>
                <a:lnTo>
                  <a:pt x="368300" y="0"/>
                </a:lnTo>
                <a:arcTo hR="38100" wR="38100" stAng="16200000" swAng="5400000"/>
                <a:lnTo>
                  <a:pt x="406400" y="838200"/>
                </a:lnTo>
                <a:lnTo>
                  <a:pt x="0" y="838200"/>
                </a:lnTo>
                <a:lnTo>
                  <a:pt x="0" y="38100"/>
                </a:lnTo>
                <a:arcTo hR="38100" wR="38100" stAng="10800000" swAng="5400000"/>
                <a:close/>
              </a:path>
            </a:pathLst>
          </a:custGeom>
          <a:solidFill>
            <a:srgbClr val="00AEEF"/>
          </a:solidFill>
          <a:ln/>
        </p:spPr>
      </p:sp>
      <p:sp>
        <p:nvSpPr>
          <p:cNvPr id="14" name="Shape 12"/>
          <p:cNvSpPr/>
          <p:nvPr/>
        </p:nvSpPr>
        <p:spPr>
          <a:xfrm>
            <a:off x="2628900" y="3784501"/>
            <a:ext cx="406400" cy="355600"/>
          </a:xfrm>
          <a:prstGeom prst="rect">
            <a:avLst/>
          </a:prstGeom>
          <a:solidFill>
            <a:srgbClr val="0B3C6F"/>
          </a:solidFill>
          <a:ln/>
        </p:spPr>
      </p:sp>
      <p:sp>
        <p:nvSpPr>
          <p:cNvPr id="15" name="Text 13"/>
          <p:cNvSpPr/>
          <p:nvPr/>
        </p:nvSpPr>
        <p:spPr>
          <a:xfrm>
            <a:off x="27173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T4</a:t>
            </a:r>
            <a:endParaRPr lang="en-US" sz="1200" dirty="0"/>
          </a:p>
        </p:txBody>
      </p:sp>
      <p:sp>
        <p:nvSpPr>
          <p:cNvPr id="16" name="Shape 14"/>
          <p:cNvSpPr/>
          <p:nvPr/>
        </p:nvSpPr>
        <p:spPr>
          <a:xfrm>
            <a:off x="3162300" y="2666901"/>
            <a:ext cx="406400" cy="1117600"/>
          </a:xfrm>
          <a:custGeom>
            <a:avLst/>
            <a:gdLst/>
            <a:ahLst/>
            <a:cxnLst/>
            <a:rect l="l" t="t" r="r" b="b"/>
            <a:pathLst>
              <a:path w="406400" h="1117600">
                <a:moveTo>
                  <a:pt x="38100" y="0"/>
                </a:moveTo>
                <a:lnTo>
                  <a:pt x="368300" y="0"/>
                </a:lnTo>
                <a:arcTo hR="38100" wR="38100" stAng="16200000" swAng="5400000"/>
                <a:lnTo>
                  <a:pt x="406400" y="1117600"/>
                </a:lnTo>
                <a:lnTo>
                  <a:pt x="0" y="1117600"/>
                </a:lnTo>
                <a:lnTo>
                  <a:pt x="0" y="38100"/>
                </a:lnTo>
                <a:arcTo hR="38100" wR="38100" stAng="10800000" swAng="5400000"/>
                <a:close/>
              </a:path>
            </a:pathLst>
          </a:custGeom>
          <a:solidFill>
            <a:srgbClr val="00AEEF"/>
          </a:solidFill>
          <a:ln/>
        </p:spPr>
      </p:sp>
      <p:sp>
        <p:nvSpPr>
          <p:cNvPr id="17" name="Shape 15"/>
          <p:cNvSpPr/>
          <p:nvPr/>
        </p:nvSpPr>
        <p:spPr>
          <a:xfrm>
            <a:off x="3162300" y="3784501"/>
            <a:ext cx="406400" cy="355600"/>
          </a:xfrm>
          <a:prstGeom prst="rect">
            <a:avLst/>
          </a:prstGeom>
          <a:solidFill>
            <a:srgbClr val="0B3C6F"/>
          </a:solidFill>
          <a:ln/>
        </p:spPr>
      </p:sp>
      <p:sp>
        <p:nvSpPr>
          <p:cNvPr id="18" name="Text 16"/>
          <p:cNvSpPr/>
          <p:nvPr/>
        </p:nvSpPr>
        <p:spPr>
          <a:xfrm>
            <a:off x="32507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T5</a:t>
            </a:r>
            <a:endParaRPr lang="en-US" sz="1200" dirty="0"/>
          </a:p>
        </p:txBody>
      </p:sp>
      <p:sp>
        <p:nvSpPr>
          <p:cNvPr id="19" name="Shape 17"/>
          <p:cNvSpPr/>
          <p:nvPr/>
        </p:nvSpPr>
        <p:spPr>
          <a:xfrm>
            <a:off x="3695700" y="2387501"/>
            <a:ext cx="406400" cy="1397000"/>
          </a:xfrm>
          <a:custGeom>
            <a:avLst/>
            <a:gdLst/>
            <a:ahLst/>
            <a:cxnLst/>
            <a:rect l="l" t="t" r="r" b="b"/>
            <a:pathLst>
              <a:path w="406400" h="1397000">
                <a:moveTo>
                  <a:pt x="38100" y="0"/>
                </a:moveTo>
                <a:lnTo>
                  <a:pt x="368300" y="0"/>
                </a:lnTo>
                <a:arcTo hR="38100" wR="38100" stAng="16200000" swAng="5400000"/>
                <a:lnTo>
                  <a:pt x="406400" y="1397000"/>
                </a:lnTo>
                <a:lnTo>
                  <a:pt x="0" y="1397000"/>
                </a:lnTo>
                <a:lnTo>
                  <a:pt x="0" y="38100"/>
                </a:lnTo>
                <a:arcTo hR="38100" wR="38100" stAng="10800000" swAng="5400000"/>
                <a:close/>
              </a:path>
            </a:pathLst>
          </a:custGeom>
          <a:solidFill>
            <a:srgbClr val="00AEEF"/>
          </a:solidFill>
          <a:ln/>
        </p:spPr>
      </p:sp>
      <p:sp>
        <p:nvSpPr>
          <p:cNvPr id="20" name="Shape 18"/>
          <p:cNvSpPr/>
          <p:nvPr/>
        </p:nvSpPr>
        <p:spPr>
          <a:xfrm>
            <a:off x="3695700" y="3784501"/>
            <a:ext cx="406400" cy="355600"/>
          </a:xfrm>
          <a:prstGeom prst="rect">
            <a:avLst/>
          </a:prstGeom>
          <a:solidFill>
            <a:srgbClr val="0B3C6F"/>
          </a:solidFill>
          <a:ln/>
        </p:spPr>
      </p:sp>
      <p:sp>
        <p:nvSpPr>
          <p:cNvPr id="21" name="Text 19"/>
          <p:cNvSpPr/>
          <p:nvPr/>
        </p:nvSpPr>
        <p:spPr>
          <a:xfrm>
            <a:off x="37841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T6</a:t>
            </a:r>
            <a:endParaRPr lang="en-US" sz="1200" dirty="0"/>
          </a:p>
        </p:txBody>
      </p:sp>
      <p:sp>
        <p:nvSpPr>
          <p:cNvPr id="22" name="Shape 20"/>
          <p:cNvSpPr/>
          <p:nvPr/>
        </p:nvSpPr>
        <p:spPr>
          <a:xfrm>
            <a:off x="4229100" y="2108101"/>
            <a:ext cx="406400" cy="1676400"/>
          </a:xfrm>
          <a:custGeom>
            <a:avLst/>
            <a:gdLst/>
            <a:ahLst/>
            <a:cxnLst/>
            <a:rect l="l" t="t" r="r" b="b"/>
            <a:pathLst>
              <a:path w="406400" h="1676400">
                <a:moveTo>
                  <a:pt x="38100" y="0"/>
                </a:moveTo>
                <a:lnTo>
                  <a:pt x="368300" y="0"/>
                </a:lnTo>
                <a:arcTo hR="38100" wR="38100" stAng="16200000" swAng="5400000"/>
                <a:lnTo>
                  <a:pt x="406400" y="1676400"/>
                </a:lnTo>
                <a:lnTo>
                  <a:pt x="0" y="1676400"/>
                </a:lnTo>
                <a:lnTo>
                  <a:pt x="0" y="38100"/>
                </a:lnTo>
                <a:arcTo hR="38100" wR="38100" stAng="10800000" swAng="5400000"/>
                <a:close/>
              </a:path>
            </a:pathLst>
          </a:custGeom>
          <a:solidFill>
            <a:srgbClr val="00AEEF"/>
          </a:solidFill>
          <a:ln/>
        </p:spPr>
      </p:sp>
      <p:sp>
        <p:nvSpPr>
          <p:cNvPr id="23" name="Shape 21"/>
          <p:cNvSpPr/>
          <p:nvPr/>
        </p:nvSpPr>
        <p:spPr>
          <a:xfrm>
            <a:off x="4229100" y="3784501"/>
            <a:ext cx="406400" cy="355600"/>
          </a:xfrm>
          <a:prstGeom prst="rect">
            <a:avLst/>
          </a:prstGeom>
          <a:solidFill>
            <a:srgbClr val="0B3C6F"/>
          </a:solidFill>
          <a:ln/>
        </p:spPr>
      </p:sp>
      <p:sp>
        <p:nvSpPr>
          <p:cNvPr id="24" name="Text 22"/>
          <p:cNvSpPr/>
          <p:nvPr/>
        </p:nvSpPr>
        <p:spPr>
          <a:xfrm>
            <a:off x="43175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T7</a:t>
            </a:r>
            <a:endParaRPr lang="en-US" sz="1200" dirty="0"/>
          </a:p>
        </p:txBody>
      </p:sp>
      <p:sp>
        <p:nvSpPr>
          <p:cNvPr id="25" name="Shape 23"/>
          <p:cNvSpPr/>
          <p:nvPr/>
        </p:nvSpPr>
        <p:spPr>
          <a:xfrm>
            <a:off x="4762500" y="1828701"/>
            <a:ext cx="406400" cy="1955800"/>
          </a:xfrm>
          <a:custGeom>
            <a:avLst/>
            <a:gdLst/>
            <a:ahLst/>
            <a:cxnLst/>
            <a:rect l="l" t="t" r="r" b="b"/>
            <a:pathLst>
              <a:path w="406400" h="1955800">
                <a:moveTo>
                  <a:pt x="38100" y="0"/>
                </a:moveTo>
                <a:lnTo>
                  <a:pt x="368300" y="0"/>
                </a:lnTo>
                <a:arcTo hR="38100" wR="38100" stAng="16200000" swAng="5400000"/>
                <a:lnTo>
                  <a:pt x="406400" y="1955800"/>
                </a:lnTo>
                <a:lnTo>
                  <a:pt x="0" y="1955800"/>
                </a:lnTo>
                <a:lnTo>
                  <a:pt x="0" y="38100"/>
                </a:lnTo>
                <a:arcTo hR="38100" wR="38100" stAng="10800000" swAng="5400000"/>
                <a:close/>
              </a:path>
            </a:pathLst>
          </a:custGeom>
          <a:solidFill>
            <a:srgbClr val="00AEEF"/>
          </a:solidFill>
          <a:ln/>
        </p:spPr>
      </p:sp>
      <p:sp>
        <p:nvSpPr>
          <p:cNvPr id="26" name="Shape 24"/>
          <p:cNvSpPr/>
          <p:nvPr/>
        </p:nvSpPr>
        <p:spPr>
          <a:xfrm>
            <a:off x="4762500" y="3784501"/>
            <a:ext cx="406400" cy="355600"/>
          </a:xfrm>
          <a:prstGeom prst="rect">
            <a:avLst/>
          </a:prstGeom>
          <a:solidFill>
            <a:srgbClr val="0B3C6F"/>
          </a:solidFill>
          <a:ln/>
        </p:spPr>
      </p:sp>
      <p:sp>
        <p:nvSpPr>
          <p:cNvPr id="27" name="Text 25"/>
          <p:cNvSpPr/>
          <p:nvPr/>
        </p:nvSpPr>
        <p:spPr>
          <a:xfrm>
            <a:off x="4850904" y="4203601"/>
            <a:ext cx="22949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T8</a:t>
            </a:r>
            <a:endParaRPr lang="en-US" sz="1200" dirty="0"/>
          </a:p>
        </p:txBody>
      </p:sp>
      <p:sp>
        <p:nvSpPr>
          <p:cNvPr id="28" name="Text 26"/>
          <p:cNvSpPr/>
          <p:nvPr/>
        </p:nvSpPr>
        <p:spPr>
          <a:xfrm>
            <a:off x="812800" y="4537571"/>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3C6F"/>
                </a:solidFill>
                <a:latin typeface="IBM Plex Sans" pitchFamily="34" charset="0"/>
                <a:ea typeface="IBM Plex Sans" pitchFamily="34" charset="-122"/>
                <a:cs typeface="IBM Plex Sans" pitchFamily="34" charset="-120"/>
              </a:rPr>
              <a:t>■ Instructions + system prompt</a:t>
            </a:r>
            <a:r>
              <a:rPr lang="en-US" sz="1200" dirty="0">
                <a:solidFill>
                  <a:srgbClr val="1E1E1E"/>
                </a:solidFill>
                <a:latin typeface="IBM Plex Sans" pitchFamily="34" charset="0"/>
                <a:ea typeface="IBM Plex Sans" pitchFamily="34" charset="-122"/>
                <a:cs typeface="IBM Plex Sans" pitchFamily="34" charset="-120"/>
              </a:rPr>
              <a:t>    </a:t>
            </a:r>
            <a:r>
              <a:rPr lang="en-US" sz="1200" dirty="0">
                <a:solidFill>
                  <a:srgbClr val="0A5A8A"/>
                </a:solidFill>
                <a:latin typeface="IBM Plex Sans" pitchFamily="34" charset="0"/>
                <a:ea typeface="IBM Plex Sans" pitchFamily="34" charset="-122"/>
                <a:cs typeface="IBM Plex Sans" pitchFamily="34" charset="-120"/>
              </a:rPr>
              <a:t>■ Growing history</a:t>
            </a:r>
            <a:endParaRPr lang="en-US" sz="1200" dirty="0"/>
          </a:p>
        </p:txBody>
      </p:sp>
      <p:sp>
        <p:nvSpPr>
          <p:cNvPr id="29" name="Text 27"/>
          <p:cNvSpPr/>
          <p:nvPr/>
        </p:nvSpPr>
        <p:spPr>
          <a:xfrm>
            <a:off x="812800" y="4852491"/>
            <a:ext cx="470916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Illustrative: each turn re-sends everything so far. You pay for the sum of all bars.</a:t>
            </a:r>
            <a:endParaRPr lang="en-US" sz="1200" dirty="0"/>
          </a:p>
        </p:txBody>
      </p:sp>
      <p:sp>
        <p:nvSpPr>
          <p:cNvPr id="30" name="Shape 28"/>
          <p:cNvSpPr/>
          <p:nvPr/>
        </p:nvSpPr>
        <p:spPr>
          <a:xfrm>
            <a:off x="5743575" y="1831876"/>
            <a:ext cx="5632450" cy="923131"/>
          </a:xfrm>
          <a:prstGeom prst="roundRect">
            <a:avLst>
              <a:gd name="adj" fmla="val 10662"/>
            </a:avLst>
          </a:prstGeom>
          <a:solidFill>
            <a:srgbClr val="FBFBFC"/>
          </a:solidFill>
          <a:ln w="6350">
            <a:solidFill>
              <a:srgbClr val="D9D9D9"/>
            </a:solidFill>
            <a:prstDash val="solid"/>
          </a:ln>
        </p:spPr>
      </p:sp>
      <p:pic>
        <p:nvPicPr>
          <p:cNvPr id="31" name="Image 0" descr="Key">    </p:cNvPr>
          <p:cNvPicPr>
            <a:picLocks noChangeAspect="1"/>
          </p:cNvPicPr>
          <p:nvPr/>
        </p:nvPicPr>
        <p:blipFill>
          <a:blip r:embed="rId1"/>
          <a:srcRect l="0" r="0" t="0" b="0"/>
          <a:stretch/>
        </p:blipFill>
        <p:spPr>
          <a:xfrm>
            <a:off x="5924550" y="2141041"/>
            <a:ext cx="304800" cy="304800"/>
          </a:xfrm>
          <a:prstGeom prst="rect">
            <a:avLst/>
          </a:prstGeom>
        </p:spPr>
      </p:pic>
      <p:sp>
        <p:nvSpPr>
          <p:cNvPr id="32" name="Text 29"/>
          <p:cNvSpPr/>
          <p:nvPr/>
        </p:nvSpPr>
        <p:spPr>
          <a:xfrm>
            <a:off x="6356350" y="1962051"/>
            <a:ext cx="49838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Cost</a:t>
            </a:r>
            <a:endParaRPr lang="en-US" sz="1400" dirty="0"/>
          </a:p>
        </p:txBody>
      </p:sp>
      <p:sp>
        <p:nvSpPr>
          <p:cNvPr id="33" name="Text 30"/>
          <p:cNvSpPr/>
          <p:nvPr/>
        </p:nvSpPr>
        <p:spPr>
          <a:xfrm>
            <a:off x="6356350" y="2213471"/>
            <a:ext cx="498386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Since Jun 1, 2026 Copilot bills AI Credits by input, output, and cached tokens.</a:t>
            </a:r>
            <a:endParaRPr lang="en-US" sz="1200" dirty="0"/>
          </a:p>
        </p:txBody>
      </p:sp>
      <p:sp>
        <p:nvSpPr>
          <p:cNvPr id="34" name="Shape 31"/>
          <p:cNvSpPr/>
          <p:nvPr/>
        </p:nvSpPr>
        <p:spPr>
          <a:xfrm>
            <a:off x="5743575" y="2862957"/>
            <a:ext cx="5632450" cy="923131"/>
          </a:xfrm>
          <a:prstGeom prst="roundRect">
            <a:avLst>
              <a:gd name="adj" fmla="val 10662"/>
            </a:avLst>
          </a:prstGeom>
          <a:solidFill>
            <a:srgbClr val="FBFBFC"/>
          </a:solidFill>
          <a:ln w="6350">
            <a:solidFill>
              <a:srgbClr val="D9D9D9"/>
            </a:solidFill>
            <a:prstDash val="solid"/>
          </a:ln>
        </p:spPr>
      </p:sp>
      <p:pic>
        <p:nvPicPr>
          <p:cNvPr id="35" name="Image 1" descr="Warning">    </p:cNvPr>
          <p:cNvPicPr>
            <a:picLocks noChangeAspect="1"/>
          </p:cNvPicPr>
          <p:nvPr/>
        </p:nvPicPr>
        <p:blipFill>
          <a:blip r:embed="rId2"/>
          <a:srcRect l="0" r="0" t="0" b="0"/>
          <a:stretch/>
        </p:blipFill>
        <p:spPr>
          <a:xfrm>
            <a:off x="5924550" y="3172123"/>
            <a:ext cx="304800" cy="304800"/>
          </a:xfrm>
          <a:prstGeom prst="rect">
            <a:avLst/>
          </a:prstGeom>
        </p:spPr>
      </p:pic>
      <p:sp>
        <p:nvSpPr>
          <p:cNvPr id="36" name="Text 32"/>
          <p:cNvSpPr/>
          <p:nvPr/>
        </p:nvSpPr>
        <p:spPr>
          <a:xfrm>
            <a:off x="6356350" y="2993132"/>
            <a:ext cx="49838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Quality</a:t>
            </a:r>
            <a:endParaRPr lang="en-US" sz="1400" dirty="0"/>
          </a:p>
        </p:txBody>
      </p:sp>
      <p:sp>
        <p:nvSpPr>
          <p:cNvPr id="37" name="Text 33"/>
          <p:cNvSpPr/>
          <p:nvPr/>
        </p:nvSpPr>
        <p:spPr>
          <a:xfrm>
            <a:off x="6356350" y="3244552"/>
            <a:ext cx="498386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More context ≠ better: output grew less reliable with input length in all 18 models tested.</a:t>
            </a:r>
            <a:endParaRPr lang="en-US" sz="1200" dirty="0"/>
          </a:p>
        </p:txBody>
      </p:sp>
      <p:sp>
        <p:nvSpPr>
          <p:cNvPr id="38" name="Shape 34"/>
          <p:cNvSpPr/>
          <p:nvPr/>
        </p:nvSpPr>
        <p:spPr>
          <a:xfrm>
            <a:off x="5743575" y="3894038"/>
            <a:ext cx="5632450" cy="717451"/>
          </a:xfrm>
          <a:prstGeom prst="roundRect">
            <a:avLst>
              <a:gd name="adj" fmla="val 13719"/>
            </a:avLst>
          </a:prstGeom>
          <a:solidFill>
            <a:srgbClr val="FBFBFC"/>
          </a:solidFill>
          <a:ln w="6350">
            <a:solidFill>
              <a:srgbClr val="D9D9D9"/>
            </a:solidFill>
            <a:prstDash val="solid"/>
          </a:ln>
        </p:spPr>
      </p:sp>
      <p:pic>
        <p:nvPicPr>
          <p:cNvPr id="39" name="Image 2" descr="Clock">    </p:cNvPr>
          <p:cNvPicPr>
            <a:picLocks noChangeAspect="1"/>
          </p:cNvPicPr>
          <p:nvPr/>
        </p:nvPicPr>
        <p:blipFill>
          <a:blip r:embed="rId3"/>
          <a:srcRect l="0" r="0" t="0" b="0"/>
          <a:stretch/>
        </p:blipFill>
        <p:spPr>
          <a:xfrm>
            <a:off x="5924550" y="4100314"/>
            <a:ext cx="304800" cy="304800"/>
          </a:xfrm>
          <a:prstGeom prst="rect">
            <a:avLst/>
          </a:prstGeom>
        </p:spPr>
      </p:pic>
      <p:sp>
        <p:nvSpPr>
          <p:cNvPr id="40" name="Text 35"/>
          <p:cNvSpPr/>
          <p:nvPr/>
        </p:nvSpPr>
        <p:spPr>
          <a:xfrm>
            <a:off x="6356350" y="4024213"/>
            <a:ext cx="498386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Speed and limits</a:t>
            </a:r>
            <a:endParaRPr lang="en-US" sz="1400" dirty="0"/>
          </a:p>
        </p:txBody>
      </p:sp>
      <p:sp>
        <p:nvSpPr>
          <p:cNvPr id="41" name="Text 36"/>
          <p:cNvSpPr/>
          <p:nvPr/>
        </p:nvSpPr>
        <p:spPr>
          <a:xfrm>
            <a:off x="6356350" y="4275634"/>
            <a:ext cx="498386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Bigger prompts mean slower turns and earlier credit limits.</a:t>
            </a:r>
            <a:endParaRPr lang="en-US" sz="1200" dirty="0"/>
          </a:p>
        </p:txBody>
      </p:sp>
      <p:sp>
        <p:nvSpPr>
          <p:cNvPr id="42" name="Text 37"/>
          <p:cNvSpPr/>
          <p:nvPr/>
        </p:nvSpPr>
        <p:spPr>
          <a:xfrm>
            <a:off x="812800" y="5441652"/>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A5A8A"/>
                </a:solidFill>
                <a:latin typeface="Space Grotesk" pitchFamily="34" charset="0"/>
                <a:ea typeface="Space Grotesk" pitchFamily="34" charset="-122"/>
                <a:cs typeface="Space Grotesk" pitchFamily="34" charset="-120"/>
              </a:rPr>
              <a:t>Spend tokens on the right context, not more context.</a:t>
            </a:r>
            <a:endParaRPr lang="en-US" sz="1800" dirty="0"/>
          </a:p>
        </p:txBody>
      </p:sp>
      <p:sp>
        <p:nvSpPr>
          <p:cNvPr id="43"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Blog, “Copilot is moving to usage-based billing,” 2026; Chroma, “Context Rot,” Jul 2025. Chart illustrative.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127000" cy="127000"/>
          </a:xfrm>
          <a:prstGeom prst="roundRect">
            <a:avLst>
              <a:gd name="adj" fmla="val 50000"/>
            </a:avLst>
          </a:prstGeom>
          <a:solidFill>
            <a:srgbClr val="D9D9D9"/>
          </a:solidFill>
          <a:ln/>
        </p:spPr>
      </p:sp>
      <p:sp>
        <p:nvSpPr>
          <p:cNvPr id="6" name="Shape 4"/>
          <p:cNvSpPr/>
          <p:nvPr/>
        </p:nvSpPr>
        <p:spPr>
          <a:xfrm>
            <a:off x="1625600" y="812800"/>
            <a:ext cx="127000" cy="127000"/>
          </a:xfrm>
          <a:prstGeom prst="roundRect">
            <a:avLst>
              <a:gd name="adj" fmla="val 50000"/>
            </a:avLst>
          </a:prstGeom>
          <a:solidFill>
            <a:srgbClr val="D9D9D9"/>
          </a:solidFill>
          <a:ln/>
        </p:spPr>
      </p:sp>
      <p:sp>
        <p:nvSpPr>
          <p:cNvPr id="7" name="Shape 5"/>
          <p:cNvSpPr/>
          <p:nvPr/>
        </p:nvSpPr>
        <p:spPr>
          <a:xfrm>
            <a:off x="1828800" y="812800"/>
            <a:ext cx="127000" cy="127000"/>
          </a:xfrm>
          <a:prstGeom prst="roundRect">
            <a:avLst>
              <a:gd name="adj" fmla="val 50000"/>
            </a:avLst>
          </a:prstGeom>
          <a:solidFill>
            <a:srgbClr val="D9D9D9"/>
          </a:solidFill>
          <a:ln/>
        </p:spPr>
      </p:sp>
      <p:sp>
        <p:nvSpPr>
          <p:cNvPr id="8" name="Shape 6"/>
          <p:cNvSpPr/>
          <p:nvPr/>
        </p:nvSpPr>
        <p:spPr>
          <a:xfrm>
            <a:off x="2032000" y="812800"/>
            <a:ext cx="127000" cy="127000"/>
          </a:xfrm>
          <a:prstGeom prst="roundRect">
            <a:avLst>
              <a:gd name="adj" fmla="val 50000"/>
            </a:avLst>
          </a:prstGeom>
          <a:solidFill>
            <a:srgbClr val="D9D9D9"/>
          </a:solidFill>
          <a:ln/>
        </p:spPr>
      </p:sp>
      <p:sp>
        <p:nvSpPr>
          <p:cNvPr id="9" name="Shape 7"/>
          <p:cNvSpPr/>
          <p:nvPr/>
        </p:nvSpPr>
        <p:spPr>
          <a:xfrm>
            <a:off x="2235200" y="812800"/>
            <a:ext cx="457200" cy="127000"/>
          </a:xfrm>
          <a:prstGeom prst="roundRect">
            <a:avLst>
              <a:gd name="adj" fmla="val 50000"/>
            </a:avLst>
          </a:prstGeom>
          <a:solidFill>
            <a:srgbClr val="00AEEF"/>
          </a:solidFill>
          <a:ln/>
        </p:spPr>
      </p:sp>
      <p:sp>
        <p:nvSpPr>
          <p:cNvPr id="10" name="Shape 8"/>
          <p:cNvSpPr/>
          <p:nvPr/>
        </p:nvSpPr>
        <p:spPr>
          <a:xfrm>
            <a:off x="2768600" y="812800"/>
            <a:ext cx="127000" cy="127000"/>
          </a:xfrm>
          <a:prstGeom prst="roundRect">
            <a:avLst>
              <a:gd name="adj" fmla="val 50000"/>
            </a:avLst>
          </a:prstGeom>
          <a:solidFill>
            <a:srgbClr val="D9D9D9"/>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08</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Field guides</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Verified, versioned docs that agents load on demand — pros and cons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08 · FIELD GUIDES</a:t>
            </a:r>
            <a:endParaRPr lang="en-US" sz="1200" dirty="0"/>
          </a:p>
        </p:txBody>
      </p:sp>
      <p:sp>
        <p:nvSpPr>
          <p:cNvPr id="3" name="Text 1"/>
          <p:cNvSpPr/>
          <p:nvPr>
            <p:ph type="title"/>
          </p:nvPr>
        </p:nvSpPr>
        <p:spPr>
          <a:xfrm>
            <a:off x="812800" y="12039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A field guide is verified knowledge, written for agents</a:t>
            </a:r>
            <a:endParaRPr lang="en-US" sz="3200" dirty="0"/>
          </a:p>
        </p:txBody>
      </p:sp>
      <p:sp>
        <p:nvSpPr>
          <p:cNvPr id="4" name="Text 2"/>
          <p:cNvSpPr/>
          <p:nvPr/>
        </p:nvSpPr>
        <p:spPr>
          <a:xfrm>
            <a:off x="812800" y="1828701"/>
            <a:ext cx="5207000" cy="4013299"/>
          </a:xfrm>
          <a:prstGeom prst="roundRect">
            <a:avLst>
              <a:gd name="adj" fmla="val 2532"/>
            </a:avLst>
          </a:prstGeom>
          <a:solidFill>
            <a:srgbClr val="ECECEC"/>
          </a:solidFill>
          <a:ln/>
        </p:spPr>
        <p:txBody>
          <a:bodyPr wrap="square" lIns="173442" tIns="122642" rIns="29424" bIns="122642" rtlCol="0" anchor="t">
            <a:normAutofit/>
          </a:bodyPr>
          <a:lstStyle/>
          <a:p>
            <a:pPr algn="l" indent="0" marL="0">
              <a:lnSpc>
                <a:spcPts val="1920"/>
              </a:lnSpc>
              <a:buNone/>
            </a:pPr>
            <a:r>
              <a:rPr lang="en-US" sz="1200" dirty="0">
                <a:solidFill>
                  <a:srgbClr val="0A5A8A"/>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scope: behavior — refund processing</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covers: Gateway.Refunds, RefundJob</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verified_at: commit 3f2a9c1</a:t>
            </a:r>
            <a:endParaRPr lang="en-US" sz="1200" dirty="0"/>
          </a:p>
          <a:p>
            <a:pPr algn="l" indent="0" marL="0">
              <a:lnSpc>
                <a:spcPts val="1920"/>
              </a:lnSpc>
              <a:buNone/>
            </a:pPr>
            <a:r>
              <a:rPr lang="en-US" sz="1200" dirty="0">
                <a:solidFill>
                  <a:srgbClr val="0A5A8A"/>
                </a:solidFill>
                <a:latin typeface="JetBrains Mono" pitchFamily="49" charset="0"/>
                <a:ea typeface="JetBrains Mono" pitchFamily="49" charset="-122"/>
                <a:cs typeface="JetBrains Mono" pitchFamily="49" charset="-120"/>
              </a:rPr>
              <a:t>---</a:t>
            </a:r>
            <a:endParaRPr lang="en-US" sz="1200" dirty="0"/>
          </a:p>
          <a:p>
            <a:pPr algn="l" indent="0" marL="0">
              <a:lnSpc>
                <a:spcPts val="1920"/>
              </a:lnSpc>
              <a:buNone/>
            </a:pPr>
            <a:r>
              <a:rPr lang="en-US" sz="1200" b="1" dirty="0">
                <a:solidFill>
                  <a:srgbClr val="1E1E1E"/>
                </a:solidFill>
                <a:latin typeface="JetBrains Mono" pitchFamily="49" charset="0"/>
                <a:ea typeface="JetBrains Mono" pitchFamily="49" charset="-122"/>
                <a:cs typeface="JetBrains Mono" pitchFamily="49" charset="-120"/>
              </a:rPr>
              <a:t>## How it works</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1. Request checked against the capture</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2. [refund window rule]</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3. [settlement step]</a:t>
            </a:r>
            <a:endParaRPr lang="en-US" sz="1200" dirty="0"/>
          </a:p>
          <a:p>
            <a:pPr algn="l" indent="0" marL="0">
              <a:lnSpc>
                <a:spcPts val="1920"/>
              </a:lnSpc>
              <a:buNone/>
            </a:pPr>
            <a:r>
              <a:rPr lang="en-US" sz="1200" b="1" dirty="0">
                <a:solidFill>
                  <a:srgbClr val="1E1E1E"/>
                </a:solidFill>
                <a:latin typeface="JetBrains Mono" pitchFamily="49" charset="0"/>
                <a:ea typeface="JetBrains Mono" pitchFamily="49" charset="-122"/>
                <a:cs typeface="JetBrains Mono" pitchFamily="49" charset="-120"/>
              </a:rPr>
              <a:t>## Invariants</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 [e.g. refund ≤ captured amount]</a:t>
            </a:r>
            <a:endParaRPr lang="en-US" sz="1200" dirty="0"/>
          </a:p>
          <a:p>
            <a:pPr algn="l" indent="0" marL="0">
              <a:lnSpc>
                <a:spcPts val="1920"/>
              </a:lnSpc>
              <a:buNone/>
            </a:pPr>
            <a:r>
              <a:rPr lang="en-US" sz="1200" b="1" dirty="0">
                <a:solidFill>
                  <a:srgbClr val="1E1E1E"/>
                </a:solidFill>
                <a:latin typeface="JetBrains Mono" pitchFamily="49" charset="0"/>
                <a:ea typeface="JetBrains Mono" pitchFamily="49" charset="-122"/>
                <a:cs typeface="JetBrains Mono" pitchFamily="49" charset="-120"/>
              </a:rPr>
              <a:t>## Gotchas</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 [known pitfall]</a:t>
            </a:r>
            <a:endParaRPr lang="en-US" sz="1200" dirty="0"/>
          </a:p>
          <a:p>
            <a:pPr algn="l" indent="0" marL="0">
              <a:lnSpc>
                <a:spcPts val="1920"/>
              </a:lnSpc>
              <a:buNone/>
            </a:pPr>
            <a:r>
              <a:rPr lang="en-US" sz="1200" b="1" dirty="0">
                <a:solidFill>
                  <a:srgbClr val="1E1E1E"/>
                </a:solidFill>
                <a:latin typeface="JetBrains Mono" pitchFamily="49" charset="0"/>
                <a:ea typeface="JetBrains Mono" pitchFamily="49" charset="-122"/>
                <a:cs typeface="JetBrains Mono" pitchFamily="49" charset="-120"/>
              </a:rPr>
              <a:t>## See also</a:t>
            </a:r>
            <a:endParaRPr lang="en-US" sz="1200" dirty="0"/>
          </a:p>
          <a:p>
            <a:pPr algn="l" indent="0" marL="0">
              <a:lnSpc>
                <a:spcPts val="1920"/>
              </a:lnSpc>
              <a:buNone/>
            </a:pPr>
            <a:r>
              <a:rPr lang="en-US" sz="1200" dirty="0">
                <a:solidFill>
                  <a:srgbClr val="1E1E1E"/>
                </a:solidFill>
                <a:latin typeface="JetBrains Mono" pitchFamily="49" charset="0"/>
                <a:ea typeface="JetBrains Mono" pitchFamily="49" charset="-122"/>
                <a:cs typeface="JetBrains Mono" pitchFamily="49" charset="-120"/>
              </a:rPr>
              <a:t>- guides/auth/token-service.md</a:t>
            </a:r>
            <a:endParaRPr lang="en-US" sz="1200" dirty="0"/>
          </a:p>
        </p:txBody>
      </p:sp>
      <p:sp>
        <p:nvSpPr>
          <p:cNvPr id="5" name="Text 3"/>
          <p:cNvSpPr/>
          <p:nvPr/>
        </p:nvSpPr>
        <p:spPr>
          <a:xfrm>
            <a:off x="6324600" y="182870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SCOPED TO WHAT AGENTS NEED</a:t>
            </a:r>
            <a:endParaRPr lang="en-US" sz="1200" dirty="0"/>
          </a:p>
        </p:txBody>
      </p:sp>
      <p:sp>
        <p:nvSpPr>
          <p:cNvPr id="6" name="Text 4"/>
          <p:cNvSpPr/>
          <p:nvPr/>
        </p:nvSpPr>
        <p:spPr>
          <a:xfrm>
            <a:off x="6324600" y="2118221"/>
            <a:ext cx="878384" cy="289520"/>
          </a:xfrm>
          <a:custGeom>
            <a:avLst/>
            <a:gdLst/>
            <a:ahLst/>
            <a:cxnLst/>
            <a:rect l="l" t="t" r="r" b="b"/>
            <a:pathLst>
              <a:path w="878384" h="289520">
                <a:moveTo>
                  <a:pt x="144760" y="0"/>
                </a:moveTo>
                <a:lnTo>
                  <a:pt x="733623" y="0"/>
                </a:lnTo>
                <a:arcTo hR="144760" wR="144760" stAng="16200000" swAng="5400000"/>
                <a:lnTo>
                  <a:pt x="878384"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EF9"/>
          </a:solidFill>
          <a:ln/>
        </p:spPr>
        <p:txBody>
          <a:bodyPr wrap="none" lIns="0" tIns="0" rIns="0" bIns="0" rtlCol="0" anchor="ctr">
            <a:normAutofit/>
          </a:bodyPr>
          <a:lstStyle/>
          <a:p>
            <a:pPr algn="ctr"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A symbol</a:t>
            </a:r>
            <a:endParaRPr lang="en-US" sz="1200" dirty="0"/>
          </a:p>
        </p:txBody>
      </p:sp>
      <p:sp>
        <p:nvSpPr>
          <p:cNvPr id="7" name="Text 5"/>
          <p:cNvSpPr/>
          <p:nvPr/>
        </p:nvSpPr>
        <p:spPr>
          <a:xfrm>
            <a:off x="7266484" y="2118221"/>
            <a:ext cx="1509415" cy="289520"/>
          </a:xfrm>
          <a:custGeom>
            <a:avLst/>
            <a:gdLst/>
            <a:ahLst/>
            <a:cxnLst/>
            <a:rect l="l" t="t" r="r" b="b"/>
            <a:pathLst>
              <a:path w="1509415" h="289520">
                <a:moveTo>
                  <a:pt x="144760" y="0"/>
                </a:moveTo>
                <a:lnTo>
                  <a:pt x="1364655" y="0"/>
                </a:lnTo>
                <a:arcTo hR="144760" wR="144760" stAng="16200000" swAng="5400000"/>
                <a:lnTo>
                  <a:pt x="1509415"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EF9"/>
          </a:solidFill>
          <a:ln/>
        </p:spPr>
        <p:txBody>
          <a:bodyPr wrap="none" lIns="0" tIns="0" rIns="0" bIns="0" rtlCol="0" anchor="ctr">
            <a:normAutofit/>
          </a:bodyPr>
          <a:lstStyle/>
          <a:p>
            <a:pPr algn="ctr"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A behavior or flow</a:t>
            </a:r>
            <a:endParaRPr lang="en-US" sz="1200" dirty="0"/>
          </a:p>
        </p:txBody>
      </p:sp>
      <p:sp>
        <p:nvSpPr>
          <p:cNvPr id="8" name="Text 6"/>
          <p:cNvSpPr/>
          <p:nvPr/>
        </p:nvSpPr>
        <p:spPr>
          <a:xfrm>
            <a:off x="8839398" y="2118221"/>
            <a:ext cx="1128514" cy="289520"/>
          </a:xfrm>
          <a:custGeom>
            <a:avLst/>
            <a:gdLst/>
            <a:ahLst/>
            <a:cxnLst/>
            <a:rect l="l" t="t" r="r" b="b"/>
            <a:pathLst>
              <a:path w="1128514" h="289520">
                <a:moveTo>
                  <a:pt x="144760" y="0"/>
                </a:moveTo>
                <a:lnTo>
                  <a:pt x="983754" y="0"/>
                </a:lnTo>
                <a:arcTo hR="144760" wR="144760" stAng="16200000" swAng="5400000"/>
                <a:lnTo>
                  <a:pt x="1128514"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EF9"/>
          </a:solidFill>
          <a:ln/>
        </p:spPr>
        <p:txBody>
          <a:bodyPr wrap="none" lIns="0" tIns="0" rIns="0" bIns="0" rtlCol="0" anchor="ctr">
            <a:normAutofit/>
          </a:bodyPr>
          <a:lstStyle/>
          <a:p>
            <a:pPr algn="ctr"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A subsystem</a:t>
            </a:r>
            <a:endParaRPr lang="en-US" sz="1200" dirty="0"/>
          </a:p>
        </p:txBody>
      </p:sp>
      <p:sp>
        <p:nvSpPr>
          <p:cNvPr id="9" name="Text 7"/>
          <p:cNvSpPr/>
          <p:nvPr/>
        </p:nvSpPr>
        <p:spPr>
          <a:xfrm>
            <a:off x="6324600" y="2471241"/>
            <a:ext cx="1543844" cy="289520"/>
          </a:xfrm>
          <a:custGeom>
            <a:avLst/>
            <a:gdLst/>
            <a:ahLst/>
            <a:cxnLst/>
            <a:rect l="l" t="t" r="r" b="b"/>
            <a:pathLst>
              <a:path w="1543844" h="289520">
                <a:moveTo>
                  <a:pt x="144760" y="0"/>
                </a:moveTo>
                <a:lnTo>
                  <a:pt x="1399084" y="0"/>
                </a:lnTo>
                <a:arcTo hR="144760" wR="144760" stAng="16200000" swAng="5400000"/>
                <a:lnTo>
                  <a:pt x="1543844"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EF9"/>
          </a:solidFill>
          <a:ln/>
        </p:spPr>
        <p:txBody>
          <a:bodyPr wrap="none" lIns="0" tIns="0" rIns="0" bIns="0" rtlCol="0" anchor="ctr">
            <a:normAutofit/>
          </a:bodyPr>
          <a:lstStyle/>
          <a:p>
            <a:pPr algn="ctr"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A team convention</a:t>
            </a:r>
            <a:endParaRPr lang="en-US" sz="1200" dirty="0"/>
          </a:p>
        </p:txBody>
      </p:sp>
      <p:sp>
        <p:nvSpPr>
          <p:cNvPr id="10" name="Shape 8"/>
          <p:cNvSpPr/>
          <p:nvPr/>
        </p:nvSpPr>
        <p:spPr>
          <a:xfrm>
            <a:off x="6327775" y="2916337"/>
            <a:ext cx="5048250" cy="868363"/>
          </a:xfrm>
          <a:prstGeom prst="roundRect">
            <a:avLst>
              <a:gd name="adj" fmla="val 11335"/>
            </a:avLst>
          </a:prstGeom>
          <a:solidFill>
            <a:srgbClr val="FBFBFC"/>
          </a:solidFill>
          <a:ln w="6350">
            <a:solidFill>
              <a:srgbClr val="D9D9D9"/>
            </a:solidFill>
            <a:prstDash val="solid"/>
          </a:ln>
        </p:spPr>
      </p:sp>
      <p:pic>
        <p:nvPicPr>
          <p:cNvPr id="11" name="Image 0" descr="CheckCircle">    </p:cNvPr>
          <p:cNvPicPr>
            <a:picLocks noChangeAspect="1"/>
          </p:cNvPicPr>
          <p:nvPr/>
        </p:nvPicPr>
        <p:blipFill>
          <a:blip r:embed="rId1"/>
          <a:srcRect l="0" r="0" t="0" b="0"/>
          <a:stretch/>
        </p:blipFill>
        <p:spPr>
          <a:xfrm>
            <a:off x="6483350" y="3198118"/>
            <a:ext cx="304800" cy="304800"/>
          </a:xfrm>
          <a:prstGeom prst="rect">
            <a:avLst/>
          </a:prstGeom>
        </p:spPr>
      </p:pic>
      <p:sp>
        <p:nvSpPr>
          <p:cNvPr id="12" name="Text 9"/>
          <p:cNvSpPr/>
          <p:nvPr/>
        </p:nvSpPr>
        <p:spPr>
          <a:xfrm>
            <a:off x="6915150" y="3121918"/>
            <a:ext cx="4434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Verified in CI</a:t>
            </a:r>
            <a:endParaRPr lang="en-US" sz="1400" dirty="0"/>
          </a:p>
        </p:txBody>
      </p:sp>
      <p:sp>
        <p:nvSpPr>
          <p:cNvPr id="13" name="Text 10"/>
          <p:cNvSpPr/>
          <p:nvPr/>
        </p:nvSpPr>
        <p:spPr>
          <a:xfrm>
            <a:off x="6915150" y="3373338"/>
            <a:ext cx="443445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Checked against the code it covers, pinned to a commit</a:t>
            </a:r>
            <a:endParaRPr lang="en-US" sz="1200" dirty="0"/>
          </a:p>
        </p:txBody>
      </p:sp>
      <p:sp>
        <p:nvSpPr>
          <p:cNvPr id="14" name="Shape 11"/>
          <p:cNvSpPr/>
          <p:nvPr/>
        </p:nvSpPr>
        <p:spPr>
          <a:xfrm>
            <a:off x="6327775" y="3943449"/>
            <a:ext cx="5048250" cy="868363"/>
          </a:xfrm>
          <a:prstGeom prst="roundRect">
            <a:avLst>
              <a:gd name="adj" fmla="val 11335"/>
            </a:avLst>
          </a:prstGeom>
          <a:solidFill>
            <a:srgbClr val="FBFBFC"/>
          </a:solidFill>
          <a:ln w="6350">
            <a:solidFill>
              <a:srgbClr val="D9D9D9"/>
            </a:solidFill>
            <a:prstDash val="solid"/>
          </a:ln>
        </p:spPr>
      </p:sp>
      <p:pic>
        <p:nvPicPr>
          <p:cNvPr id="15" name="Image 1" descr="Book">    </p:cNvPr>
          <p:cNvPicPr>
            <a:picLocks noChangeAspect="1"/>
          </p:cNvPicPr>
          <p:nvPr/>
        </p:nvPicPr>
        <p:blipFill>
          <a:blip r:embed="rId2"/>
          <a:srcRect l="0" r="0" t="0" b="0"/>
          <a:stretch/>
        </p:blipFill>
        <p:spPr>
          <a:xfrm>
            <a:off x="6483350" y="4225230"/>
            <a:ext cx="304800" cy="304800"/>
          </a:xfrm>
          <a:prstGeom prst="rect">
            <a:avLst/>
          </a:prstGeom>
        </p:spPr>
      </p:pic>
      <p:sp>
        <p:nvSpPr>
          <p:cNvPr id="16" name="Text 12"/>
          <p:cNvSpPr/>
          <p:nvPr/>
        </p:nvSpPr>
        <p:spPr>
          <a:xfrm>
            <a:off x="6915150" y="4046240"/>
            <a:ext cx="4434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Loaded on demand</a:t>
            </a:r>
            <a:endParaRPr lang="en-US" sz="1400" dirty="0"/>
          </a:p>
        </p:txBody>
      </p:sp>
      <p:sp>
        <p:nvSpPr>
          <p:cNvPr id="17" name="Text 13"/>
          <p:cNvSpPr/>
          <p:nvPr/>
        </p:nvSpPr>
        <p:spPr>
          <a:xfrm>
            <a:off x="6915150" y="4297660"/>
            <a:ext cx="4434459"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Indexed by name and scope; agents pull only what a task needs</a:t>
            </a:r>
            <a:endParaRPr lang="en-US" sz="1200" dirty="0"/>
          </a:p>
        </p:txBody>
      </p:sp>
      <p:sp>
        <p:nvSpPr>
          <p:cNvPr id="18" name="Shape 14"/>
          <p:cNvSpPr/>
          <p:nvPr/>
        </p:nvSpPr>
        <p:spPr>
          <a:xfrm>
            <a:off x="6327775" y="4970562"/>
            <a:ext cx="5048250" cy="868363"/>
          </a:xfrm>
          <a:prstGeom prst="roundRect">
            <a:avLst>
              <a:gd name="adj" fmla="val 11335"/>
            </a:avLst>
          </a:prstGeom>
          <a:solidFill>
            <a:srgbClr val="FBFBFC"/>
          </a:solidFill>
          <a:ln w="6350">
            <a:solidFill>
              <a:srgbClr val="D9D9D9"/>
            </a:solidFill>
            <a:prstDash val="solid"/>
          </a:ln>
        </p:spPr>
      </p:sp>
      <p:pic>
        <p:nvPicPr>
          <p:cNvPr id="19" name="Image 2" descr="Verified">    </p:cNvPr>
          <p:cNvPicPr>
            <a:picLocks noChangeAspect="1"/>
          </p:cNvPicPr>
          <p:nvPr/>
        </p:nvPicPr>
        <p:blipFill>
          <a:blip r:embed="rId3"/>
          <a:srcRect l="0" r="0" t="0" b="0"/>
          <a:stretch/>
        </p:blipFill>
        <p:spPr>
          <a:xfrm>
            <a:off x="6483350" y="5252343"/>
            <a:ext cx="304800" cy="304800"/>
          </a:xfrm>
          <a:prstGeom prst="rect">
            <a:avLst/>
          </a:prstGeom>
        </p:spPr>
      </p:pic>
      <p:sp>
        <p:nvSpPr>
          <p:cNvPr id="20" name="Text 15"/>
          <p:cNvSpPr/>
          <p:nvPr/>
        </p:nvSpPr>
        <p:spPr>
          <a:xfrm>
            <a:off x="6915150" y="5176143"/>
            <a:ext cx="443445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Versioned in git</a:t>
            </a:r>
            <a:endParaRPr lang="en-US" sz="1400" dirty="0"/>
          </a:p>
        </p:txBody>
      </p:sp>
      <p:sp>
        <p:nvSpPr>
          <p:cNvPr id="21" name="Text 16"/>
          <p:cNvSpPr/>
          <p:nvPr/>
        </p:nvSpPr>
        <p:spPr>
          <a:xfrm>
            <a:off x="6915150" y="5427563"/>
            <a:ext cx="4434459"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Every change is reviewed, like code</a:t>
            </a:r>
            <a:endParaRPr lang="en-US" sz="1200" dirty="0"/>
          </a:p>
        </p:txBody>
      </p:sp>
      <p:sp>
        <p:nvSpPr>
          <p:cNvPr id="22"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Illustrative guide; bracketed lines are placeholders. Pattern: just-in-time context (Anthropic, 2025)</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08 · FIELD GUIDES</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Field guides + plugins = context on demand</a:t>
            </a:r>
            <a:endParaRPr lang="en-US" sz="3200" dirty="0"/>
          </a:p>
        </p:txBody>
      </p:sp>
      <p:sp>
        <p:nvSpPr>
          <p:cNvPr id="4" name="Text 2"/>
          <p:cNvSpPr/>
          <p:nvPr/>
        </p:nvSpPr>
        <p:spPr>
          <a:xfrm>
            <a:off x="812800" y="1828701"/>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OFFLINE: BUILD AND VERIFY THE GUIDES</a:t>
            </a:r>
            <a:endParaRPr lang="en-US" sz="1200" dirty="0"/>
          </a:p>
        </p:txBody>
      </p:sp>
      <p:sp>
        <p:nvSpPr>
          <p:cNvPr id="5" name="Text 3"/>
          <p:cNvSpPr/>
          <p:nvPr/>
        </p:nvSpPr>
        <p:spPr>
          <a:xfrm>
            <a:off x="812800" y="3327301"/>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5E5E"/>
                </a:solidFill>
                <a:latin typeface="IBM Plex Sans" pitchFamily="34" charset="0"/>
                <a:ea typeface="IBM Plex Sans" pitchFamily="34" charset="-122"/>
                <a:cs typeface="IBM Plex Sans" pitchFamily="34" charset="-120"/>
              </a:rPr>
              <a:t>AT TASK TIME: USE THEM</a:t>
            </a:r>
            <a:endParaRPr lang="en-US" sz="1200" dirty="0"/>
          </a:p>
        </p:txBody>
      </p:sp>
      <p:sp>
        <p:nvSpPr>
          <p:cNvPr id="6" name="Shape 4"/>
          <p:cNvSpPr/>
          <p:nvPr/>
        </p:nvSpPr>
        <p:spPr>
          <a:xfrm>
            <a:off x="819150" y="2114451"/>
            <a:ext cx="2019300" cy="876300"/>
          </a:xfrm>
          <a:prstGeom prst="roundRect">
            <a:avLst>
              <a:gd name="adj" fmla="val 10870"/>
            </a:avLst>
          </a:prstGeom>
          <a:solidFill>
            <a:srgbClr val="FBFBFC"/>
          </a:solidFill>
          <a:ln w="12700">
            <a:solidFill>
              <a:srgbClr val="D9D9D9"/>
            </a:solidFill>
            <a:prstDash val="solid"/>
          </a:ln>
        </p:spPr>
      </p:sp>
      <p:sp>
        <p:nvSpPr>
          <p:cNvPr id="7" name="Text 5"/>
          <p:cNvSpPr/>
          <p:nvPr/>
        </p:nvSpPr>
        <p:spPr>
          <a:xfrm>
            <a:off x="977900" y="23215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Codebase</a:t>
            </a:r>
            <a:endParaRPr lang="en-US" sz="1400" dirty="0"/>
          </a:p>
        </p:txBody>
      </p:sp>
      <p:sp>
        <p:nvSpPr>
          <p:cNvPr id="8" name="Text 6"/>
          <p:cNvSpPr/>
          <p:nvPr/>
        </p:nvSpPr>
        <p:spPr>
          <a:xfrm>
            <a:off x="977900" y="25856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C# / .NET services</a:t>
            </a:r>
            <a:endParaRPr lang="en-US" sz="1200" dirty="0"/>
          </a:p>
        </p:txBody>
      </p:sp>
      <p:sp>
        <p:nvSpPr>
          <p:cNvPr id="9" name="Shape 7"/>
          <p:cNvSpPr/>
          <p:nvPr/>
        </p:nvSpPr>
        <p:spPr>
          <a:xfrm>
            <a:off x="3663950" y="2114451"/>
            <a:ext cx="2019300" cy="876300"/>
          </a:xfrm>
          <a:prstGeom prst="roundRect">
            <a:avLst>
              <a:gd name="adj" fmla="val 10870"/>
            </a:avLst>
          </a:prstGeom>
          <a:solidFill>
            <a:srgbClr val="FBFBFC"/>
          </a:solidFill>
          <a:ln w="12700">
            <a:solidFill>
              <a:srgbClr val="D9D9D9"/>
            </a:solidFill>
            <a:prstDash val="solid"/>
          </a:ln>
        </p:spPr>
      </p:sp>
      <p:sp>
        <p:nvSpPr>
          <p:cNvPr id="10" name="Text 8"/>
          <p:cNvSpPr/>
          <p:nvPr/>
        </p:nvSpPr>
        <p:spPr>
          <a:xfrm>
            <a:off x="3822700" y="23215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Guide agent</a:t>
            </a:r>
            <a:endParaRPr lang="en-US" sz="1400" dirty="0"/>
          </a:p>
        </p:txBody>
      </p:sp>
      <p:sp>
        <p:nvSpPr>
          <p:cNvPr id="11" name="Text 9"/>
          <p:cNvSpPr/>
          <p:nvPr/>
        </p:nvSpPr>
        <p:spPr>
          <a:xfrm>
            <a:off x="3822700" y="25856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writes scoped guides</a:t>
            </a:r>
            <a:endParaRPr lang="en-US" sz="1200" dirty="0"/>
          </a:p>
        </p:txBody>
      </p:sp>
      <p:sp>
        <p:nvSpPr>
          <p:cNvPr id="12" name="Shape 10"/>
          <p:cNvSpPr/>
          <p:nvPr/>
        </p:nvSpPr>
        <p:spPr>
          <a:xfrm>
            <a:off x="6508750" y="2114451"/>
            <a:ext cx="2019300" cy="876300"/>
          </a:xfrm>
          <a:prstGeom prst="roundRect">
            <a:avLst>
              <a:gd name="adj" fmla="val 10870"/>
            </a:avLst>
          </a:prstGeom>
          <a:solidFill>
            <a:srgbClr val="FBFBFC"/>
          </a:solidFill>
          <a:ln w="12700">
            <a:solidFill>
              <a:srgbClr val="D9D9D9"/>
            </a:solidFill>
            <a:prstDash val="solid"/>
          </a:ln>
        </p:spPr>
      </p:sp>
      <p:sp>
        <p:nvSpPr>
          <p:cNvPr id="13" name="Text 11"/>
          <p:cNvSpPr/>
          <p:nvPr/>
        </p:nvSpPr>
        <p:spPr>
          <a:xfrm>
            <a:off x="6667500" y="23215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CI verification</a:t>
            </a:r>
            <a:endParaRPr lang="en-US" sz="1400" dirty="0"/>
          </a:p>
        </p:txBody>
      </p:sp>
      <p:sp>
        <p:nvSpPr>
          <p:cNvPr id="14" name="Text 12"/>
          <p:cNvSpPr/>
          <p:nvPr/>
        </p:nvSpPr>
        <p:spPr>
          <a:xfrm>
            <a:off x="6667500" y="25856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checks guides vs. code</a:t>
            </a:r>
            <a:endParaRPr lang="en-US" sz="1200" dirty="0"/>
          </a:p>
        </p:txBody>
      </p:sp>
      <p:sp>
        <p:nvSpPr>
          <p:cNvPr id="15" name="Shape 13"/>
          <p:cNvSpPr/>
          <p:nvPr/>
        </p:nvSpPr>
        <p:spPr>
          <a:xfrm>
            <a:off x="9353550" y="2114451"/>
            <a:ext cx="2019300" cy="876300"/>
          </a:xfrm>
          <a:prstGeom prst="roundRect">
            <a:avLst>
              <a:gd name="adj" fmla="val 10870"/>
            </a:avLst>
          </a:prstGeom>
          <a:solidFill>
            <a:srgbClr val="FBFBFC"/>
          </a:solidFill>
          <a:ln w="12700">
            <a:solidFill>
              <a:srgbClr val="D9D9D9"/>
            </a:solidFill>
            <a:prstDash val="solid"/>
          </a:ln>
        </p:spPr>
      </p:sp>
      <p:sp>
        <p:nvSpPr>
          <p:cNvPr id="16" name="Text 14"/>
          <p:cNvSpPr/>
          <p:nvPr/>
        </p:nvSpPr>
        <p:spPr>
          <a:xfrm>
            <a:off x="9512300" y="23215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Field guides</a:t>
            </a:r>
            <a:endParaRPr lang="en-US" sz="1400" dirty="0"/>
          </a:p>
        </p:txBody>
      </p:sp>
      <p:sp>
        <p:nvSpPr>
          <p:cNvPr id="17" name="Text 15"/>
          <p:cNvSpPr/>
          <p:nvPr/>
        </p:nvSpPr>
        <p:spPr>
          <a:xfrm>
            <a:off x="9512300" y="25856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versioned markdown</a:t>
            </a:r>
            <a:endParaRPr lang="en-US" sz="1200" dirty="0"/>
          </a:p>
        </p:txBody>
      </p:sp>
      <p:sp>
        <p:nvSpPr>
          <p:cNvPr id="18" name="Shape 16"/>
          <p:cNvSpPr/>
          <p:nvPr/>
        </p:nvSpPr>
        <p:spPr>
          <a:xfrm>
            <a:off x="819150" y="3613051"/>
            <a:ext cx="2019300" cy="876300"/>
          </a:xfrm>
          <a:prstGeom prst="roundRect">
            <a:avLst>
              <a:gd name="adj" fmla="val 10870"/>
            </a:avLst>
          </a:prstGeom>
          <a:solidFill>
            <a:srgbClr val="FBFBFC"/>
          </a:solidFill>
          <a:ln w="12700">
            <a:solidFill>
              <a:srgbClr val="D9D9D9"/>
            </a:solidFill>
            <a:prstDash val="solid"/>
          </a:ln>
        </p:spPr>
      </p:sp>
      <p:sp>
        <p:nvSpPr>
          <p:cNvPr id="19" name="Text 17"/>
          <p:cNvSpPr/>
          <p:nvPr/>
        </p:nvSpPr>
        <p:spPr>
          <a:xfrm>
            <a:off x="977900" y="38201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Your task</a:t>
            </a:r>
            <a:endParaRPr lang="en-US" sz="1400" dirty="0"/>
          </a:p>
        </p:txBody>
      </p:sp>
      <p:sp>
        <p:nvSpPr>
          <p:cNvPr id="20" name="Text 18"/>
          <p:cNvSpPr/>
          <p:nvPr/>
        </p:nvSpPr>
        <p:spPr>
          <a:xfrm>
            <a:off x="977900" y="40842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prompt or ticket</a:t>
            </a:r>
            <a:endParaRPr lang="en-US" sz="1200" dirty="0"/>
          </a:p>
        </p:txBody>
      </p:sp>
      <p:sp>
        <p:nvSpPr>
          <p:cNvPr id="21" name="Shape 19"/>
          <p:cNvSpPr/>
          <p:nvPr/>
        </p:nvSpPr>
        <p:spPr>
          <a:xfrm>
            <a:off x="3663950" y="3613051"/>
            <a:ext cx="2019300" cy="876300"/>
          </a:xfrm>
          <a:prstGeom prst="roundRect">
            <a:avLst>
              <a:gd name="adj" fmla="val 10870"/>
            </a:avLst>
          </a:prstGeom>
          <a:solidFill>
            <a:srgbClr val="DCEEF9"/>
          </a:solidFill>
          <a:ln w="12700">
            <a:solidFill>
              <a:srgbClr val="0B3C6F"/>
            </a:solidFill>
            <a:prstDash val="solid"/>
          </a:ln>
        </p:spPr>
      </p:sp>
      <p:sp>
        <p:nvSpPr>
          <p:cNvPr id="22" name="Text 20"/>
          <p:cNvSpPr/>
          <p:nvPr/>
        </p:nvSpPr>
        <p:spPr>
          <a:xfrm>
            <a:off x="3822700" y="38201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Agent + plugin</a:t>
            </a:r>
            <a:endParaRPr lang="en-US" sz="1400" dirty="0"/>
          </a:p>
        </p:txBody>
      </p:sp>
      <p:sp>
        <p:nvSpPr>
          <p:cNvPr id="23" name="Text 21"/>
          <p:cNvSpPr/>
          <p:nvPr/>
        </p:nvSpPr>
        <p:spPr>
          <a:xfrm>
            <a:off x="3822700" y="40842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skills route to guides</a:t>
            </a:r>
            <a:endParaRPr lang="en-US" sz="1200" dirty="0"/>
          </a:p>
        </p:txBody>
      </p:sp>
      <p:sp>
        <p:nvSpPr>
          <p:cNvPr id="24" name="Shape 22"/>
          <p:cNvSpPr/>
          <p:nvPr/>
        </p:nvSpPr>
        <p:spPr>
          <a:xfrm>
            <a:off x="6508750" y="3613051"/>
            <a:ext cx="2019300" cy="876300"/>
          </a:xfrm>
          <a:prstGeom prst="roundRect">
            <a:avLst>
              <a:gd name="adj" fmla="val 10870"/>
            </a:avLst>
          </a:prstGeom>
          <a:solidFill>
            <a:srgbClr val="FBFBFC"/>
          </a:solidFill>
          <a:ln w="12700">
            <a:solidFill>
              <a:srgbClr val="D9D9D9"/>
            </a:solidFill>
            <a:prstDash val="solid"/>
          </a:ln>
        </p:spPr>
      </p:sp>
      <p:sp>
        <p:nvSpPr>
          <p:cNvPr id="25" name="Text 23"/>
          <p:cNvSpPr/>
          <p:nvPr/>
        </p:nvSpPr>
        <p:spPr>
          <a:xfrm>
            <a:off x="6667500" y="38201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Guide index</a:t>
            </a:r>
            <a:endParaRPr lang="en-US" sz="1400" dirty="0"/>
          </a:p>
        </p:txBody>
      </p:sp>
      <p:sp>
        <p:nvSpPr>
          <p:cNvPr id="26" name="Text 24"/>
          <p:cNvSpPr/>
          <p:nvPr/>
        </p:nvSpPr>
        <p:spPr>
          <a:xfrm>
            <a:off x="6667500" y="40842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find by name and scope</a:t>
            </a:r>
            <a:endParaRPr lang="en-US" sz="1200" dirty="0"/>
          </a:p>
        </p:txBody>
      </p:sp>
      <p:sp>
        <p:nvSpPr>
          <p:cNvPr id="27" name="Shape 25"/>
          <p:cNvSpPr/>
          <p:nvPr/>
        </p:nvSpPr>
        <p:spPr>
          <a:xfrm>
            <a:off x="9353550" y="3613051"/>
            <a:ext cx="2019300" cy="876300"/>
          </a:xfrm>
          <a:prstGeom prst="roundRect">
            <a:avLst>
              <a:gd name="adj" fmla="val 10870"/>
            </a:avLst>
          </a:prstGeom>
          <a:solidFill>
            <a:srgbClr val="FBFBFC"/>
          </a:solidFill>
          <a:ln w="12700">
            <a:solidFill>
              <a:srgbClr val="D9D9D9"/>
            </a:solidFill>
            <a:prstDash val="solid"/>
          </a:ln>
        </p:spPr>
      </p:sp>
      <p:sp>
        <p:nvSpPr>
          <p:cNvPr id="28" name="Text 26"/>
          <p:cNvSpPr/>
          <p:nvPr/>
        </p:nvSpPr>
        <p:spPr>
          <a:xfrm>
            <a:off x="9512300" y="3820120"/>
            <a:ext cx="175285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1E1E"/>
                </a:solidFill>
                <a:latin typeface="IBM Plex Sans" pitchFamily="34" charset="0"/>
                <a:ea typeface="IBM Plex Sans" pitchFamily="34" charset="-122"/>
                <a:cs typeface="IBM Plex Sans" pitchFamily="34" charset="-120"/>
              </a:rPr>
              <a:t>Relevant guides</a:t>
            </a:r>
            <a:endParaRPr lang="en-US" sz="1400" dirty="0"/>
          </a:p>
        </p:txBody>
      </p:sp>
      <p:sp>
        <p:nvSpPr>
          <p:cNvPr id="29" name="Text 27"/>
          <p:cNvSpPr/>
          <p:nvPr/>
        </p:nvSpPr>
        <p:spPr>
          <a:xfrm>
            <a:off x="9512300" y="4084241"/>
            <a:ext cx="1752854" cy="22344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E5E"/>
                </a:solidFill>
                <a:latin typeface="IBM Plex Sans" pitchFamily="34" charset="0"/>
                <a:ea typeface="IBM Plex Sans" pitchFamily="34" charset="-122"/>
                <a:cs typeface="IBM Plex Sans" pitchFamily="34" charset="-120"/>
              </a:rPr>
              <a:t>only what is needed</a:t>
            </a:r>
            <a:endParaRPr lang="en-US" sz="1200" dirty="0"/>
          </a:p>
        </p:txBody>
      </p:sp>
      <p:pic>
        <p:nvPicPr>
          <p:cNvPr id="30" name="Image 0" descr="connector">    </p:cNvPr>
          <p:cNvPicPr>
            <a:picLocks noChangeAspect="1"/>
          </p:cNvPicPr>
          <p:nvPr/>
        </p:nvPicPr>
        <p:blipFill>
          <a:blip r:embed="rId1"/>
          <a:srcRect l="0" r="0" t="0" b="0"/>
          <a:stretch/>
        </p:blipFill>
        <p:spPr>
          <a:xfrm>
            <a:off x="2781300" y="2489101"/>
            <a:ext cx="939800" cy="127000"/>
          </a:xfrm>
          <a:prstGeom prst="rect">
            <a:avLst/>
          </a:prstGeom>
        </p:spPr>
      </p:pic>
      <p:pic>
        <p:nvPicPr>
          <p:cNvPr id="31" name="Image 1" descr="connector">    </p:cNvPr>
          <p:cNvPicPr>
            <a:picLocks noChangeAspect="1"/>
          </p:cNvPicPr>
          <p:nvPr/>
        </p:nvPicPr>
        <p:blipFill>
          <a:blip r:embed="rId2"/>
          <a:srcRect l="0" r="0" t="0" b="0"/>
          <a:stretch/>
        </p:blipFill>
        <p:spPr>
          <a:xfrm>
            <a:off x="5626100" y="2489101"/>
            <a:ext cx="939800" cy="127000"/>
          </a:xfrm>
          <a:prstGeom prst="rect">
            <a:avLst/>
          </a:prstGeom>
        </p:spPr>
      </p:pic>
      <p:pic>
        <p:nvPicPr>
          <p:cNvPr id="32" name="Image 2" descr="connector">    </p:cNvPr>
          <p:cNvPicPr>
            <a:picLocks noChangeAspect="1"/>
          </p:cNvPicPr>
          <p:nvPr/>
        </p:nvPicPr>
        <p:blipFill>
          <a:blip r:embed="rId3"/>
          <a:srcRect l="0" r="0" t="0" b="0"/>
          <a:stretch/>
        </p:blipFill>
        <p:spPr>
          <a:xfrm>
            <a:off x="8470900" y="2489101"/>
            <a:ext cx="939800" cy="127000"/>
          </a:xfrm>
          <a:prstGeom prst="rect">
            <a:avLst/>
          </a:prstGeom>
        </p:spPr>
      </p:pic>
      <p:pic>
        <p:nvPicPr>
          <p:cNvPr id="33" name="Image 3" descr="connector">    </p:cNvPr>
          <p:cNvPicPr>
            <a:picLocks noChangeAspect="1"/>
          </p:cNvPicPr>
          <p:nvPr/>
        </p:nvPicPr>
        <p:blipFill>
          <a:blip r:embed="rId4"/>
          <a:srcRect l="0" r="0" t="0" b="0"/>
          <a:stretch/>
        </p:blipFill>
        <p:spPr>
          <a:xfrm>
            <a:off x="2781300" y="3987701"/>
            <a:ext cx="939800" cy="127000"/>
          </a:xfrm>
          <a:prstGeom prst="rect">
            <a:avLst/>
          </a:prstGeom>
        </p:spPr>
      </p:pic>
      <p:pic>
        <p:nvPicPr>
          <p:cNvPr id="34" name="Image 4" descr="connector">    </p:cNvPr>
          <p:cNvPicPr>
            <a:picLocks noChangeAspect="1"/>
          </p:cNvPicPr>
          <p:nvPr/>
        </p:nvPicPr>
        <p:blipFill>
          <a:blip r:embed="rId5"/>
          <a:srcRect l="0" r="0" t="0" b="0"/>
          <a:stretch/>
        </p:blipFill>
        <p:spPr>
          <a:xfrm>
            <a:off x="5626100" y="3987701"/>
            <a:ext cx="939800" cy="127000"/>
          </a:xfrm>
          <a:prstGeom prst="rect">
            <a:avLst/>
          </a:prstGeom>
        </p:spPr>
      </p:pic>
      <p:pic>
        <p:nvPicPr>
          <p:cNvPr id="35" name="Image 5" descr="connector">    </p:cNvPr>
          <p:cNvPicPr>
            <a:picLocks noChangeAspect="1"/>
          </p:cNvPicPr>
          <p:nvPr/>
        </p:nvPicPr>
        <p:blipFill>
          <a:blip r:embed="rId6"/>
          <a:srcRect l="0" r="0" t="0" b="0"/>
          <a:stretch/>
        </p:blipFill>
        <p:spPr>
          <a:xfrm>
            <a:off x="8470900" y="3987701"/>
            <a:ext cx="939800" cy="127000"/>
          </a:xfrm>
          <a:prstGeom prst="rect">
            <a:avLst/>
          </a:prstGeom>
        </p:spPr>
      </p:pic>
      <p:pic>
        <p:nvPicPr>
          <p:cNvPr id="36" name="Image 6" descr="connector">    </p:cNvPr>
          <p:cNvPicPr>
            <a:picLocks noChangeAspect="1"/>
          </p:cNvPicPr>
          <p:nvPr/>
        </p:nvPicPr>
        <p:blipFill>
          <a:blip r:embed="rId7"/>
          <a:srcRect l="0" r="0" t="0" b="0"/>
          <a:stretch/>
        </p:blipFill>
        <p:spPr>
          <a:xfrm>
            <a:off x="10299700" y="2933601"/>
            <a:ext cx="127000" cy="736600"/>
          </a:xfrm>
          <a:prstGeom prst="rect">
            <a:avLst/>
          </a:prstGeom>
        </p:spPr>
      </p:pic>
      <p:sp>
        <p:nvSpPr>
          <p:cNvPr id="37" name="Text 28"/>
          <p:cNvSpPr/>
          <p:nvPr/>
        </p:nvSpPr>
        <p:spPr>
          <a:xfrm>
            <a:off x="10464800" y="3174901"/>
            <a:ext cx="939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A8A"/>
                </a:solidFill>
                <a:latin typeface="IBM Plex Sans" pitchFamily="34" charset="0"/>
                <a:ea typeface="IBM Plex Sans" pitchFamily="34" charset="-122"/>
                <a:cs typeface="IBM Plex Sans" pitchFamily="34" charset="-120"/>
              </a:rPr>
              <a:t>verified</a:t>
            </a:r>
            <a:endParaRPr lang="en-US" sz="1200" dirty="0"/>
          </a:p>
        </p:txBody>
      </p:sp>
      <p:pic>
        <p:nvPicPr>
          <p:cNvPr id="38" name="Image 7" descr="connector">    </p:cNvPr>
          <p:cNvPicPr>
            <a:picLocks noChangeAspect="1"/>
          </p:cNvPicPr>
          <p:nvPr/>
        </p:nvPicPr>
        <p:blipFill>
          <a:blip r:embed="rId8"/>
          <a:srcRect l="0" r="0" t="0" b="0"/>
          <a:stretch/>
        </p:blipFill>
        <p:spPr>
          <a:xfrm>
            <a:off x="10299700" y="4432201"/>
            <a:ext cx="127000" cy="381000"/>
          </a:xfrm>
          <a:prstGeom prst="rect">
            <a:avLst/>
          </a:prstGeom>
        </p:spPr>
      </p:pic>
      <p:pic>
        <p:nvPicPr>
          <p:cNvPr id="39" name="Image 8" descr="connector">    </p:cNvPr>
          <p:cNvPicPr>
            <a:picLocks noChangeAspect="1"/>
          </p:cNvPicPr>
          <p:nvPr/>
        </p:nvPicPr>
        <p:blipFill>
          <a:blip r:embed="rId9"/>
          <a:srcRect l="0" r="0" t="0" b="0"/>
          <a:stretch/>
        </p:blipFill>
        <p:spPr>
          <a:xfrm>
            <a:off x="4610100" y="4686201"/>
            <a:ext cx="5816600" cy="127000"/>
          </a:xfrm>
          <a:prstGeom prst="rect">
            <a:avLst/>
          </a:prstGeom>
        </p:spPr>
      </p:pic>
      <p:pic>
        <p:nvPicPr>
          <p:cNvPr id="40" name="Image 9" descr="connector">    </p:cNvPr>
          <p:cNvPicPr>
            <a:picLocks noChangeAspect="1"/>
          </p:cNvPicPr>
          <p:nvPr/>
        </p:nvPicPr>
        <p:blipFill>
          <a:blip r:embed="rId10"/>
          <a:srcRect l="0" r="0" t="0" b="0"/>
          <a:stretch/>
        </p:blipFill>
        <p:spPr>
          <a:xfrm>
            <a:off x="4610100" y="4432201"/>
            <a:ext cx="127000" cy="381000"/>
          </a:xfrm>
          <a:prstGeom prst="rect">
            <a:avLst/>
          </a:prstGeom>
        </p:spPr>
      </p:pic>
      <p:sp>
        <p:nvSpPr>
          <p:cNvPr id="41" name="Text 29"/>
          <p:cNvSpPr/>
          <p:nvPr/>
        </p:nvSpPr>
        <p:spPr>
          <a:xfrm>
            <a:off x="5638800" y="482590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loaded into the agent’s context</a:t>
            </a:r>
            <a:endParaRPr lang="en-US" sz="1200" dirty="0"/>
          </a:p>
        </p:txBody>
      </p:sp>
      <p:sp>
        <p:nvSpPr>
          <p:cNvPr id="42" name="Text 30"/>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Agents read an index first, then pull only the guides they need, instead of re-reading the repo every session.</a:t>
            </a:r>
            <a:endParaRPr lang="en-US" sz="1400" dirty="0"/>
          </a:p>
        </p:txBody>
      </p:sp>
      <p:sp>
        <p:nvSpPr>
          <p:cNvPr id="4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Anthropic, “Effective context engineering for AI agents,” Sep 2025; GitHub Docs (2026): skills and plugins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27707"/>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0A5A8A"/>
                </a:solidFill>
                <a:latin typeface="IBM Plex Sans" pitchFamily="34" charset="0"/>
                <a:ea typeface="IBM Plex Sans" pitchFamily="34" charset="-122"/>
                <a:cs typeface="IBM Plex Sans" pitchFamily="34" charset="-120"/>
              </a:rPr>
              <a:t>08 · FIELD GUIDES</a:t>
            </a:r>
            <a:endParaRPr lang="en-US" sz="1159" dirty="0"/>
          </a:p>
        </p:txBody>
      </p:sp>
      <p:sp>
        <p:nvSpPr>
          <p:cNvPr id="3" name="Text 1"/>
          <p:cNvSpPr/>
          <p:nvPr>
            <p:ph type="title"/>
          </p:nvPr>
        </p:nvSpPr>
        <p:spPr>
          <a:xfrm>
            <a:off x="812800" y="1192907"/>
            <a:ext cx="10883392" cy="449263"/>
          </a:xfrm>
          <a:prstGeom prst="rect">
            <a:avLst/>
          </a:prstGeom>
          <a:noFill/>
          <a:ln/>
        </p:spPr>
        <p:txBody>
          <a:bodyPr wrap="square" lIns="0" tIns="0" rIns="0" bIns="0" rtlCol="0" anchor="t">
            <a:normAutofit/>
          </a:bodyPr>
          <a:lstStyle/>
          <a:p>
            <a:pPr algn="l" indent="0" marL="0">
              <a:lnSpc>
                <a:spcPts val="3366"/>
              </a:lnSpc>
              <a:buNone/>
            </a:pPr>
            <a:r>
              <a:rPr lang="en-US" sz="3060" b="1" i="0" dirty="0">
                <a:solidFill>
                  <a:srgbClr val="1E1E1E"/>
                </a:solidFill>
                <a:latin typeface="Space Grotesk" pitchFamily="34" charset="0"/>
                <a:ea typeface="Space Grotesk" pitchFamily="34" charset="-122"/>
                <a:cs typeface="Space Grotesk" pitchFamily="34" charset="-120"/>
              </a:rPr>
              <a:t>Why not just let the agent read the code, or use RAG?</a:t>
            </a:r>
            <a:endParaRPr lang="en-US" sz="3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07270"/>
          <a:ext cx="10553700" cy="3442990"/>
        </p:xfrm>
        <a:graphic>
          <a:graphicData uri="http://schemas.openxmlformats.org/drawingml/2006/table">
            <a:tbl>
              <a:tblPr/>
              <a:tblGrid>
                <a:gridCol w="2005203"/>
                <a:gridCol w="2849499"/>
                <a:gridCol w="2849499"/>
                <a:gridCol w="2849499"/>
              </a:tblGrid>
              <a:tr h="457994">
                <a:tc>
                  <a:txBody>
                    <a:bodyPr/>
                    <a:lstStyle/>
                    <a:p>
                      <a:pPr indent="0" marL="0">
                        <a:lnSpc>
                          <a:spcPts val="1825"/>
                        </a:lnSpc>
                        <a:buNone/>
                      </a:pP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25"/>
                        </a:lnSpc>
                        <a:buNone/>
                      </a:pPr>
                      <a:r>
                        <a:rPr lang="en-US" sz="1304" b="1" dirty="0">
                          <a:solidFill>
                            <a:srgbClr val="0A5A8A"/>
                          </a:solidFill>
                          <a:latin typeface="IBM Plex Sans" pitchFamily="34" charset="0"/>
                          <a:ea typeface="IBM Plex Sans" pitchFamily="34" charset="-122"/>
                          <a:cs typeface="IBM Plex Sans" pitchFamily="34" charset="-120"/>
                        </a:rPr>
                        <a:t>Agent reads raw code</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25"/>
                        </a:lnSpc>
                        <a:buNone/>
                      </a:pPr>
                      <a:r>
                        <a:rPr lang="en-US" sz="1304" b="1" dirty="0">
                          <a:solidFill>
                            <a:srgbClr val="0A5A8A"/>
                          </a:solidFill>
                          <a:latin typeface="IBM Plex Sans" pitchFamily="34" charset="0"/>
                          <a:ea typeface="IBM Plex Sans" pitchFamily="34" charset="-122"/>
                          <a:cs typeface="IBM Plex Sans" pitchFamily="34" charset="-120"/>
                        </a:rPr>
                        <a:t>Vector search (RAG)</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c>
                  <a:txBody>
                    <a:bodyPr/>
                    <a:lstStyle/>
                    <a:p>
                      <a:pPr indent="0" marL="0">
                        <a:lnSpc>
                          <a:spcPts val="1825"/>
                        </a:lnSpc>
                        <a:buNone/>
                      </a:pPr>
                      <a:r>
                        <a:rPr lang="en-US" sz="1304" b="1" dirty="0">
                          <a:solidFill>
                            <a:srgbClr val="0A5A8A"/>
                          </a:solidFill>
                          <a:latin typeface="IBM Plex Sans" pitchFamily="34" charset="0"/>
                          <a:ea typeface="IBM Plex Sans" pitchFamily="34" charset="-122"/>
                          <a:cs typeface="IBM Plex Sans" pitchFamily="34" charset="-120"/>
                        </a:rPr>
                        <a:t>Field guides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5B5B6"/>
                      </a:solidFill>
                      <a:prstDash val="solid"/>
                      <a:round/>
                      <a:headEnd type="none" w="med" len="med"/>
                      <a:tailEnd type="none" w="med" len="med"/>
                    </a:lnL>
                    <a:lnR w="12700" cap="flat" cmpd="sng" algn="ctr">
                      <a:solidFill>
                        <a:srgbClr val="B5B5B6"/>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B5B5B6"/>
                      </a:solidFill>
                      <a:prstDash val="solid"/>
                      <a:round/>
                      <a:headEnd type="none" w="med" len="med"/>
                      <a:tailEnd type="none" w="med" len="med"/>
                    </a:lnB>
                    <a:solidFill>
                      <a:srgbClr val="E3E3E4"/>
                    </a:solidFill>
                  </a:tcPr>
                </a:tc>
              </a:tr>
              <a:tr h="689670">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Accuracy</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Always current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Fuzzy; chunks can split a method from its context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Accurate when verified in CI</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B5B5B6"/>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57994">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Token cost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High: re-explores every session</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Medium</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Low: only the guides needed</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689670">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Finds the right thing</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Depends on search skill</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By similarity, not exact names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By name, scope, and code identifiers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r h="457994">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Auditable</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Partly: transcript only</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Hard to say what was retrieved</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Yes: versioned files, known commit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4C4C4"/>
                      </a:solidFill>
                      <a:prstDash val="solid"/>
                      <a:round/>
                      <a:headEnd type="none" w="med" len="med"/>
                      <a:tailEnd type="none" w="med" len="med"/>
                    </a:lnR>
                    <a:lnT w="12700" cap="flat" cmpd="sng" algn="ctr">
                      <a:solidFill>
                        <a:srgbClr val="C8C8C9"/>
                      </a:solidFill>
                      <a:prstDash val="solid"/>
                      <a:round/>
                      <a:headEnd type="none" w="med" len="med"/>
                      <a:tailEnd type="none" w="med" len="med"/>
                    </a:lnT>
                    <a:lnB w="12700" cap="flat" cmpd="sng" algn="ctr">
                      <a:solidFill>
                        <a:srgbClr val="C4C4C4"/>
                      </a:solidFill>
                      <a:prstDash val="solid"/>
                      <a:round/>
                      <a:headEnd type="none" w="med" len="med"/>
                      <a:tailEnd type="none" w="med" len="med"/>
                    </a:lnB>
                  </a:tcPr>
                </a:tc>
              </a:tr>
              <a:tr h="689670">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Upkeep</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4C4C4"/>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None</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Re-index on change</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c>
                  <a:txBody>
                    <a:bodyPr/>
                    <a:lstStyle/>
                    <a:p>
                      <a:pPr indent="0" marL="0">
                        <a:lnSpc>
                          <a:spcPts val="1825"/>
                        </a:lnSpc>
                        <a:buNone/>
                      </a:pPr>
                      <a:r>
                        <a:rPr lang="en-US" sz="1304" dirty="0">
                          <a:solidFill>
                            <a:srgbClr val="1E1E1E"/>
                          </a:solidFill>
                          <a:latin typeface="IBM Plex Sans" pitchFamily="34" charset="0"/>
                          <a:ea typeface="IBM Plex Sans" pitchFamily="34" charset="-122"/>
                          <a:cs typeface="IBM Plex Sans" pitchFamily="34" charset="-120"/>
                        </a:rPr>
                        <a:t>Regenerate and re-verify on change</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8C8C9"/>
                      </a:solidFill>
                      <a:prstDash val="solid"/>
                      <a:round/>
                      <a:headEnd type="none" w="med" len="med"/>
                      <a:tailEnd type="none" w="med" len="med"/>
                    </a:lnL>
                    <a:lnR w="12700" cap="flat" cmpd="sng" algn="ctr">
                      <a:solidFill>
                        <a:srgbClr val="C8C8C9"/>
                      </a:solidFill>
                      <a:prstDash val="solid"/>
                      <a:round/>
                      <a:headEnd type="none" w="med" len="med"/>
                      <a:tailEnd type="none" w="med" len="med"/>
                    </a:lnR>
                    <a:lnT w="12700" cap="flat" cmpd="sng" algn="ctr">
                      <a:solidFill>
                        <a:srgbClr val="C4C4C4"/>
                      </a:solidFill>
                      <a:prstDash val="solid"/>
                      <a:round/>
                      <a:headEnd type="none" w="med" len="med"/>
                      <a:tailEnd type="none" w="med" len="med"/>
                    </a:lnT>
                    <a:lnB w="12700" cap="flat" cmpd="sng" algn="ctr">
                      <a:solidFill>
                        <a:srgbClr val="C8C8C9"/>
                      </a:solidFill>
                      <a:prstDash val="solid"/>
                      <a:round/>
                      <a:headEnd type="none" w="med" len="med"/>
                      <a:tailEnd type="none" w="med" len="med"/>
                    </a:lnB>
                    <a:solidFill>
                      <a:srgbClr val="FBFBFC"/>
                    </a:solidFill>
                  </a:tcPr>
                </a:tc>
              </a:tr>
            </a:tbl>
          </a:graphicData>
        </a:graphic>
      </p:graphicFrame>
      <p:sp>
        <p:nvSpPr>
          <p:cNvPr id="5" name="Text 2"/>
          <p:cNvSpPr/>
          <p:nvPr/>
        </p:nvSpPr>
        <p:spPr>
          <a:xfrm>
            <a:off x="812800" y="5606157"/>
            <a:ext cx="10883392" cy="261342"/>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1E1E1E"/>
                </a:solidFill>
                <a:latin typeface="IBM Plex Sans" pitchFamily="34" charset="0"/>
                <a:ea typeface="IBM Plex Sans" pitchFamily="34" charset="-122"/>
                <a:cs typeface="IBM Plex Sans" pitchFamily="34" charset="-120"/>
              </a:rPr>
              <a:t>They’re complements: guides point the agent to the right code, then it reads the code itself.</a:t>
            </a:r>
            <a:endParaRPr lang="en-US" sz="1339"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Our assessment. Context rot: Chroma, Jul 2025. Just-in-time context: Anthropic, 2025.</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08 · FIELD GUIDES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Pros: what field guides buy us</a:t>
            </a:r>
            <a:endParaRPr lang="en-US" sz="3200" dirty="0"/>
          </a:p>
        </p:txBody>
      </p:sp>
      <p:sp>
        <p:nvSpPr>
          <p:cNvPr id="4" name="Shape 2"/>
          <p:cNvSpPr/>
          <p:nvPr/>
        </p:nvSpPr>
        <p:spPr>
          <a:xfrm>
            <a:off x="815975" y="1882676"/>
            <a:ext cx="5213350" cy="1229816"/>
          </a:xfrm>
          <a:prstGeom prst="roundRect">
            <a:avLst>
              <a:gd name="adj" fmla="val 8003"/>
            </a:avLst>
          </a:prstGeom>
          <a:solidFill>
            <a:srgbClr val="FBFBFC"/>
          </a:solidFill>
          <a:ln w="6350">
            <a:solidFill>
              <a:srgbClr val="D9D9D9"/>
            </a:solidFill>
            <a:prstDash val="solid"/>
          </a:ln>
        </p:spPr>
      </p:sp>
      <p:pic>
        <p:nvPicPr>
          <p:cNvPr id="5" name="Image 0" descr="Lightning">    </p:cNvPr>
          <p:cNvPicPr>
            <a:picLocks noChangeAspect="1"/>
          </p:cNvPicPr>
          <p:nvPr/>
        </p:nvPicPr>
        <p:blipFill>
          <a:blip r:embed="rId1"/>
          <a:srcRect l="0" r="0" t="0" b="0"/>
          <a:stretch/>
        </p:blipFill>
        <p:spPr>
          <a:xfrm>
            <a:off x="1022350" y="2319734"/>
            <a:ext cx="355600" cy="355600"/>
          </a:xfrm>
          <a:prstGeom prst="rect">
            <a:avLst/>
          </a:prstGeom>
        </p:spPr>
      </p:pic>
      <p:sp>
        <p:nvSpPr>
          <p:cNvPr id="6" name="Text 3"/>
          <p:cNvSpPr/>
          <p:nvPr/>
        </p:nvSpPr>
        <p:spPr>
          <a:xfrm>
            <a:off x="1530350" y="2082998"/>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Fewer tokens per task</a:t>
            </a:r>
            <a:endParaRPr lang="en-US" sz="1800" dirty="0"/>
          </a:p>
        </p:txBody>
      </p:sp>
      <p:sp>
        <p:nvSpPr>
          <p:cNvPr id="7" name="Text 4"/>
          <p:cNvSpPr/>
          <p:nvPr/>
        </p:nvSpPr>
        <p:spPr>
          <a:xfrm>
            <a:off x="1530350" y="2408039"/>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A few guides instead of re-exploring the repo</a:t>
            </a:r>
            <a:endParaRPr lang="en-US" sz="1400" dirty="0"/>
          </a:p>
        </p:txBody>
      </p:sp>
      <p:sp>
        <p:nvSpPr>
          <p:cNvPr id="8" name="Text 5"/>
          <p:cNvSpPr/>
          <p:nvPr/>
        </p:nvSpPr>
        <p:spPr>
          <a:xfrm>
            <a:off x="1530350" y="2698849"/>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Token cost, section 07</a:t>
            </a:r>
            <a:endParaRPr lang="en-US" sz="1200" dirty="0"/>
          </a:p>
        </p:txBody>
      </p:sp>
      <p:sp>
        <p:nvSpPr>
          <p:cNvPr id="9" name="Shape 6"/>
          <p:cNvSpPr/>
          <p:nvPr/>
        </p:nvSpPr>
        <p:spPr>
          <a:xfrm>
            <a:off x="6162675" y="1882676"/>
            <a:ext cx="5213350" cy="1229816"/>
          </a:xfrm>
          <a:prstGeom prst="roundRect">
            <a:avLst>
              <a:gd name="adj" fmla="val 8003"/>
            </a:avLst>
          </a:prstGeom>
          <a:solidFill>
            <a:srgbClr val="FBFBFC"/>
          </a:solidFill>
          <a:ln w="6350">
            <a:solidFill>
              <a:srgbClr val="D9D9D9"/>
            </a:solidFill>
            <a:prstDash val="solid"/>
          </a:ln>
        </p:spPr>
      </p:sp>
      <p:pic>
        <p:nvPicPr>
          <p:cNvPr id="10" name="Image 1" descr="Activity">    </p:cNvPr>
          <p:cNvPicPr>
            <a:picLocks noChangeAspect="1"/>
          </p:cNvPicPr>
          <p:nvPr/>
        </p:nvPicPr>
        <p:blipFill>
          <a:blip r:embed="rId2"/>
          <a:srcRect l="0" r="0" t="0" b="0"/>
          <a:stretch/>
        </p:blipFill>
        <p:spPr>
          <a:xfrm>
            <a:off x="6369050" y="2319734"/>
            <a:ext cx="355600" cy="355600"/>
          </a:xfrm>
          <a:prstGeom prst="rect">
            <a:avLst/>
          </a:prstGeom>
        </p:spPr>
      </p:pic>
      <p:sp>
        <p:nvSpPr>
          <p:cNvPr id="11" name="Text 7"/>
          <p:cNvSpPr/>
          <p:nvPr/>
        </p:nvSpPr>
        <p:spPr>
          <a:xfrm>
            <a:off x="6877050" y="2082998"/>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Less context rot</a:t>
            </a:r>
            <a:endParaRPr lang="en-US" sz="1800" dirty="0"/>
          </a:p>
        </p:txBody>
      </p:sp>
      <p:sp>
        <p:nvSpPr>
          <p:cNvPr id="12" name="Text 8"/>
          <p:cNvSpPr/>
          <p:nvPr/>
        </p:nvSpPr>
        <p:spPr>
          <a:xfrm>
            <a:off x="6877050" y="2408039"/>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Small, relevant context, not a full window</a:t>
            </a:r>
            <a:endParaRPr lang="en-US" sz="1400" dirty="0"/>
          </a:p>
        </p:txBody>
      </p:sp>
      <p:sp>
        <p:nvSpPr>
          <p:cNvPr id="13" name="Text 9"/>
          <p:cNvSpPr/>
          <p:nvPr/>
        </p:nvSpPr>
        <p:spPr>
          <a:xfrm>
            <a:off x="6877050" y="2698849"/>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Context rot, section 07</a:t>
            </a:r>
            <a:endParaRPr lang="en-US" sz="1200" dirty="0"/>
          </a:p>
        </p:txBody>
      </p:sp>
      <p:sp>
        <p:nvSpPr>
          <p:cNvPr id="14" name="Shape 10"/>
          <p:cNvSpPr/>
          <p:nvPr/>
        </p:nvSpPr>
        <p:spPr>
          <a:xfrm>
            <a:off x="815975" y="3245842"/>
            <a:ext cx="5213350" cy="1229816"/>
          </a:xfrm>
          <a:prstGeom prst="roundRect">
            <a:avLst>
              <a:gd name="adj" fmla="val 8003"/>
            </a:avLst>
          </a:prstGeom>
          <a:solidFill>
            <a:srgbClr val="FBFBFC"/>
          </a:solidFill>
          <a:ln w="6350">
            <a:solidFill>
              <a:srgbClr val="D9D9D9"/>
            </a:solidFill>
            <a:prstDash val="solid"/>
          </a:ln>
        </p:spPr>
      </p:sp>
      <p:pic>
        <p:nvPicPr>
          <p:cNvPr id="15" name="Image 2" descr="Users">    </p:cNvPr>
          <p:cNvPicPr>
            <a:picLocks noChangeAspect="1"/>
          </p:cNvPicPr>
          <p:nvPr/>
        </p:nvPicPr>
        <p:blipFill>
          <a:blip r:embed="rId3"/>
          <a:srcRect l="0" r="0" t="0" b="0"/>
          <a:stretch/>
        </p:blipFill>
        <p:spPr>
          <a:xfrm>
            <a:off x="1022350" y="3682901"/>
            <a:ext cx="355600" cy="355600"/>
          </a:xfrm>
          <a:prstGeom prst="rect">
            <a:avLst/>
          </a:prstGeom>
        </p:spPr>
      </p:pic>
      <p:sp>
        <p:nvSpPr>
          <p:cNvPr id="16" name="Text 11"/>
          <p:cNvSpPr/>
          <p:nvPr/>
        </p:nvSpPr>
        <p:spPr>
          <a:xfrm>
            <a:off x="1530350" y="3446165"/>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Same knowledge for everyone</a:t>
            </a:r>
            <a:endParaRPr lang="en-US" sz="1800" dirty="0"/>
          </a:p>
        </p:txBody>
      </p:sp>
      <p:sp>
        <p:nvSpPr>
          <p:cNvPr id="17" name="Text 12"/>
          <p:cNvSpPr/>
          <p:nvPr/>
        </p:nvSpPr>
        <p:spPr>
          <a:xfrm>
            <a:off x="1530350" y="3771205"/>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Every agent and engineer reads the same facts</a:t>
            </a:r>
            <a:endParaRPr lang="en-US" sz="1400" dirty="0"/>
          </a:p>
        </p:txBody>
      </p:sp>
      <p:sp>
        <p:nvSpPr>
          <p:cNvPr id="18" name="Text 13"/>
          <p:cNvSpPr/>
          <p:nvPr/>
        </p:nvSpPr>
        <p:spPr>
          <a:xfrm>
            <a:off x="1530350" y="4062016"/>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Context bottleneck, section 05</a:t>
            </a:r>
            <a:endParaRPr lang="en-US" sz="1200" dirty="0"/>
          </a:p>
        </p:txBody>
      </p:sp>
      <p:sp>
        <p:nvSpPr>
          <p:cNvPr id="19" name="Shape 14"/>
          <p:cNvSpPr/>
          <p:nvPr/>
        </p:nvSpPr>
        <p:spPr>
          <a:xfrm>
            <a:off x="6162675" y="3245842"/>
            <a:ext cx="5213350" cy="1229816"/>
          </a:xfrm>
          <a:prstGeom prst="roundRect">
            <a:avLst>
              <a:gd name="adj" fmla="val 8003"/>
            </a:avLst>
          </a:prstGeom>
          <a:solidFill>
            <a:srgbClr val="FBFBFC"/>
          </a:solidFill>
          <a:ln w="6350">
            <a:solidFill>
              <a:srgbClr val="D9D9D9"/>
            </a:solidFill>
            <a:prstDash val="solid"/>
          </a:ln>
        </p:spPr>
      </p:sp>
      <p:pic>
        <p:nvPicPr>
          <p:cNvPr id="20" name="Image 3" descr="Verified">    </p:cNvPr>
          <p:cNvPicPr>
            <a:picLocks noChangeAspect="1"/>
          </p:cNvPicPr>
          <p:nvPr/>
        </p:nvPicPr>
        <p:blipFill>
          <a:blip r:embed="rId4"/>
          <a:srcRect l="0" r="0" t="0" b="0"/>
          <a:stretch/>
        </p:blipFill>
        <p:spPr>
          <a:xfrm>
            <a:off x="6369050" y="3682901"/>
            <a:ext cx="355600" cy="355600"/>
          </a:xfrm>
          <a:prstGeom prst="rect">
            <a:avLst/>
          </a:prstGeom>
        </p:spPr>
      </p:pic>
      <p:sp>
        <p:nvSpPr>
          <p:cNvPr id="21" name="Text 15"/>
          <p:cNvSpPr/>
          <p:nvPr/>
        </p:nvSpPr>
        <p:spPr>
          <a:xfrm>
            <a:off x="6877050" y="3446165"/>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Auditable</a:t>
            </a:r>
            <a:endParaRPr lang="en-US" sz="1800" dirty="0"/>
          </a:p>
        </p:txBody>
      </p:sp>
      <p:sp>
        <p:nvSpPr>
          <p:cNvPr id="22" name="Text 16"/>
          <p:cNvSpPr/>
          <p:nvPr/>
        </p:nvSpPr>
        <p:spPr>
          <a:xfrm>
            <a:off x="6877050" y="3771205"/>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Versioned files show what an agent was told</a:t>
            </a:r>
            <a:endParaRPr lang="en-US" sz="1400" dirty="0"/>
          </a:p>
        </p:txBody>
      </p:sp>
      <p:sp>
        <p:nvSpPr>
          <p:cNvPr id="23" name="Text 17"/>
          <p:cNvSpPr/>
          <p:nvPr/>
        </p:nvSpPr>
        <p:spPr>
          <a:xfrm>
            <a:off x="6877050" y="4062016"/>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Matters for payments</a:t>
            </a:r>
            <a:endParaRPr lang="en-US" sz="1200" dirty="0"/>
          </a:p>
        </p:txBody>
      </p:sp>
      <p:sp>
        <p:nvSpPr>
          <p:cNvPr id="24" name="Shape 18"/>
          <p:cNvSpPr/>
          <p:nvPr/>
        </p:nvSpPr>
        <p:spPr>
          <a:xfrm>
            <a:off x="815975" y="4609009"/>
            <a:ext cx="5213350" cy="1229816"/>
          </a:xfrm>
          <a:prstGeom prst="roundRect">
            <a:avLst>
              <a:gd name="adj" fmla="val 8003"/>
            </a:avLst>
          </a:prstGeom>
          <a:solidFill>
            <a:srgbClr val="FBFBFC"/>
          </a:solidFill>
          <a:ln w="6350">
            <a:solidFill>
              <a:srgbClr val="D9D9D9"/>
            </a:solidFill>
            <a:prstDash val="solid"/>
          </a:ln>
        </p:spPr>
      </p:sp>
      <p:pic>
        <p:nvPicPr>
          <p:cNvPr id="25" name="Image 4" descr="Database">    </p:cNvPr>
          <p:cNvPicPr>
            <a:picLocks noChangeAspect="1"/>
          </p:cNvPicPr>
          <p:nvPr/>
        </p:nvPicPr>
        <p:blipFill>
          <a:blip r:embed="rId5"/>
          <a:srcRect l="0" r="0" t="0" b="0"/>
          <a:stretch/>
        </p:blipFill>
        <p:spPr>
          <a:xfrm>
            <a:off x="1022350" y="5046067"/>
            <a:ext cx="355600" cy="355600"/>
          </a:xfrm>
          <a:prstGeom prst="rect">
            <a:avLst/>
          </a:prstGeom>
        </p:spPr>
      </p:pic>
      <p:sp>
        <p:nvSpPr>
          <p:cNvPr id="26" name="Text 19"/>
          <p:cNvSpPr/>
          <p:nvPr/>
        </p:nvSpPr>
        <p:spPr>
          <a:xfrm>
            <a:off x="1530350" y="4809331"/>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Survives compaction</a:t>
            </a:r>
            <a:endParaRPr lang="en-US" sz="1800" dirty="0"/>
          </a:p>
        </p:txBody>
      </p:sp>
      <p:sp>
        <p:nvSpPr>
          <p:cNvPr id="27" name="Text 20"/>
          <p:cNvSpPr/>
          <p:nvPr/>
        </p:nvSpPr>
        <p:spPr>
          <a:xfrm>
            <a:off x="1530350" y="5134372"/>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Reloaded from files, not lost in a summary</a:t>
            </a:r>
            <a:endParaRPr lang="en-US" sz="1400" dirty="0"/>
          </a:p>
        </p:txBody>
      </p:sp>
      <p:sp>
        <p:nvSpPr>
          <p:cNvPr id="28" name="Text 21"/>
          <p:cNvSpPr/>
          <p:nvPr/>
        </p:nvSpPr>
        <p:spPr>
          <a:xfrm>
            <a:off x="1530350" y="5425182"/>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Compaction, section 05</a:t>
            </a:r>
            <a:endParaRPr lang="en-US" sz="1200" dirty="0"/>
          </a:p>
        </p:txBody>
      </p:sp>
      <p:sp>
        <p:nvSpPr>
          <p:cNvPr id="29" name="Shape 22"/>
          <p:cNvSpPr/>
          <p:nvPr/>
        </p:nvSpPr>
        <p:spPr>
          <a:xfrm>
            <a:off x="6162675" y="4609009"/>
            <a:ext cx="5213350" cy="1229816"/>
          </a:xfrm>
          <a:prstGeom prst="roundRect">
            <a:avLst>
              <a:gd name="adj" fmla="val 8003"/>
            </a:avLst>
          </a:prstGeom>
          <a:solidFill>
            <a:srgbClr val="FBFBFC"/>
          </a:solidFill>
          <a:ln w="6350">
            <a:solidFill>
              <a:srgbClr val="D9D9D9"/>
            </a:solidFill>
            <a:prstDash val="solid"/>
          </a:ln>
        </p:spPr>
      </p:sp>
      <p:pic>
        <p:nvPicPr>
          <p:cNvPr id="30" name="Image 5" descr="GraduationCap">    </p:cNvPr>
          <p:cNvPicPr>
            <a:picLocks noChangeAspect="1"/>
          </p:cNvPicPr>
          <p:nvPr/>
        </p:nvPicPr>
        <p:blipFill>
          <a:blip r:embed="rId6"/>
          <a:srcRect l="0" r="0" t="0" b="0"/>
          <a:stretch/>
        </p:blipFill>
        <p:spPr>
          <a:xfrm>
            <a:off x="6369050" y="5046067"/>
            <a:ext cx="355600" cy="355600"/>
          </a:xfrm>
          <a:prstGeom prst="rect">
            <a:avLst/>
          </a:prstGeom>
        </p:spPr>
      </p:pic>
      <p:sp>
        <p:nvSpPr>
          <p:cNvPr id="31" name="Text 23"/>
          <p:cNvSpPr/>
          <p:nvPr/>
        </p:nvSpPr>
        <p:spPr>
          <a:xfrm>
            <a:off x="6877050" y="4809331"/>
            <a:ext cx="442137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Doubles as onboarding</a:t>
            </a:r>
            <a:endParaRPr lang="en-US" sz="1800" dirty="0"/>
          </a:p>
        </p:txBody>
      </p:sp>
      <p:sp>
        <p:nvSpPr>
          <p:cNvPr id="32" name="Text 24"/>
          <p:cNvSpPr/>
          <p:nvPr/>
        </p:nvSpPr>
        <p:spPr>
          <a:xfrm>
            <a:off x="6877050" y="5134372"/>
            <a:ext cx="4421378"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E5E5E"/>
                </a:solidFill>
                <a:latin typeface="IBM Plex Sans" pitchFamily="34" charset="0"/>
                <a:ea typeface="IBM Plex Sans" pitchFamily="34" charset="-122"/>
                <a:cs typeface="IBM Plex Sans" pitchFamily="34" charset="-120"/>
              </a:rPr>
              <a:t>New engineers read the same guides</a:t>
            </a:r>
            <a:endParaRPr lang="en-US" sz="1400" dirty="0"/>
          </a:p>
        </p:txBody>
      </p:sp>
      <p:sp>
        <p:nvSpPr>
          <p:cNvPr id="33" name="Text 25"/>
          <p:cNvSpPr/>
          <p:nvPr/>
        </p:nvSpPr>
        <p:spPr>
          <a:xfrm>
            <a:off x="6877050" y="5425182"/>
            <a:ext cx="44213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3C6F"/>
                </a:solidFill>
                <a:latin typeface="IBM Plex Sans" pitchFamily="34" charset="0"/>
                <a:ea typeface="IBM Plex Sans" pitchFamily="34" charset="-122"/>
                <a:cs typeface="IBM Plex Sans" pitchFamily="34" charset="-120"/>
              </a:rPr>
              <a:t>→ A benefit for people, too</a:t>
            </a:r>
            <a:endParaRPr lang="en-US" sz="1200" dirty="0"/>
          </a:p>
        </p:txBody>
      </p:sp>
      <p:sp>
        <p:nvSpPr>
          <p:cNvPr id="34"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Blog, 2026 (token billing); Chroma, Jul 2025 (context rot); GitHub Docs: Managing context in Copilot CLI</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08 · FIELD GUIDES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Cons: what they cost, and how we contain it</a:t>
            </a:r>
            <a:endParaRPr lang="en-US" sz="3200" dirty="0"/>
          </a:p>
        </p:txBody>
      </p:sp>
      <p:sp>
        <p:nvSpPr>
          <p:cNvPr id="4" name="Shape 2"/>
          <p:cNvSpPr/>
          <p:nvPr/>
        </p:nvSpPr>
        <p:spPr>
          <a:xfrm>
            <a:off x="815975" y="1882676"/>
            <a:ext cx="5213350" cy="1229816"/>
          </a:xfrm>
          <a:prstGeom prst="roundRect">
            <a:avLst>
              <a:gd name="adj" fmla="val 8003"/>
            </a:avLst>
          </a:prstGeom>
          <a:solidFill>
            <a:srgbClr val="FBFBFC"/>
          </a:solidFill>
          <a:ln w="6350">
            <a:solidFill>
              <a:srgbClr val="D9D9D9"/>
            </a:solidFill>
            <a:prstDash val="solid"/>
          </a:ln>
        </p:spPr>
      </p:sp>
      <p:pic>
        <p:nvPicPr>
          <p:cNvPr id="5" name="Image 0" descr="Warning">    </p:cNvPr>
          <p:cNvPicPr>
            <a:picLocks noChangeAspect="1"/>
          </p:cNvPicPr>
          <p:nvPr/>
        </p:nvPicPr>
        <p:blipFill>
          <a:blip r:embed="rId1"/>
          <a:srcRect l="0" r="0" t="0" b="0"/>
          <a:stretch/>
        </p:blipFill>
        <p:spPr>
          <a:xfrm>
            <a:off x="1022350" y="2066429"/>
            <a:ext cx="254000" cy="254000"/>
          </a:xfrm>
          <a:prstGeom prst="rect">
            <a:avLst/>
          </a:prstGeom>
        </p:spPr>
      </p:pic>
      <p:sp>
        <p:nvSpPr>
          <p:cNvPr id="6" name="Text 3"/>
          <p:cNvSpPr/>
          <p:nvPr/>
        </p:nvSpPr>
        <p:spPr>
          <a:xfrm>
            <a:off x="1377950" y="2071489"/>
            <a:ext cx="115300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Staleness</a:t>
            </a:r>
            <a:endParaRPr lang="en-US" sz="1600" dirty="0"/>
          </a:p>
        </p:txBody>
      </p:sp>
      <p:sp>
        <p:nvSpPr>
          <p:cNvPr id="7" name="Text 4"/>
          <p:cNvSpPr/>
          <p:nvPr/>
        </p:nvSpPr>
        <p:spPr>
          <a:xfrm>
            <a:off x="1022350" y="2383929"/>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 wrong guide misleads every agent that reads it</a:t>
            </a:r>
            <a:endParaRPr lang="en-US" sz="1200" dirty="0"/>
          </a:p>
        </p:txBody>
      </p:sp>
      <p:sp>
        <p:nvSpPr>
          <p:cNvPr id="8" name="Shape 5"/>
          <p:cNvSpPr/>
          <p:nvPr/>
        </p:nvSpPr>
        <p:spPr>
          <a:xfrm>
            <a:off x="1022350" y="2656284"/>
            <a:ext cx="4800600" cy="0"/>
          </a:xfrm>
          <a:prstGeom prst="line">
            <a:avLst/>
          </a:prstGeom>
          <a:noFill/>
          <a:ln w="6350">
            <a:solidFill>
              <a:srgbClr val="D9D9D9"/>
            </a:solidFill>
            <a:prstDash val="solid"/>
          </a:ln>
        </p:spPr>
      </p:sp>
      <p:pic>
        <p:nvPicPr>
          <p:cNvPr id="9" name="Image 1" descr="CheckCircle">    </p:cNvPr>
          <p:cNvPicPr>
            <a:picLocks noChangeAspect="1"/>
          </p:cNvPicPr>
          <p:nvPr/>
        </p:nvPicPr>
        <p:blipFill>
          <a:blip r:embed="rId2"/>
          <a:srcRect l="0" r="0" t="0" b="0"/>
          <a:stretch/>
        </p:blipFill>
        <p:spPr>
          <a:xfrm>
            <a:off x="1022350" y="2724150"/>
            <a:ext cx="203200" cy="203200"/>
          </a:xfrm>
          <a:prstGeom prst="rect">
            <a:avLst/>
          </a:prstGeom>
        </p:spPr>
      </p:pic>
      <p:sp>
        <p:nvSpPr>
          <p:cNvPr id="10" name="Text 6"/>
          <p:cNvSpPr/>
          <p:nvPr/>
        </p:nvSpPr>
        <p:spPr>
          <a:xfrm>
            <a:off x="1301750" y="2722959"/>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CI re-verifies guides against code on each merge</a:t>
            </a:r>
            <a:endParaRPr lang="en-US" sz="1200" dirty="0"/>
          </a:p>
        </p:txBody>
      </p:sp>
      <p:sp>
        <p:nvSpPr>
          <p:cNvPr id="11" name="Shape 7"/>
          <p:cNvSpPr/>
          <p:nvPr/>
        </p:nvSpPr>
        <p:spPr>
          <a:xfrm>
            <a:off x="6162675" y="1882676"/>
            <a:ext cx="5213350" cy="1229816"/>
          </a:xfrm>
          <a:prstGeom prst="roundRect">
            <a:avLst>
              <a:gd name="adj" fmla="val 8003"/>
            </a:avLst>
          </a:prstGeom>
          <a:solidFill>
            <a:srgbClr val="FBFBFC"/>
          </a:solidFill>
          <a:ln w="6350">
            <a:solidFill>
              <a:srgbClr val="D9D9D9"/>
            </a:solidFill>
            <a:prstDash val="solid"/>
          </a:ln>
        </p:spPr>
      </p:sp>
      <p:pic>
        <p:nvPicPr>
          <p:cNvPr id="12" name="Image 2" descr="Warning">    </p:cNvPr>
          <p:cNvPicPr>
            <a:picLocks noChangeAspect="1"/>
          </p:cNvPicPr>
          <p:nvPr/>
        </p:nvPicPr>
        <p:blipFill>
          <a:blip r:embed="rId3"/>
          <a:srcRect l="0" r="0" t="0" b="0"/>
          <a:stretch/>
        </p:blipFill>
        <p:spPr>
          <a:xfrm>
            <a:off x="6369050" y="2066429"/>
            <a:ext cx="254000" cy="254000"/>
          </a:xfrm>
          <a:prstGeom prst="rect">
            <a:avLst/>
          </a:prstGeom>
        </p:spPr>
      </p:pic>
      <p:sp>
        <p:nvSpPr>
          <p:cNvPr id="13" name="Text 8"/>
          <p:cNvSpPr/>
          <p:nvPr/>
        </p:nvSpPr>
        <p:spPr>
          <a:xfrm>
            <a:off x="6724650" y="2071489"/>
            <a:ext cx="198381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Generated errors</a:t>
            </a:r>
            <a:endParaRPr lang="en-US" sz="1600" dirty="0"/>
          </a:p>
        </p:txBody>
      </p:sp>
      <p:sp>
        <p:nvSpPr>
          <p:cNvPr id="14" name="Text 9"/>
          <p:cNvSpPr/>
          <p:nvPr/>
        </p:nvSpPr>
        <p:spPr>
          <a:xfrm>
            <a:off x="6369050" y="2383929"/>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An AI-written guide can state false facts confidently</a:t>
            </a:r>
            <a:endParaRPr lang="en-US" sz="1200" dirty="0"/>
          </a:p>
        </p:txBody>
      </p:sp>
      <p:sp>
        <p:nvSpPr>
          <p:cNvPr id="15" name="Shape 10"/>
          <p:cNvSpPr/>
          <p:nvPr/>
        </p:nvSpPr>
        <p:spPr>
          <a:xfrm>
            <a:off x="6369050" y="2656284"/>
            <a:ext cx="4800600" cy="0"/>
          </a:xfrm>
          <a:prstGeom prst="line">
            <a:avLst/>
          </a:prstGeom>
          <a:noFill/>
          <a:ln w="6350">
            <a:solidFill>
              <a:srgbClr val="D9D9D9"/>
            </a:solidFill>
            <a:prstDash val="solid"/>
          </a:ln>
        </p:spPr>
      </p:sp>
      <p:pic>
        <p:nvPicPr>
          <p:cNvPr id="16" name="Image 3" descr="CheckCircle">    </p:cNvPr>
          <p:cNvPicPr>
            <a:picLocks noChangeAspect="1"/>
          </p:cNvPicPr>
          <p:nvPr/>
        </p:nvPicPr>
        <p:blipFill>
          <a:blip r:embed="rId4"/>
          <a:srcRect l="0" r="0" t="0" b="0"/>
          <a:stretch/>
        </p:blipFill>
        <p:spPr>
          <a:xfrm>
            <a:off x="6369050" y="2724150"/>
            <a:ext cx="203200" cy="203200"/>
          </a:xfrm>
          <a:prstGeom prst="rect">
            <a:avLst/>
          </a:prstGeom>
        </p:spPr>
      </p:pic>
      <p:sp>
        <p:nvSpPr>
          <p:cNvPr id="17" name="Text 11"/>
          <p:cNvSpPr/>
          <p:nvPr/>
        </p:nvSpPr>
        <p:spPr>
          <a:xfrm>
            <a:off x="6648450" y="2722959"/>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Verification gate, plus human review of guide changes</a:t>
            </a:r>
            <a:endParaRPr lang="en-US" sz="1200" dirty="0"/>
          </a:p>
        </p:txBody>
      </p:sp>
      <p:sp>
        <p:nvSpPr>
          <p:cNvPr id="18" name="Shape 12"/>
          <p:cNvSpPr/>
          <p:nvPr/>
        </p:nvSpPr>
        <p:spPr>
          <a:xfrm>
            <a:off x="815975" y="3245842"/>
            <a:ext cx="5213350" cy="1229816"/>
          </a:xfrm>
          <a:prstGeom prst="roundRect">
            <a:avLst>
              <a:gd name="adj" fmla="val 8003"/>
            </a:avLst>
          </a:prstGeom>
          <a:solidFill>
            <a:srgbClr val="FBFBFC"/>
          </a:solidFill>
          <a:ln w="6350">
            <a:solidFill>
              <a:srgbClr val="D9D9D9"/>
            </a:solidFill>
            <a:prstDash val="solid"/>
          </a:ln>
        </p:spPr>
      </p:sp>
      <p:pic>
        <p:nvPicPr>
          <p:cNvPr id="19" name="Image 4" descr="Warning">    </p:cNvPr>
          <p:cNvPicPr>
            <a:picLocks noChangeAspect="1"/>
          </p:cNvPicPr>
          <p:nvPr/>
        </p:nvPicPr>
        <p:blipFill>
          <a:blip r:embed="rId5"/>
          <a:srcRect l="0" r="0" t="0" b="0"/>
          <a:stretch/>
        </p:blipFill>
        <p:spPr>
          <a:xfrm>
            <a:off x="1022350" y="3429595"/>
            <a:ext cx="254000" cy="254000"/>
          </a:xfrm>
          <a:prstGeom prst="rect">
            <a:avLst/>
          </a:prstGeom>
        </p:spPr>
      </p:pic>
      <p:sp>
        <p:nvSpPr>
          <p:cNvPr id="20" name="Text 13"/>
          <p:cNvSpPr/>
          <p:nvPr/>
        </p:nvSpPr>
        <p:spPr>
          <a:xfrm>
            <a:off x="1377950" y="3434655"/>
            <a:ext cx="263175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Build and upkeep cost</a:t>
            </a:r>
            <a:endParaRPr lang="en-US" sz="1600" dirty="0"/>
          </a:p>
        </p:txBody>
      </p:sp>
      <p:sp>
        <p:nvSpPr>
          <p:cNvPr id="21" name="Text 14"/>
          <p:cNvSpPr/>
          <p:nvPr/>
        </p:nvSpPr>
        <p:spPr>
          <a:xfrm>
            <a:off x="1022350" y="3747095"/>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Generating and refreshing guides spends tokens too</a:t>
            </a:r>
            <a:endParaRPr lang="en-US" sz="1200" dirty="0"/>
          </a:p>
        </p:txBody>
      </p:sp>
      <p:sp>
        <p:nvSpPr>
          <p:cNvPr id="22" name="Shape 15"/>
          <p:cNvSpPr/>
          <p:nvPr/>
        </p:nvSpPr>
        <p:spPr>
          <a:xfrm>
            <a:off x="1022350" y="4019451"/>
            <a:ext cx="4800600" cy="0"/>
          </a:xfrm>
          <a:prstGeom prst="line">
            <a:avLst/>
          </a:prstGeom>
          <a:noFill/>
          <a:ln w="6350">
            <a:solidFill>
              <a:srgbClr val="D9D9D9"/>
            </a:solidFill>
            <a:prstDash val="solid"/>
          </a:ln>
        </p:spPr>
      </p:sp>
      <p:pic>
        <p:nvPicPr>
          <p:cNvPr id="23" name="Image 5" descr="CheckCircle">    </p:cNvPr>
          <p:cNvPicPr>
            <a:picLocks noChangeAspect="1"/>
          </p:cNvPicPr>
          <p:nvPr/>
        </p:nvPicPr>
        <p:blipFill>
          <a:blip r:embed="rId6"/>
          <a:srcRect l="0" r="0" t="0" b="0"/>
          <a:stretch/>
        </p:blipFill>
        <p:spPr>
          <a:xfrm>
            <a:off x="1022350" y="4087316"/>
            <a:ext cx="203200" cy="203200"/>
          </a:xfrm>
          <a:prstGeom prst="rect">
            <a:avLst/>
          </a:prstGeom>
        </p:spPr>
      </p:pic>
      <p:sp>
        <p:nvSpPr>
          <p:cNvPr id="24" name="Text 16"/>
          <p:cNvSpPr/>
          <p:nvPr/>
        </p:nvSpPr>
        <p:spPr>
          <a:xfrm>
            <a:off x="1301750" y="4086126"/>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Regenerate only guides whose code changed</a:t>
            </a:r>
            <a:endParaRPr lang="en-US" sz="1200" dirty="0"/>
          </a:p>
        </p:txBody>
      </p:sp>
      <p:sp>
        <p:nvSpPr>
          <p:cNvPr id="25" name="Shape 17"/>
          <p:cNvSpPr/>
          <p:nvPr/>
        </p:nvSpPr>
        <p:spPr>
          <a:xfrm>
            <a:off x="6162675" y="3245842"/>
            <a:ext cx="5213350" cy="1229816"/>
          </a:xfrm>
          <a:prstGeom prst="roundRect">
            <a:avLst>
              <a:gd name="adj" fmla="val 8003"/>
            </a:avLst>
          </a:prstGeom>
          <a:solidFill>
            <a:srgbClr val="FBFBFC"/>
          </a:solidFill>
          <a:ln w="6350">
            <a:solidFill>
              <a:srgbClr val="D9D9D9"/>
            </a:solidFill>
            <a:prstDash val="solid"/>
          </a:ln>
        </p:spPr>
      </p:sp>
      <p:pic>
        <p:nvPicPr>
          <p:cNvPr id="26" name="Image 6" descr="Warning">    </p:cNvPr>
          <p:cNvPicPr>
            <a:picLocks noChangeAspect="1"/>
          </p:cNvPicPr>
          <p:nvPr/>
        </p:nvPicPr>
        <p:blipFill>
          <a:blip r:embed="rId7"/>
          <a:srcRect l="0" r="0" t="0" b="0"/>
          <a:stretch/>
        </p:blipFill>
        <p:spPr>
          <a:xfrm>
            <a:off x="6369050" y="3429595"/>
            <a:ext cx="254000" cy="254000"/>
          </a:xfrm>
          <a:prstGeom prst="rect">
            <a:avLst/>
          </a:prstGeom>
        </p:spPr>
      </p:pic>
      <p:sp>
        <p:nvSpPr>
          <p:cNvPr id="27" name="Text 18"/>
          <p:cNvSpPr/>
          <p:nvPr/>
        </p:nvSpPr>
        <p:spPr>
          <a:xfrm>
            <a:off x="6724650" y="3434655"/>
            <a:ext cx="122777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Over-trust</a:t>
            </a:r>
            <a:endParaRPr lang="en-US" sz="1600" dirty="0"/>
          </a:p>
        </p:txBody>
      </p:sp>
      <p:sp>
        <p:nvSpPr>
          <p:cNvPr id="28" name="Text 19"/>
          <p:cNvSpPr/>
          <p:nvPr/>
        </p:nvSpPr>
        <p:spPr>
          <a:xfrm>
            <a:off x="6369050" y="3747095"/>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An agent may believe the guide over the code</a:t>
            </a:r>
            <a:endParaRPr lang="en-US" sz="1200" dirty="0"/>
          </a:p>
        </p:txBody>
      </p:sp>
      <p:sp>
        <p:nvSpPr>
          <p:cNvPr id="29" name="Shape 20"/>
          <p:cNvSpPr/>
          <p:nvPr/>
        </p:nvSpPr>
        <p:spPr>
          <a:xfrm>
            <a:off x="6369050" y="4019451"/>
            <a:ext cx="4800600" cy="0"/>
          </a:xfrm>
          <a:prstGeom prst="line">
            <a:avLst/>
          </a:prstGeom>
          <a:noFill/>
          <a:ln w="6350">
            <a:solidFill>
              <a:srgbClr val="D9D9D9"/>
            </a:solidFill>
            <a:prstDash val="solid"/>
          </a:ln>
        </p:spPr>
      </p:sp>
      <p:pic>
        <p:nvPicPr>
          <p:cNvPr id="30" name="Image 7" descr="CheckCircle">    </p:cNvPr>
          <p:cNvPicPr>
            <a:picLocks noChangeAspect="1"/>
          </p:cNvPicPr>
          <p:nvPr/>
        </p:nvPicPr>
        <p:blipFill>
          <a:blip r:embed="rId8"/>
          <a:srcRect l="0" r="0" t="0" b="0"/>
          <a:stretch/>
        </p:blipFill>
        <p:spPr>
          <a:xfrm>
            <a:off x="6369050" y="4087316"/>
            <a:ext cx="203200" cy="203200"/>
          </a:xfrm>
          <a:prstGeom prst="rect">
            <a:avLst/>
          </a:prstGeom>
        </p:spPr>
      </p:pic>
      <p:sp>
        <p:nvSpPr>
          <p:cNvPr id="31" name="Text 21"/>
          <p:cNvSpPr/>
          <p:nvPr/>
        </p:nvSpPr>
        <p:spPr>
          <a:xfrm>
            <a:off x="6648450" y="4086126"/>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Instruction: on conflict, the code wins; flag the guide</a:t>
            </a:r>
            <a:endParaRPr lang="en-US" sz="1200" dirty="0"/>
          </a:p>
        </p:txBody>
      </p:sp>
      <p:sp>
        <p:nvSpPr>
          <p:cNvPr id="32" name="Shape 22"/>
          <p:cNvSpPr/>
          <p:nvPr/>
        </p:nvSpPr>
        <p:spPr>
          <a:xfrm>
            <a:off x="815975" y="4609009"/>
            <a:ext cx="5213350" cy="1229816"/>
          </a:xfrm>
          <a:prstGeom prst="roundRect">
            <a:avLst>
              <a:gd name="adj" fmla="val 8003"/>
            </a:avLst>
          </a:prstGeom>
          <a:solidFill>
            <a:srgbClr val="FBFBFC"/>
          </a:solidFill>
          <a:ln w="6350">
            <a:solidFill>
              <a:srgbClr val="D9D9D9"/>
            </a:solidFill>
            <a:prstDash val="solid"/>
          </a:ln>
        </p:spPr>
      </p:sp>
      <p:pic>
        <p:nvPicPr>
          <p:cNvPr id="33" name="Image 8" descr="Warning">    </p:cNvPr>
          <p:cNvPicPr>
            <a:picLocks noChangeAspect="1"/>
          </p:cNvPicPr>
          <p:nvPr/>
        </p:nvPicPr>
        <p:blipFill>
          <a:blip r:embed="rId9"/>
          <a:srcRect l="0" r="0" t="0" b="0"/>
          <a:stretch/>
        </p:blipFill>
        <p:spPr>
          <a:xfrm>
            <a:off x="1022350" y="4792762"/>
            <a:ext cx="254000" cy="254000"/>
          </a:xfrm>
          <a:prstGeom prst="rect">
            <a:avLst/>
          </a:prstGeom>
        </p:spPr>
      </p:pic>
      <p:sp>
        <p:nvSpPr>
          <p:cNvPr id="34" name="Text 23"/>
          <p:cNvSpPr/>
          <p:nvPr/>
        </p:nvSpPr>
        <p:spPr>
          <a:xfrm>
            <a:off x="1377950" y="4797822"/>
            <a:ext cx="19200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Routing at scale</a:t>
            </a:r>
            <a:endParaRPr lang="en-US" sz="1600" dirty="0"/>
          </a:p>
        </p:txBody>
      </p:sp>
      <p:sp>
        <p:nvSpPr>
          <p:cNvPr id="35" name="Text 24"/>
          <p:cNvSpPr/>
          <p:nvPr/>
        </p:nvSpPr>
        <p:spPr>
          <a:xfrm>
            <a:off x="1022350" y="5110262"/>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Thousands of guides are hard to pick from</a:t>
            </a:r>
            <a:endParaRPr lang="en-US" sz="1200" dirty="0"/>
          </a:p>
        </p:txBody>
      </p:sp>
      <p:sp>
        <p:nvSpPr>
          <p:cNvPr id="36" name="Shape 25"/>
          <p:cNvSpPr/>
          <p:nvPr/>
        </p:nvSpPr>
        <p:spPr>
          <a:xfrm>
            <a:off x="1022350" y="5382617"/>
            <a:ext cx="4800600" cy="0"/>
          </a:xfrm>
          <a:prstGeom prst="line">
            <a:avLst/>
          </a:prstGeom>
          <a:noFill/>
          <a:ln w="6350">
            <a:solidFill>
              <a:srgbClr val="D9D9D9"/>
            </a:solidFill>
            <a:prstDash val="solid"/>
          </a:ln>
        </p:spPr>
      </p:sp>
      <p:pic>
        <p:nvPicPr>
          <p:cNvPr id="37" name="Image 9" descr="CheckCircle">    </p:cNvPr>
          <p:cNvPicPr>
            <a:picLocks noChangeAspect="1"/>
          </p:cNvPicPr>
          <p:nvPr/>
        </p:nvPicPr>
        <p:blipFill>
          <a:blip r:embed="rId10"/>
          <a:srcRect l="0" r="0" t="0" b="0"/>
          <a:stretch/>
        </p:blipFill>
        <p:spPr>
          <a:xfrm>
            <a:off x="1022350" y="5450483"/>
            <a:ext cx="203200" cy="203200"/>
          </a:xfrm>
          <a:prstGeom prst="rect">
            <a:avLst/>
          </a:prstGeom>
        </p:spPr>
      </p:pic>
      <p:sp>
        <p:nvSpPr>
          <p:cNvPr id="38" name="Text 26"/>
          <p:cNvSpPr/>
          <p:nvPr/>
        </p:nvSpPr>
        <p:spPr>
          <a:xfrm>
            <a:off x="1301750" y="5449292"/>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Index plus a strict naming scheme</a:t>
            </a:r>
            <a:endParaRPr lang="en-US" sz="1200" dirty="0"/>
          </a:p>
        </p:txBody>
      </p:sp>
      <p:sp>
        <p:nvSpPr>
          <p:cNvPr id="39" name="Shape 27"/>
          <p:cNvSpPr/>
          <p:nvPr/>
        </p:nvSpPr>
        <p:spPr>
          <a:xfrm>
            <a:off x="6162675" y="4609009"/>
            <a:ext cx="5213350" cy="1229816"/>
          </a:xfrm>
          <a:prstGeom prst="roundRect">
            <a:avLst>
              <a:gd name="adj" fmla="val 8003"/>
            </a:avLst>
          </a:prstGeom>
          <a:solidFill>
            <a:srgbClr val="FBFBFC"/>
          </a:solidFill>
          <a:ln w="6350">
            <a:solidFill>
              <a:srgbClr val="D9D9D9"/>
            </a:solidFill>
            <a:prstDash val="solid"/>
          </a:ln>
        </p:spPr>
      </p:sp>
      <p:pic>
        <p:nvPicPr>
          <p:cNvPr id="40" name="Image 10" descr="Warning">    </p:cNvPr>
          <p:cNvPicPr>
            <a:picLocks noChangeAspect="1"/>
          </p:cNvPicPr>
          <p:nvPr/>
        </p:nvPicPr>
        <p:blipFill>
          <a:blip r:embed="rId11"/>
          <a:srcRect l="0" r="0" t="0" b="0"/>
          <a:stretch/>
        </p:blipFill>
        <p:spPr>
          <a:xfrm>
            <a:off x="6369050" y="4792762"/>
            <a:ext cx="254000" cy="254000"/>
          </a:xfrm>
          <a:prstGeom prst="rect">
            <a:avLst/>
          </a:prstGeom>
        </p:spPr>
      </p:pic>
      <p:sp>
        <p:nvSpPr>
          <p:cNvPr id="41" name="Text 28"/>
          <p:cNvSpPr/>
          <p:nvPr/>
        </p:nvSpPr>
        <p:spPr>
          <a:xfrm>
            <a:off x="6724650" y="4797822"/>
            <a:ext cx="1238369"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1E1E"/>
                </a:solidFill>
                <a:latin typeface="Space Grotesk" pitchFamily="34" charset="0"/>
                <a:ea typeface="Space Grotesk" pitchFamily="34" charset="-122"/>
                <a:cs typeface="Space Grotesk" pitchFamily="34" charset="-120"/>
              </a:rPr>
              <a:t>Ownership</a:t>
            </a:r>
            <a:endParaRPr lang="en-US" sz="1600" dirty="0"/>
          </a:p>
        </p:txBody>
      </p:sp>
      <p:sp>
        <p:nvSpPr>
          <p:cNvPr id="42" name="Text 29"/>
          <p:cNvSpPr/>
          <p:nvPr/>
        </p:nvSpPr>
        <p:spPr>
          <a:xfrm>
            <a:off x="6369050" y="5110262"/>
            <a:ext cx="494461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E5E"/>
                </a:solidFill>
                <a:latin typeface="IBM Plex Sans" pitchFamily="34" charset="0"/>
                <a:ea typeface="IBM Plex Sans" pitchFamily="34" charset="-122"/>
                <a:cs typeface="IBM Plex Sans" pitchFamily="34" charset="-120"/>
              </a:rPr>
              <a:t>Docs without owners rot</a:t>
            </a:r>
            <a:endParaRPr lang="en-US" sz="1200" dirty="0"/>
          </a:p>
        </p:txBody>
      </p:sp>
      <p:sp>
        <p:nvSpPr>
          <p:cNvPr id="43" name="Shape 30"/>
          <p:cNvSpPr/>
          <p:nvPr/>
        </p:nvSpPr>
        <p:spPr>
          <a:xfrm>
            <a:off x="6369050" y="5382617"/>
            <a:ext cx="4800600" cy="0"/>
          </a:xfrm>
          <a:prstGeom prst="line">
            <a:avLst/>
          </a:prstGeom>
          <a:noFill/>
          <a:ln w="6350">
            <a:solidFill>
              <a:srgbClr val="D9D9D9"/>
            </a:solidFill>
            <a:prstDash val="solid"/>
          </a:ln>
        </p:spPr>
      </p:sp>
      <p:pic>
        <p:nvPicPr>
          <p:cNvPr id="44" name="Image 11" descr="CheckCircle">    </p:cNvPr>
          <p:cNvPicPr>
            <a:picLocks noChangeAspect="1"/>
          </p:cNvPicPr>
          <p:nvPr/>
        </p:nvPicPr>
        <p:blipFill>
          <a:blip r:embed="rId12"/>
          <a:srcRect l="0" r="0" t="0" b="0"/>
          <a:stretch/>
        </p:blipFill>
        <p:spPr>
          <a:xfrm>
            <a:off x="6369050" y="5450483"/>
            <a:ext cx="203200" cy="203200"/>
          </a:xfrm>
          <a:prstGeom prst="rect">
            <a:avLst/>
          </a:prstGeom>
        </p:spPr>
      </p:pic>
      <p:sp>
        <p:nvSpPr>
          <p:cNvPr id="45" name="Text 31"/>
          <p:cNvSpPr/>
          <p:nvPr/>
        </p:nvSpPr>
        <p:spPr>
          <a:xfrm>
            <a:off x="6648450" y="5449292"/>
            <a:ext cx="4656836"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3C6F"/>
                </a:solidFill>
                <a:latin typeface="IBM Plex Sans" pitchFamily="34" charset="0"/>
                <a:ea typeface="IBM Plex Sans" pitchFamily="34" charset="-122"/>
                <a:cs typeface="IBM Plex Sans" pitchFamily="34" charset="-120"/>
              </a:rPr>
              <a:t>Assign guide owners, like CODEOWNERS</a:t>
            </a:r>
            <a:endParaRPr lang="en-US" sz="1200" dirty="0"/>
          </a:p>
        </p:txBody>
      </p:sp>
      <p:sp>
        <p:nvSpPr>
          <p:cNvPr id="46"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Our assessment; mitigations (blue) are proposals for our pilot.</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5F6"/>
        </a:solidFill>
      </p:bgPr>
    </p:bg>
    <p:spTree>
      <p:nvGrpSpPr>
        <p:cNvPr id="1" name=""/>
        <p:cNvGrpSpPr/>
        <p:nvPr/>
      </p:nvGrpSpPr>
      <p:grpSpPr>
        <a:xfrm>
          <a:off x="0" y="0"/>
          <a:ext cx="0" cy="0"/>
          <a:chOff x="0" y="0"/>
          <a:chExt cx="0" cy="0"/>
        </a:xfrm>
      </p:grpSpPr>
      <p:sp>
        <p:nvSpPr>
          <p:cNvPr id="2" name="Shape 0"/>
          <p:cNvSpPr/>
          <p:nvPr/>
        </p:nvSpPr>
        <p:spPr>
          <a:xfrm>
            <a:off x="812800" y="812800"/>
            <a:ext cx="127000" cy="127000"/>
          </a:xfrm>
          <a:prstGeom prst="roundRect">
            <a:avLst>
              <a:gd name="adj" fmla="val 50000"/>
            </a:avLst>
          </a:prstGeom>
          <a:solidFill>
            <a:srgbClr val="D9D9D9"/>
          </a:solidFill>
          <a:ln/>
        </p:spPr>
      </p:sp>
      <p:sp>
        <p:nvSpPr>
          <p:cNvPr id="3" name="Shape 1"/>
          <p:cNvSpPr/>
          <p:nvPr/>
        </p:nvSpPr>
        <p:spPr>
          <a:xfrm>
            <a:off x="1016000" y="812800"/>
            <a:ext cx="127000" cy="127000"/>
          </a:xfrm>
          <a:prstGeom prst="roundRect">
            <a:avLst>
              <a:gd name="adj" fmla="val 50000"/>
            </a:avLst>
          </a:prstGeom>
          <a:solidFill>
            <a:srgbClr val="D9D9D9"/>
          </a:solidFill>
          <a:ln/>
        </p:spPr>
      </p:sp>
      <p:sp>
        <p:nvSpPr>
          <p:cNvPr id="4" name="Shape 2"/>
          <p:cNvSpPr/>
          <p:nvPr/>
        </p:nvSpPr>
        <p:spPr>
          <a:xfrm>
            <a:off x="1219200" y="812800"/>
            <a:ext cx="127000" cy="127000"/>
          </a:xfrm>
          <a:prstGeom prst="roundRect">
            <a:avLst>
              <a:gd name="adj" fmla="val 50000"/>
            </a:avLst>
          </a:prstGeom>
          <a:solidFill>
            <a:srgbClr val="D9D9D9"/>
          </a:solidFill>
          <a:ln/>
        </p:spPr>
      </p:sp>
      <p:sp>
        <p:nvSpPr>
          <p:cNvPr id="5" name="Shape 3"/>
          <p:cNvSpPr/>
          <p:nvPr/>
        </p:nvSpPr>
        <p:spPr>
          <a:xfrm>
            <a:off x="1422400" y="812800"/>
            <a:ext cx="127000" cy="127000"/>
          </a:xfrm>
          <a:prstGeom prst="roundRect">
            <a:avLst>
              <a:gd name="adj" fmla="val 50000"/>
            </a:avLst>
          </a:prstGeom>
          <a:solidFill>
            <a:srgbClr val="D9D9D9"/>
          </a:solidFill>
          <a:ln/>
        </p:spPr>
      </p:sp>
      <p:sp>
        <p:nvSpPr>
          <p:cNvPr id="6" name="Shape 4"/>
          <p:cNvSpPr/>
          <p:nvPr/>
        </p:nvSpPr>
        <p:spPr>
          <a:xfrm>
            <a:off x="1625600" y="812800"/>
            <a:ext cx="127000" cy="127000"/>
          </a:xfrm>
          <a:prstGeom prst="roundRect">
            <a:avLst>
              <a:gd name="adj" fmla="val 50000"/>
            </a:avLst>
          </a:prstGeom>
          <a:solidFill>
            <a:srgbClr val="D9D9D9"/>
          </a:solidFill>
          <a:ln/>
        </p:spPr>
      </p:sp>
      <p:sp>
        <p:nvSpPr>
          <p:cNvPr id="7" name="Shape 5"/>
          <p:cNvSpPr/>
          <p:nvPr/>
        </p:nvSpPr>
        <p:spPr>
          <a:xfrm>
            <a:off x="1828800" y="812800"/>
            <a:ext cx="127000" cy="127000"/>
          </a:xfrm>
          <a:prstGeom prst="roundRect">
            <a:avLst>
              <a:gd name="adj" fmla="val 50000"/>
            </a:avLst>
          </a:prstGeom>
          <a:solidFill>
            <a:srgbClr val="D9D9D9"/>
          </a:solidFill>
          <a:ln/>
        </p:spPr>
      </p:sp>
      <p:sp>
        <p:nvSpPr>
          <p:cNvPr id="8" name="Shape 6"/>
          <p:cNvSpPr/>
          <p:nvPr/>
        </p:nvSpPr>
        <p:spPr>
          <a:xfrm>
            <a:off x="2032000" y="812800"/>
            <a:ext cx="127000" cy="127000"/>
          </a:xfrm>
          <a:prstGeom prst="roundRect">
            <a:avLst>
              <a:gd name="adj" fmla="val 50000"/>
            </a:avLst>
          </a:prstGeom>
          <a:solidFill>
            <a:srgbClr val="D9D9D9"/>
          </a:solidFill>
          <a:ln/>
        </p:spPr>
      </p:sp>
      <p:sp>
        <p:nvSpPr>
          <p:cNvPr id="9" name="Shape 7"/>
          <p:cNvSpPr/>
          <p:nvPr/>
        </p:nvSpPr>
        <p:spPr>
          <a:xfrm>
            <a:off x="2235200" y="812800"/>
            <a:ext cx="127000" cy="127000"/>
          </a:xfrm>
          <a:prstGeom prst="roundRect">
            <a:avLst>
              <a:gd name="adj" fmla="val 50000"/>
            </a:avLst>
          </a:prstGeom>
          <a:solidFill>
            <a:srgbClr val="D9D9D9"/>
          </a:solidFill>
          <a:ln/>
        </p:spPr>
      </p:sp>
      <p:sp>
        <p:nvSpPr>
          <p:cNvPr id="10" name="Shape 8"/>
          <p:cNvSpPr/>
          <p:nvPr/>
        </p:nvSpPr>
        <p:spPr>
          <a:xfrm>
            <a:off x="2438400" y="812800"/>
            <a:ext cx="457200" cy="127000"/>
          </a:xfrm>
          <a:prstGeom prst="roundRect">
            <a:avLst>
              <a:gd name="adj" fmla="val 50000"/>
            </a:avLst>
          </a:prstGeom>
          <a:solidFill>
            <a:srgbClr val="00AEEF"/>
          </a:solidFill>
          <a:ln/>
        </p:spPr>
      </p:sp>
      <p:sp>
        <p:nvSpPr>
          <p:cNvPr id="11" name="Text 9"/>
          <p:cNvSpPr/>
          <p:nvPr/>
        </p:nvSpPr>
        <p:spPr>
          <a:xfrm>
            <a:off x="812800" y="259973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0AEEF"/>
                </a:solidFill>
                <a:latin typeface="Space Grotesk" pitchFamily="34" charset="0"/>
                <a:ea typeface="Space Grotesk" pitchFamily="34" charset="-122"/>
                <a:cs typeface="Space Grotesk" pitchFamily="34" charset="-120"/>
              </a:rPr>
              <a:t>09</a:t>
            </a:r>
            <a:endParaRPr lang="en-US" sz="7000" dirty="0"/>
          </a:p>
        </p:txBody>
      </p:sp>
      <p:sp>
        <p:nvSpPr>
          <p:cNvPr id="12" name="Text 10"/>
          <p:cNvSpPr/>
          <p:nvPr>
            <p:ph type="title"/>
          </p:nvPr>
        </p:nvSpPr>
        <p:spPr>
          <a:xfrm>
            <a:off x="812800" y="364113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Why we adopt</a:t>
            </a:r>
            <a:endParaRPr lang="en-US" sz="3200" dirty="0"/>
          </a:p>
        </p:txBody>
      </p:sp>
      <p:sp>
        <p:nvSpPr>
          <p:cNvPr id="13" name="Text 11"/>
          <p:cNvSpPr/>
          <p:nvPr/>
        </p:nvSpPr>
        <p:spPr>
          <a:xfrm>
            <a:off x="812800" y="4240510"/>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5E5E5E"/>
                </a:solidFill>
                <a:latin typeface="IBM Plex Sans" pitchFamily="34" charset="0"/>
                <a:ea typeface="IBM Plex Sans" pitchFamily="34" charset="-122"/>
                <a:cs typeface="IBM Plex Sans" pitchFamily="34" charset="-120"/>
              </a:rPr>
              <a:t>What Linux, Google, Amazon, and the research actually show</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Linux accepts AI-assisted patches — a human signs every one</a:t>
            </a:r>
            <a:endParaRPr lang="en-US" sz="3200" dirty="0"/>
          </a:p>
        </p:txBody>
      </p:sp>
      <p:sp>
        <p:nvSpPr>
          <p:cNvPr id="4" name="Text 2"/>
          <p:cNvSpPr/>
          <p:nvPr/>
        </p:nvSpPr>
        <p:spPr>
          <a:xfrm>
            <a:off x="812800" y="2326481"/>
            <a:ext cx="5461000" cy="2395041"/>
          </a:xfrm>
          <a:prstGeom prst="roundRect">
            <a:avLst>
              <a:gd name="adj" fmla="val 4242"/>
            </a:avLst>
          </a:prstGeom>
          <a:solidFill>
            <a:srgbClr val="ECECEC"/>
          </a:solidFill>
          <a:ln/>
        </p:spPr>
        <p:txBody>
          <a:bodyPr wrap="square" lIns="173442" tIns="173442" rIns="21804" bIns="148042" rtlCol="0" anchor="t">
            <a:normAutofit/>
          </a:bodyPr>
          <a:lstStyle/>
          <a:p>
            <a:pPr algn="l" indent="0" marL="0">
              <a:lnSpc>
                <a:spcPts val="1740"/>
              </a:lnSpc>
              <a:buNone/>
            </a:pPr>
            <a:r>
              <a:rPr lang="en-US" sz="1200" dirty="0">
                <a:solidFill>
                  <a:srgbClr val="5E5E5E"/>
                </a:solidFill>
                <a:latin typeface="JetBrains Mono" pitchFamily="49" charset="0"/>
                <a:ea typeface="JetBrains Mono" pitchFamily="49" charset="-122"/>
                <a:cs typeface="JetBrains Mono" pitchFamily="49" charset="-120"/>
              </a:rPr>
              <a:t>commit 3f2a9c1… (illustrative)</a:t>
            </a:r>
            <a:endParaRPr lang="en-US" sz="1200" dirty="0"/>
          </a:p>
          <a:p>
            <a:pPr algn="l" indent="0" marL="0">
              <a:lnSpc>
                <a:spcPts val="1740"/>
              </a:lnSpc>
              <a:buNone/>
            </a:pPr>
            <a:endParaRPr lang="en-US" sz="1200" dirty="0"/>
          </a:p>
          <a:p>
            <a:pPr algn="l" indent="0" marL="0">
              <a:lnSpc>
                <a:spcPts val="1740"/>
              </a:lnSpc>
              <a:buNone/>
            </a:pPr>
            <a:r>
              <a:rPr lang="en-US" sz="1200" dirty="0">
                <a:solidFill>
                  <a:srgbClr val="1E1E1E"/>
                </a:solidFill>
                <a:latin typeface="JetBrains Mono" pitchFamily="49" charset="0"/>
                <a:ea typeface="JetBrains Mono" pitchFamily="49" charset="-122"/>
                <a:cs typeface="JetBrains Mono" pitchFamily="49" charset="-120"/>
              </a:rPr>
              <a:t>net: fix use-after-free in example_rx()</a:t>
            </a:r>
            <a:endParaRPr lang="en-US" sz="1200" dirty="0"/>
          </a:p>
          <a:p>
            <a:pPr algn="l" indent="0" marL="0">
              <a:lnSpc>
                <a:spcPts val="1740"/>
              </a:lnSpc>
              <a:buNone/>
            </a:pPr>
            <a:endParaRPr lang="en-US" sz="1200" dirty="0"/>
          </a:p>
          <a:p>
            <a:pPr algn="l" indent="0" marL="0">
              <a:lnSpc>
                <a:spcPts val="1740"/>
              </a:lnSpc>
              <a:buNone/>
            </a:pPr>
            <a:r>
              <a:rPr lang="en-US" sz="1200" dirty="0">
                <a:solidFill>
                  <a:srgbClr val="5E5E5E"/>
                </a:solidFill>
                <a:latin typeface="JetBrains Mono" pitchFamily="49" charset="0"/>
                <a:ea typeface="JetBrains Mono" pitchFamily="49" charset="-122"/>
                <a:cs typeface="JetBrains Mono" pitchFamily="49" charset="-120"/>
              </a:rPr>
              <a:t>[problem, fix, and how it was tested]</a:t>
            </a:r>
            <a:endParaRPr lang="en-US" sz="1200" dirty="0"/>
          </a:p>
          <a:p>
            <a:pPr algn="l" indent="0" marL="0">
              <a:lnSpc>
                <a:spcPts val="1740"/>
              </a:lnSpc>
              <a:buNone/>
            </a:pPr>
            <a:endParaRPr lang="en-US" sz="1200" dirty="0"/>
          </a:p>
          <a:p>
            <a:pPr algn="l" indent="0" marL="0">
              <a:lnSpc>
                <a:spcPts val="1740"/>
              </a:lnSpc>
              <a:buNone/>
            </a:pPr>
            <a:r>
              <a:rPr lang="en-US" sz="1200" dirty="0">
                <a:solidFill>
                  <a:srgbClr val="1E1E1E"/>
                </a:solidFill>
                <a:latin typeface="JetBrains Mono" pitchFamily="49" charset="0"/>
                <a:ea typeface="JetBrains Mono" pitchFamily="49" charset="-122"/>
                <a:cs typeface="JetBrains Mono" pitchFamily="49" charset="-120"/>
              </a:rPr>
              <a:t>Fixes: 1a2b3c4d5e6f ("net: add example_rx")</a:t>
            </a:r>
            <a:endParaRPr lang="en-US" sz="1200" dirty="0"/>
          </a:p>
          <a:p>
            <a:pPr algn="l" indent="0" marL="0">
              <a:lnSpc>
                <a:spcPts val="1740"/>
              </a:lnSpc>
              <a:buNone/>
            </a:pPr>
            <a:r>
              <a:rPr lang="en-US" sz="1200" dirty="0">
                <a:solidFill>
                  <a:srgbClr val="0A5A8A"/>
                </a:solidFill>
                <a:latin typeface="JetBrains Mono" pitchFamily="49" charset="0"/>
                <a:ea typeface="JetBrains Mono" pitchFamily="49" charset="-122"/>
                <a:cs typeface="JetBrains Mono" pitchFamily="49" charset="-120"/>
              </a:rPr>
              <a:t>Assisted-by: LLM sparse</a:t>
            </a:r>
            <a:endParaRPr lang="en-US" sz="1200" dirty="0"/>
          </a:p>
          <a:p>
            <a:pPr algn="l" indent="0" marL="0">
              <a:lnSpc>
                <a:spcPts val="1740"/>
              </a:lnSpc>
              <a:buNone/>
            </a:pPr>
            <a:r>
              <a:rPr lang="en-US" sz="1200" dirty="0">
                <a:solidFill>
                  <a:srgbClr val="0B3C6F"/>
                </a:solidFill>
                <a:latin typeface="JetBrains Mono" pitchFamily="49" charset="0"/>
                <a:ea typeface="JetBrains Mono" pitchFamily="49" charset="-122"/>
                <a:cs typeface="JetBrains Mono" pitchFamily="49" charset="-120"/>
              </a:rPr>
              <a:t>Signed-off-by: Jane Dev &lt;jane@example.org&gt;</a:t>
            </a:r>
            <a:endParaRPr lang="en-US" sz="1200" dirty="0"/>
          </a:p>
        </p:txBody>
      </p:sp>
      <p:sp>
        <p:nvSpPr>
          <p:cNvPr id="5" name="Text 3"/>
          <p:cNvSpPr/>
          <p:nvPr/>
        </p:nvSpPr>
        <p:spPr>
          <a:xfrm>
            <a:off x="812800" y="4797723"/>
            <a:ext cx="56248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Illustrative commit; tag format from the kernel’s policy.</a:t>
            </a:r>
            <a:endParaRPr lang="en-US" sz="1200" dirty="0"/>
          </a:p>
        </p:txBody>
      </p:sp>
      <p:pic>
        <p:nvPicPr>
          <p:cNvPr id="6" name="Image 0" descr="Book">    </p:cNvPr>
          <p:cNvPicPr>
            <a:picLocks noChangeAspect="1"/>
          </p:cNvPicPr>
          <p:nvPr/>
        </p:nvPicPr>
        <p:blipFill>
          <a:blip r:embed="rId1"/>
          <a:srcRect l="0" r="0" t="0" b="0"/>
          <a:stretch/>
        </p:blipFill>
        <p:spPr>
          <a:xfrm>
            <a:off x="6680200" y="2617192"/>
            <a:ext cx="304800" cy="304800"/>
          </a:xfrm>
          <a:prstGeom prst="rect">
            <a:avLst/>
          </a:prstGeom>
        </p:spPr>
      </p:pic>
      <p:sp>
        <p:nvSpPr>
          <p:cNvPr id="7" name="Text 4"/>
          <p:cNvSpPr/>
          <p:nvPr/>
        </p:nvSpPr>
        <p:spPr>
          <a:xfrm>
            <a:off x="7112000" y="2529582"/>
            <a:ext cx="439521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A written policy in the kernel’s own docs, shipped with Linux 7.0 (April 2026).</a:t>
            </a:r>
            <a:endParaRPr lang="en-US" sz="1400" dirty="0"/>
          </a:p>
        </p:txBody>
      </p:sp>
      <p:pic>
        <p:nvPicPr>
          <p:cNvPr id="8" name="Image 1" descr="Verified">    </p:cNvPr>
          <p:cNvPicPr>
            <a:picLocks noChangeAspect="1"/>
          </p:cNvPicPr>
          <p:nvPr/>
        </p:nvPicPr>
        <p:blipFill>
          <a:blip r:embed="rId2"/>
          <a:srcRect l="0" r="0" t="0" b="0"/>
          <a:stretch/>
        </p:blipFill>
        <p:spPr>
          <a:xfrm>
            <a:off x="6680200" y="3187402"/>
            <a:ext cx="304800" cy="304800"/>
          </a:xfrm>
          <a:prstGeom prst="rect">
            <a:avLst/>
          </a:prstGeom>
        </p:spPr>
      </p:pic>
      <p:sp>
        <p:nvSpPr>
          <p:cNvPr id="9" name="Text 5"/>
          <p:cNvSpPr/>
          <p:nvPr/>
        </p:nvSpPr>
        <p:spPr>
          <a:xfrm>
            <a:off x="7112000" y="3219748"/>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AI use is disclosed with an </a:t>
            </a:r>
            <a:r>
              <a:rPr lang="en-US" sz="1400" b="1" dirty="0">
                <a:solidFill>
                  <a:srgbClr val="1E1E1E"/>
                </a:solidFill>
                <a:latin typeface="IBM Plex Sans" pitchFamily="34" charset="0"/>
                <a:ea typeface="IBM Plex Sans" pitchFamily="34" charset="-122"/>
                <a:cs typeface="IBM Plex Sans" pitchFamily="34" charset="-120"/>
              </a:rPr>
              <a:t>Assisted-by</a:t>
            </a:r>
            <a:r>
              <a:rPr lang="en-US" sz="1400" dirty="0">
                <a:solidFill>
                  <a:srgbClr val="1E1E1E"/>
                </a:solidFill>
                <a:latin typeface="IBM Plex Sans" pitchFamily="34" charset="0"/>
                <a:ea typeface="IBM Plex Sans" pitchFamily="34" charset="-122"/>
                <a:cs typeface="IBM Plex Sans" pitchFamily="34" charset="-120"/>
              </a:rPr>
              <a:t> tag.</a:t>
            </a:r>
            <a:endParaRPr lang="en-US" sz="1400" dirty="0"/>
          </a:p>
        </p:txBody>
      </p:sp>
      <p:pic>
        <p:nvPicPr>
          <p:cNvPr id="10" name="Image 2" descr="Lock">    </p:cNvPr>
          <p:cNvPicPr>
            <a:picLocks noChangeAspect="1"/>
          </p:cNvPicPr>
          <p:nvPr/>
        </p:nvPicPr>
        <p:blipFill>
          <a:blip r:embed="rId3"/>
          <a:srcRect l="0" r="0" t="0" b="0"/>
          <a:stretch/>
        </p:blipFill>
        <p:spPr>
          <a:xfrm>
            <a:off x="6680200" y="3757613"/>
            <a:ext cx="304800" cy="304800"/>
          </a:xfrm>
          <a:prstGeom prst="rect">
            <a:avLst/>
          </a:prstGeom>
        </p:spPr>
      </p:pic>
      <p:sp>
        <p:nvSpPr>
          <p:cNvPr id="11" name="Text 6"/>
          <p:cNvSpPr/>
          <p:nvPr/>
        </p:nvSpPr>
        <p:spPr>
          <a:xfrm>
            <a:off x="7112000" y="3670002"/>
            <a:ext cx="439521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AI agents MUST NOT add </a:t>
            </a:r>
            <a:r>
              <a:rPr lang="en-US" sz="1400" b="1" dirty="0">
                <a:solidFill>
                  <a:srgbClr val="1E1E1E"/>
                </a:solidFill>
                <a:latin typeface="IBM Plex Sans" pitchFamily="34" charset="0"/>
                <a:ea typeface="IBM Plex Sans" pitchFamily="34" charset="-122"/>
                <a:cs typeface="IBM Plex Sans" pitchFamily="34" charset="-120"/>
              </a:rPr>
              <a:t>Signed-off-by</a:t>
            </a:r>
            <a:r>
              <a:rPr lang="en-US" sz="1400" dirty="0">
                <a:solidFill>
                  <a:srgbClr val="1E1E1E"/>
                </a:solidFill>
                <a:latin typeface="IBM Plex Sans" pitchFamily="34" charset="0"/>
                <a:ea typeface="IBM Plex Sans" pitchFamily="34" charset="-122"/>
                <a:cs typeface="IBM Plex Sans" pitchFamily="34" charset="-120"/>
              </a:rPr>
              <a:t>; only a human can certify.</a:t>
            </a:r>
            <a:endParaRPr lang="en-US" sz="1400" dirty="0"/>
          </a:p>
        </p:txBody>
      </p:sp>
      <p:pic>
        <p:nvPicPr>
          <p:cNvPr id="12" name="Image 3" descr="Users">    </p:cNvPr>
          <p:cNvPicPr>
            <a:picLocks noChangeAspect="1"/>
          </p:cNvPicPr>
          <p:nvPr/>
        </p:nvPicPr>
        <p:blipFill>
          <a:blip r:embed="rId4"/>
          <a:srcRect l="0" r="0" t="0" b="0"/>
          <a:stretch/>
        </p:blipFill>
        <p:spPr>
          <a:xfrm>
            <a:off x="6680200" y="4415433"/>
            <a:ext cx="304800" cy="304800"/>
          </a:xfrm>
          <a:prstGeom prst="rect">
            <a:avLst/>
          </a:prstGeom>
        </p:spPr>
      </p:pic>
      <p:sp>
        <p:nvSpPr>
          <p:cNvPr id="13" name="Text 7"/>
          <p:cNvSpPr/>
          <p:nvPr/>
        </p:nvSpPr>
        <p:spPr>
          <a:xfrm>
            <a:off x="7112000" y="4327823"/>
            <a:ext cx="439521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The human reviews all AI-generated code and takes full responsibility.</a:t>
            </a:r>
            <a:endParaRPr lang="en-US" sz="1400" dirty="0"/>
          </a:p>
        </p:txBody>
      </p:sp>
      <p:sp>
        <p:nvSpPr>
          <p:cNvPr id="14"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docs.kernel.org/process/coding-assistants.html; It’s FOSS, Apr 2026; The Register, Jan 8, 2026</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Google: share of new code generated by AI</a:t>
            </a:r>
            <a:endParaRPr lang="en-US" sz="3200" dirty="0"/>
          </a:p>
        </p:txBody>
      </p:sp>
      <p:sp>
        <p:nvSpPr>
          <p:cNvPr id="4" name="Shape 2"/>
          <p:cNvSpPr/>
          <p:nvPr/>
        </p:nvSpPr>
        <p:spPr>
          <a:xfrm>
            <a:off x="812800" y="5832475"/>
            <a:ext cx="4902200" cy="0"/>
          </a:xfrm>
          <a:prstGeom prst="line">
            <a:avLst/>
          </a:prstGeom>
          <a:noFill/>
          <a:ln w="19050">
            <a:solidFill>
              <a:srgbClr val="D9D9D9"/>
            </a:solidFill>
            <a:prstDash val="solid"/>
          </a:ln>
        </p:spPr>
      </p:sp>
      <p:sp>
        <p:nvSpPr>
          <p:cNvPr id="5" name="Text 3"/>
          <p:cNvSpPr/>
          <p:nvPr/>
        </p:nvSpPr>
        <p:spPr>
          <a:xfrm>
            <a:off x="882779" y="3963789"/>
            <a:ext cx="1256943" cy="594320"/>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0A5A8A"/>
                </a:solidFill>
                <a:latin typeface="Space Grotesk" pitchFamily="34" charset="0"/>
                <a:ea typeface="Space Grotesk" pitchFamily="34" charset="-122"/>
                <a:cs typeface="Space Grotesk" pitchFamily="34" charset="-120"/>
              </a:rPr>
              <a:t>&gt;25%</a:t>
            </a:r>
            <a:endParaRPr lang="en-US" sz="3200" dirty="0"/>
          </a:p>
        </p:txBody>
      </p:sp>
      <p:sp>
        <p:nvSpPr>
          <p:cNvPr id="6" name="Shape 4"/>
          <p:cNvSpPr/>
          <p:nvPr/>
        </p:nvSpPr>
        <p:spPr>
          <a:xfrm>
            <a:off x="812800" y="4608909"/>
            <a:ext cx="1397000" cy="889000"/>
          </a:xfrm>
          <a:custGeom>
            <a:avLst/>
            <a:gdLst/>
            <a:ahLst/>
            <a:cxnLst/>
            <a:rect l="l" t="t" r="r" b="b"/>
            <a:pathLst>
              <a:path w="1397000" h="889000">
                <a:moveTo>
                  <a:pt x="76200" y="0"/>
                </a:moveTo>
                <a:lnTo>
                  <a:pt x="1320800" y="0"/>
                </a:lnTo>
                <a:arcTo hR="76200" wR="76200" stAng="16200000" swAng="5400000"/>
                <a:lnTo>
                  <a:pt x="1397000" y="889000"/>
                </a:lnTo>
                <a:lnTo>
                  <a:pt x="0" y="889000"/>
                </a:lnTo>
                <a:lnTo>
                  <a:pt x="0" y="76200"/>
                </a:lnTo>
                <a:arcTo hR="76200" wR="76200" stAng="10800000" swAng="5400000"/>
                <a:close/>
              </a:path>
            </a:pathLst>
          </a:custGeom>
          <a:gradFill rotWithShape="1">
            <a:gsLst>
              <a:gs pos="0">
                <a:srgbClr val="0A5A8A"/>
              </a:gs>
              <a:gs pos="100000">
                <a:srgbClr val="00AEEF"/>
              </a:gs>
            </a:gsLst>
            <a:lin ang="5400000" scaled="0"/>
          </a:gradFill>
          <a:ln/>
        </p:spPr>
      </p:sp>
      <p:sp>
        <p:nvSpPr>
          <p:cNvPr id="7" name="Text 5"/>
          <p:cNvSpPr/>
          <p:nvPr/>
        </p:nvSpPr>
        <p:spPr>
          <a:xfrm>
            <a:off x="1059468" y="5574109"/>
            <a:ext cx="903565"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Oct 2024</a:t>
            </a:r>
            <a:endParaRPr lang="en-US" sz="1400" dirty="0"/>
          </a:p>
        </p:txBody>
      </p:sp>
      <p:sp>
        <p:nvSpPr>
          <p:cNvPr id="8" name="Text 6"/>
          <p:cNvSpPr/>
          <p:nvPr/>
        </p:nvSpPr>
        <p:spPr>
          <a:xfrm>
            <a:off x="2623225" y="3074789"/>
            <a:ext cx="1281351" cy="594320"/>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0A5A8A"/>
                </a:solidFill>
                <a:latin typeface="Space Grotesk" pitchFamily="34" charset="0"/>
                <a:ea typeface="Space Grotesk" pitchFamily="34" charset="-122"/>
                <a:cs typeface="Space Grotesk" pitchFamily="34" charset="-120"/>
              </a:rPr>
              <a:t>~50%</a:t>
            </a:r>
            <a:endParaRPr lang="en-US" sz="3200" dirty="0"/>
          </a:p>
        </p:txBody>
      </p:sp>
      <p:sp>
        <p:nvSpPr>
          <p:cNvPr id="9" name="Shape 7"/>
          <p:cNvSpPr/>
          <p:nvPr/>
        </p:nvSpPr>
        <p:spPr>
          <a:xfrm>
            <a:off x="2565400" y="3719909"/>
            <a:ext cx="1397000" cy="1778000"/>
          </a:xfrm>
          <a:custGeom>
            <a:avLst/>
            <a:gdLst/>
            <a:ahLst/>
            <a:cxnLst/>
            <a:rect l="l" t="t" r="r" b="b"/>
            <a:pathLst>
              <a:path w="1397000" h="1778000">
                <a:moveTo>
                  <a:pt x="76200" y="0"/>
                </a:moveTo>
                <a:lnTo>
                  <a:pt x="1320800" y="0"/>
                </a:lnTo>
                <a:arcTo hR="76200" wR="76200" stAng="16200000" swAng="5400000"/>
                <a:lnTo>
                  <a:pt x="1397000" y="1778000"/>
                </a:lnTo>
                <a:lnTo>
                  <a:pt x="0" y="1778000"/>
                </a:lnTo>
                <a:lnTo>
                  <a:pt x="0" y="76200"/>
                </a:lnTo>
                <a:arcTo hR="76200" wR="76200" stAng="10800000" swAng="5400000"/>
                <a:close/>
              </a:path>
            </a:pathLst>
          </a:custGeom>
          <a:gradFill rotWithShape="1">
            <a:gsLst>
              <a:gs pos="0">
                <a:srgbClr val="0A5A8A"/>
              </a:gs>
              <a:gs pos="100000">
                <a:srgbClr val="00AEEF"/>
              </a:gs>
            </a:gsLst>
            <a:lin ang="5400000" scaled="0"/>
          </a:gradFill>
          <a:ln/>
        </p:spPr>
      </p:sp>
      <p:sp>
        <p:nvSpPr>
          <p:cNvPr id="10" name="Text 8"/>
          <p:cNvSpPr/>
          <p:nvPr/>
        </p:nvSpPr>
        <p:spPr>
          <a:xfrm>
            <a:off x="2803733" y="5574109"/>
            <a:ext cx="92023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Fall 2025</a:t>
            </a:r>
            <a:endParaRPr lang="en-US" sz="1400" dirty="0"/>
          </a:p>
        </p:txBody>
      </p:sp>
      <p:sp>
        <p:nvSpPr>
          <p:cNvPr id="11" name="Text 9"/>
          <p:cNvSpPr/>
          <p:nvPr/>
        </p:nvSpPr>
        <p:spPr>
          <a:xfrm>
            <a:off x="4548832" y="2185789"/>
            <a:ext cx="935236" cy="594320"/>
          </a:xfrm>
          <a:prstGeom prst="rect">
            <a:avLst/>
          </a:prstGeom>
          <a:noFill/>
          <a:ln/>
        </p:spPr>
        <p:txBody>
          <a:bodyPr wrap="square" lIns="0" tIns="0" rIns="0" bIns="0" rtlCol="0" anchor="t">
            <a:normAutofit/>
          </a:bodyPr>
          <a:lstStyle/>
          <a:p>
            <a:pPr algn="ctr" indent="0" marL="0">
              <a:lnSpc>
                <a:spcPts val="4480"/>
              </a:lnSpc>
              <a:buNone/>
            </a:pPr>
            <a:r>
              <a:rPr lang="en-US" sz="3200" b="1" dirty="0">
                <a:solidFill>
                  <a:srgbClr val="0A5A8A"/>
                </a:solidFill>
                <a:latin typeface="Space Grotesk" pitchFamily="34" charset="0"/>
                <a:ea typeface="Space Grotesk" pitchFamily="34" charset="-122"/>
                <a:cs typeface="Space Grotesk" pitchFamily="34" charset="-120"/>
              </a:rPr>
              <a:t>75%</a:t>
            </a:r>
            <a:endParaRPr lang="en-US" sz="3200" dirty="0"/>
          </a:p>
        </p:txBody>
      </p:sp>
      <p:sp>
        <p:nvSpPr>
          <p:cNvPr id="12" name="Shape 10"/>
          <p:cNvSpPr/>
          <p:nvPr/>
        </p:nvSpPr>
        <p:spPr>
          <a:xfrm>
            <a:off x="4318000" y="2830909"/>
            <a:ext cx="1397000" cy="2667000"/>
          </a:xfrm>
          <a:custGeom>
            <a:avLst/>
            <a:gdLst/>
            <a:ahLst/>
            <a:cxnLst/>
            <a:rect l="l" t="t" r="r" b="b"/>
            <a:pathLst>
              <a:path w="1397000" h="2667000">
                <a:moveTo>
                  <a:pt x="76200" y="0"/>
                </a:moveTo>
                <a:lnTo>
                  <a:pt x="1320800" y="0"/>
                </a:lnTo>
                <a:arcTo hR="76200" wR="76200" stAng="16200000" swAng="5400000"/>
                <a:lnTo>
                  <a:pt x="1397000" y="2667000"/>
                </a:lnTo>
                <a:lnTo>
                  <a:pt x="0" y="2667000"/>
                </a:lnTo>
                <a:lnTo>
                  <a:pt x="0" y="76200"/>
                </a:lnTo>
                <a:arcTo hR="76200" wR="76200" stAng="10800000" swAng="5400000"/>
                <a:close/>
              </a:path>
            </a:pathLst>
          </a:custGeom>
          <a:gradFill rotWithShape="1">
            <a:gsLst>
              <a:gs pos="0">
                <a:srgbClr val="0A5A8A"/>
              </a:gs>
              <a:gs pos="100000">
                <a:srgbClr val="00AEEF"/>
              </a:gs>
            </a:gsLst>
            <a:lin ang="5400000" scaled="0"/>
          </a:gradFill>
          <a:ln/>
        </p:spPr>
      </p:sp>
      <p:sp>
        <p:nvSpPr>
          <p:cNvPr id="13" name="Text 11"/>
          <p:cNvSpPr/>
          <p:nvPr/>
        </p:nvSpPr>
        <p:spPr>
          <a:xfrm>
            <a:off x="4557633" y="5574109"/>
            <a:ext cx="917734"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Apr 2026</a:t>
            </a:r>
            <a:endParaRPr lang="en-US" sz="1400" dirty="0"/>
          </a:p>
        </p:txBody>
      </p:sp>
      <p:pic>
        <p:nvPicPr>
          <p:cNvPr id="14" name="Image 0" descr="Users">    </p:cNvPr>
          <p:cNvPicPr>
            <a:picLocks noChangeAspect="1"/>
          </p:cNvPicPr>
          <p:nvPr/>
        </p:nvPicPr>
        <p:blipFill>
          <a:blip r:embed="rId1"/>
          <a:srcRect l="0" r="0" t="0" b="0"/>
          <a:stretch/>
        </p:blipFill>
        <p:spPr>
          <a:xfrm>
            <a:off x="6324600" y="4135239"/>
            <a:ext cx="406400" cy="406400"/>
          </a:xfrm>
          <a:prstGeom prst="rect">
            <a:avLst/>
          </a:prstGeom>
        </p:spPr>
      </p:pic>
      <p:sp>
        <p:nvSpPr>
          <p:cNvPr id="15" name="Text 12"/>
          <p:cNvSpPr/>
          <p:nvPr/>
        </p:nvSpPr>
        <p:spPr>
          <a:xfrm>
            <a:off x="6324600" y="4694039"/>
            <a:ext cx="5206238"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1E1E"/>
                </a:solidFill>
                <a:latin typeface="Space Grotesk" pitchFamily="34" charset="0"/>
                <a:ea typeface="Space Grotesk" pitchFamily="34" charset="-122"/>
                <a:cs typeface="Space Grotesk" pitchFamily="34" charset="-120"/>
              </a:rPr>
              <a:t>Generated by AI, then reviewed and accepted by engineers.</a:t>
            </a:r>
            <a:endParaRPr lang="en-US" sz="1800" dirty="0"/>
          </a:p>
        </p:txBody>
      </p:sp>
      <p:sp>
        <p:nvSpPr>
          <p:cNvPr id="16" name="Text 13"/>
          <p:cNvSpPr/>
          <p:nvPr/>
        </p:nvSpPr>
        <p:spPr>
          <a:xfrm>
            <a:off x="6324600" y="5440759"/>
            <a:ext cx="52062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Human review stayed in the loop the whole way up.</a:t>
            </a:r>
            <a:endParaRPr lang="en-US" sz="14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Alphabet Q3 2024 earnings call (Oct 29, 2024); Semafor, Apr 24, 2026 (Pichai’s Apr 22 Google post)</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Amazon: one AI upgrade program, measured</a:t>
            </a:r>
            <a:endParaRPr lang="en-US" sz="3200" dirty="0"/>
          </a:p>
        </p:txBody>
      </p:sp>
      <p:sp>
        <p:nvSpPr>
          <p:cNvPr id="4" name="Text 2"/>
          <p:cNvSpPr/>
          <p:nvPr/>
        </p:nvSpPr>
        <p:spPr>
          <a:xfrm>
            <a:off x="812800" y="1879501"/>
            <a:ext cx="3418535"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4,500</a:t>
            </a:r>
            <a:endParaRPr lang="en-US" sz="7000" dirty="0"/>
          </a:p>
        </p:txBody>
      </p:sp>
      <p:sp>
        <p:nvSpPr>
          <p:cNvPr id="5" name="Text 3"/>
          <p:cNvSpPr/>
          <p:nvPr/>
        </p:nvSpPr>
        <p:spPr>
          <a:xfrm>
            <a:off x="812800" y="2844701"/>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developer-years of work saved</a:t>
            </a:r>
            <a:endParaRPr lang="en-US" sz="1400" dirty="0"/>
          </a:p>
        </p:txBody>
      </p:sp>
      <p:sp>
        <p:nvSpPr>
          <p:cNvPr id="6" name="Text 4"/>
          <p:cNvSpPr/>
          <p:nvPr/>
        </p:nvSpPr>
        <p:spPr>
          <a:xfrm>
            <a:off x="4436566" y="1879501"/>
            <a:ext cx="3418535"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$260M</a:t>
            </a:r>
            <a:endParaRPr lang="en-US" sz="7000" dirty="0"/>
          </a:p>
        </p:txBody>
      </p:sp>
      <p:sp>
        <p:nvSpPr>
          <p:cNvPr id="7" name="Text 5"/>
          <p:cNvSpPr/>
          <p:nvPr/>
        </p:nvSpPr>
        <p:spPr>
          <a:xfrm>
            <a:off x="4436566" y="2844701"/>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estimated annualized efficiency gains</a:t>
            </a:r>
            <a:endParaRPr lang="en-US" sz="1400" dirty="0"/>
          </a:p>
        </p:txBody>
      </p:sp>
      <p:sp>
        <p:nvSpPr>
          <p:cNvPr id="8" name="Text 6"/>
          <p:cNvSpPr/>
          <p:nvPr/>
        </p:nvSpPr>
        <p:spPr>
          <a:xfrm>
            <a:off x="8060333" y="1879501"/>
            <a:ext cx="3418535"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79%</a:t>
            </a:r>
            <a:endParaRPr lang="en-US" sz="7000" dirty="0"/>
          </a:p>
        </p:txBody>
      </p:sp>
      <p:sp>
        <p:nvSpPr>
          <p:cNvPr id="9" name="Text 7"/>
          <p:cNvSpPr/>
          <p:nvPr/>
        </p:nvSpPr>
        <p:spPr>
          <a:xfrm>
            <a:off x="8060333" y="2844701"/>
            <a:ext cx="34185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of AI-generated code reviews shipped without changes</a:t>
            </a:r>
            <a:endParaRPr lang="en-US" sz="1400" dirty="0"/>
          </a:p>
        </p:txBody>
      </p:sp>
      <p:sp>
        <p:nvSpPr>
          <p:cNvPr id="10" name="Shape 8"/>
          <p:cNvSpPr/>
          <p:nvPr/>
        </p:nvSpPr>
        <p:spPr>
          <a:xfrm>
            <a:off x="815975" y="4928394"/>
            <a:ext cx="10560050" cy="910431"/>
          </a:xfrm>
          <a:prstGeom prst="roundRect">
            <a:avLst>
              <a:gd name="adj" fmla="val 10811"/>
            </a:avLst>
          </a:prstGeom>
          <a:solidFill>
            <a:srgbClr val="FBFBFC"/>
          </a:solidFill>
          <a:ln w="6350">
            <a:solidFill>
              <a:srgbClr val="D9D9D9"/>
            </a:solidFill>
            <a:prstDash val="solid"/>
          </a:ln>
        </p:spPr>
      </p:sp>
      <p:pic>
        <p:nvPicPr>
          <p:cNvPr id="11" name="Image 0" descr="Clock">    </p:cNvPr>
          <p:cNvPicPr>
            <a:picLocks noChangeAspect="1"/>
          </p:cNvPicPr>
          <p:nvPr/>
        </p:nvPicPr>
        <p:blipFill>
          <a:blip r:embed="rId1"/>
          <a:srcRect l="0" r="0" t="0" b="0"/>
          <a:stretch/>
        </p:blipFill>
        <p:spPr>
          <a:xfrm>
            <a:off x="1022350" y="5205809"/>
            <a:ext cx="355600" cy="355600"/>
          </a:xfrm>
          <a:prstGeom prst="rect">
            <a:avLst/>
          </a:prstGeom>
        </p:spPr>
      </p:pic>
      <p:sp>
        <p:nvSpPr>
          <p:cNvPr id="12" name="Text 9"/>
          <p:cNvSpPr/>
          <p:nvPr/>
        </p:nvSpPr>
        <p:spPr>
          <a:xfrm>
            <a:off x="1530350" y="5134769"/>
            <a:ext cx="9928479"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Java 17 upgrades fell from ~50 developer-days to a few hours per app; over half of production Java systems upgraded in under six months.</a:t>
            </a:r>
            <a:endParaRPr lang="en-US" sz="14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Andy Jassy (Amazon CEO), LinkedIn, Aug 2024 — company-reported estimates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Independent research backs the trend — with a caveat</a:t>
            </a:r>
            <a:endParaRPr lang="en-US" sz="3200" dirty="0"/>
          </a:p>
        </p:txBody>
      </p:sp>
      <p:sp>
        <p:nvSpPr>
          <p:cNvPr id="4" name="Shape 2"/>
          <p:cNvSpPr/>
          <p:nvPr/>
        </p:nvSpPr>
        <p:spPr>
          <a:xfrm>
            <a:off x="815975" y="2329656"/>
            <a:ext cx="3380284" cy="3712369"/>
          </a:xfrm>
          <a:prstGeom prst="roundRect">
            <a:avLst>
              <a:gd name="adj" fmla="val 3663"/>
            </a:avLst>
          </a:prstGeom>
          <a:solidFill>
            <a:srgbClr val="FBFBFC"/>
          </a:solidFill>
          <a:ln w="6350">
            <a:solidFill>
              <a:srgbClr val="D9D9D9"/>
            </a:solidFill>
            <a:prstDash val="solid"/>
          </a:ln>
        </p:spPr>
      </p:sp>
      <p:sp>
        <p:nvSpPr>
          <p:cNvPr id="5" name="Text 3"/>
          <p:cNvSpPr/>
          <p:nvPr/>
        </p:nvSpPr>
        <p:spPr>
          <a:xfrm>
            <a:off x="1073150" y="2586831"/>
            <a:ext cx="295191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55.8%</a:t>
            </a:r>
            <a:endParaRPr lang="en-US" sz="7000" dirty="0"/>
          </a:p>
        </p:txBody>
      </p:sp>
      <p:sp>
        <p:nvSpPr>
          <p:cNvPr id="6" name="Text 4"/>
          <p:cNvSpPr/>
          <p:nvPr/>
        </p:nvSpPr>
        <p:spPr>
          <a:xfrm>
            <a:off x="1073150" y="360283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faster task completion with Copilot in a randomized controlled trial</a:t>
            </a:r>
            <a:endParaRPr lang="en-US" sz="1400" dirty="0"/>
          </a:p>
        </p:txBody>
      </p:sp>
      <p:sp>
        <p:nvSpPr>
          <p:cNvPr id="7" name="Text 5"/>
          <p:cNvSpPr/>
          <p:nvPr/>
        </p:nvSpPr>
        <p:spPr>
          <a:xfrm>
            <a:off x="1073150"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Peng et al., arXiv:2302.06590, 2023</a:t>
            </a:r>
            <a:endParaRPr lang="en-US" sz="1200" dirty="0"/>
          </a:p>
        </p:txBody>
      </p:sp>
      <p:sp>
        <p:nvSpPr>
          <p:cNvPr id="8" name="Shape 6"/>
          <p:cNvSpPr/>
          <p:nvPr/>
        </p:nvSpPr>
        <p:spPr>
          <a:xfrm>
            <a:off x="4405809" y="2329656"/>
            <a:ext cx="3380284" cy="3712369"/>
          </a:xfrm>
          <a:prstGeom prst="roundRect">
            <a:avLst>
              <a:gd name="adj" fmla="val 3663"/>
            </a:avLst>
          </a:prstGeom>
          <a:solidFill>
            <a:srgbClr val="FBFBFC"/>
          </a:solidFill>
          <a:ln w="6350">
            <a:solidFill>
              <a:srgbClr val="D9D9D9"/>
            </a:solidFill>
            <a:prstDash val="solid"/>
          </a:ln>
        </p:spPr>
      </p:sp>
      <p:sp>
        <p:nvSpPr>
          <p:cNvPr id="9" name="Text 7"/>
          <p:cNvSpPr/>
          <p:nvPr/>
        </p:nvSpPr>
        <p:spPr>
          <a:xfrm>
            <a:off x="4662984" y="2586831"/>
            <a:ext cx="295191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90%</a:t>
            </a:r>
            <a:endParaRPr lang="en-US" sz="7000" dirty="0"/>
          </a:p>
        </p:txBody>
      </p:sp>
      <p:sp>
        <p:nvSpPr>
          <p:cNvPr id="10" name="Text 8"/>
          <p:cNvSpPr/>
          <p:nvPr/>
        </p:nvSpPr>
        <p:spPr>
          <a:xfrm>
            <a:off x="4662984" y="360283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of ~5,000 surveyed technology professionals use AI at work</a:t>
            </a:r>
            <a:endParaRPr lang="en-US" sz="1400" dirty="0"/>
          </a:p>
        </p:txBody>
      </p:sp>
      <p:sp>
        <p:nvSpPr>
          <p:cNvPr id="11" name="Text 9"/>
          <p:cNvSpPr/>
          <p:nvPr/>
        </p:nvSpPr>
        <p:spPr>
          <a:xfrm>
            <a:off x="4662984"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DORA, 2025</a:t>
            </a:r>
            <a:endParaRPr lang="en-US" sz="1200" dirty="0"/>
          </a:p>
        </p:txBody>
      </p:sp>
      <p:sp>
        <p:nvSpPr>
          <p:cNvPr id="12" name="Shape 10"/>
          <p:cNvSpPr/>
          <p:nvPr/>
        </p:nvSpPr>
        <p:spPr>
          <a:xfrm>
            <a:off x="7995642" y="2329656"/>
            <a:ext cx="3380284" cy="3712369"/>
          </a:xfrm>
          <a:prstGeom prst="roundRect">
            <a:avLst>
              <a:gd name="adj" fmla="val 3663"/>
            </a:avLst>
          </a:prstGeom>
          <a:solidFill>
            <a:srgbClr val="FBFBFC"/>
          </a:solidFill>
          <a:ln w="6350">
            <a:solidFill>
              <a:srgbClr val="D9D9D9"/>
            </a:solidFill>
            <a:prstDash val="solid"/>
          </a:ln>
        </p:spPr>
      </p:sp>
      <p:sp>
        <p:nvSpPr>
          <p:cNvPr id="13" name="Text 11"/>
          <p:cNvSpPr/>
          <p:nvPr/>
        </p:nvSpPr>
        <p:spPr>
          <a:xfrm>
            <a:off x="8252817" y="2586831"/>
            <a:ext cx="295191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A5A8A"/>
                </a:solidFill>
                <a:latin typeface="Space Grotesk" pitchFamily="34" charset="0"/>
                <a:ea typeface="Space Grotesk" pitchFamily="34" charset="-122"/>
                <a:cs typeface="Space Grotesk" pitchFamily="34" charset="-120"/>
              </a:rPr>
              <a:t>Amplifier</a:t>
            </a:r>
            <a:endParaRPr lang="en-US" sz="3200" dirty="0"/>
          </a:p>
        </p:txBody>
      </p:sp>
      <p:sp>
        <p:nvSpPr>
          <p:cNvPr id="14" name="Text 12"/>
          <p:cNvSpPr/>
          <p:nvPr/>
        </p:nvSpPr>
        <p:spPr>
          <a:xfrm>
            <a:off x="8252817" y="3160812"/>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AI raised delivery throughput, but its link to stability stayed negative</a:t>
            </a:r>
            <a:endParaRPr lang="en-US" sz="1400" dirty="0"/>
          </a:p>
        </p:txBody>
      </p:sp>
      <p:sp>
        <p:nvSpPr>
          <p:cNvPr id="15" name="Text 13"/>
          <p:cNvSpPr/>
          <p:nvPr/>
        </p:nvSpPr>
        <p:spPr>
          <a:xfrm>
            <a:off x="8252817"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DORA, 2025</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The honest scoreboard</a:t>
            </a:r>
            <a:endParaRPr lang="en-US" sz="3200" dirty="0"/>
          </a:p>
        </p:txBody>
      </p:sp>
      <p:sp>
        <p:nvSpPr>
          <p:cNvPr id="4" name="Shape 2"/>
          <p:cNvSpPr/>
          <p:nvPr/>
        </p:nvSpPr>
        <p:spPr>
          <a:xfrm>
            <a:off x="815975" y="1882676"/>
            <a:ext cx="6419850" cy="1890911"/>
          </a:xfrm>
          <a:prstGeom prst="roundRect">
            <a:avLst>
              <a:gd name="adj" fmla="val 5205"/>
            </a:avLst>
          </a:prstGeom>
          <a:solidFill>
            <a:srgbClr val="FBFBFC"/>
          </a:solidFill>
          <a:ln w="6350">
            <a:solidFill>
              <a:srgbClr val="D9D9D9"/>
            </a:solidFill>
            <a:prstDash val="solid"/>
          </a:ln>
        </p:spPr>
      </p:sp>
      <p:sp>
        <p:nvSpPr>
          <p:cNvPr id="5" name="Text 3"/>
          <p:cNvSpPr/>
          <p:nvPr/>
        </p:nvSpPr>
        <p:spPr>
          <a:xfrm>
            <a:off x="1022350" y="2089051"/>
            <a:ext cx="618731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METR, 2025 · randomized trial</a:t>
            </a:r>
            <a:endParaRPr lang="en-US" sz="1800" dirty="0"/>
          </a:p>
        </p:txBody>
      </p:sp>
      <p:sp>
        <p:nvSpPr>
          <p:cNvPr id="6" name="Text 4"/>
          <p:cNvSpPr/>
          <p:nvPr/>
        </p:nvSpPr>
        <p:spPr>
          <a:xfrm>
            <a:off x="1022350" y="25360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Developers predicted</a:t>
            </a:r>
            <a:endParaRPr lang="en-US" sz="1200" dirty="0"/>
          </a:p>
        </p:txBody>
      </p:sp>
      <p:sp>
        <p:nvSpPr>
          <p:cNvPr id="7" name="Shape 5"/>
          <p:cNvSpPr/>
          <p:nvPr/>
        </p:nvSpPr>
        <p:spPr>
          <a:xfrm>
            <a:off x="2673350" y="2490291"/>
            <a:ext cx="2438400" cy="304800"/>
          </a:xfrm>
          <a:prstGeom prst="roundRect">
            <a:avLst>
              <a:gd name="adj" fmla="val 16667"/>
            </a:avLst>
          </a:prstGeom>
          <a:solidFill>
            <a:srgbClr val="0B3C6F"/>
          </a:solidFill>
          <a:ln/>
        </p:spPr>
      </p:sp>
      <p:sp>
        <p:nvSpPr>
          <p:cNvPr id="8" name="Text 6"/>
          <p:cNvSpPr/>
          <p:nvPr/>
        </p:nvSpPr>
        <p:spPr>
          <a:xfrm>
            <a:off x="5238750" y="2518271"/>
            <a:ext cx="109180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24% faster</a:t>
            </a:r>
            <a:endParaRPr lang="en-US" sz="1400" dirty="0"/>
          </a:p>
        </p:txBody>
      </p:sp>
      <p:sp>
        <p:nvSpPr>
          <p:cNvPr id="9" name="Text 7"/>
          <p:cNvSpPr/>
          <p:nvPr/>
        </p:nvSpPr>
        <p:spPr>
          <a:xfrm>
            <a:off x="1022350" y="296783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Measured</a:t>
            </a:r>
            <a:endParaRPr lang="en-US" sz="1200" dirty="0"/>
          </a:p>
        </p:txBody>
      </p:sp>
      <p:sp>
        <p:nvSpPr>
          <p:cNvPr id="10" name="Shape 8"/>
          <p:cNvSpPr/>
          <p:nvPr/>
        </p:nvSpPr>
        <p:spPr>
          <a:xfrm>
            <a:off x="2673350" y="2922091"/>
            <a:ext cx="1930400" cy="304800"/>
          </a:xfrm>
          <a:prstGeom prst="roundRect">
            <a:avLst>
              <a:gd name="adj" fmla="val 16667"/>
            </a:avLst>
          </a:prstGeom>
          <a:solidFill>
            <a:srgbClr val="00AEEF"/>
          </a:solidFill>
          <a:ln/>
        </p:spPr>
      </p:sp>
      <p:sp>
        <p:nvSpPr>
          <p:cNvPr id="11" name="Text 9"/>
          <p:cNvSpPr/>
          <p:nvPr/>
        </p:nvSpPr>
        <p:spPr>
          <a:xfrm>
            <a:off x="4730750" y="2950071"/>
            <a:ext cx="11746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1E1E"/>
                </a:solidFill>
                <a:latin typeface="IBM Plex Sans" pitchFamily="34" charset="0"/>
                <a:ea typeface="IBM Plex Sans" pitchFamily="34" charset="-122"/>
                <a:cs typeface="IBM Plex Sans" pitchFamily="34" charset="-120"/>
              </a:rPr>
              <a:t>19% slower</a:t>
            </a:r>
            <a:endParaRPr lang="en-US" sz="1400" dirty="0"/>
          </a:p>
        </p:txBody>
      </p:sp>
      <p:sp>
        <p:nvSpPr>
          <p:cNvPr id="12" name="Text 10"/>
          <p:cNvSpPr/>
          <p:nvPr/>
        </p:nvSpPr>
        <p:spPr>
          <a:xfrm>
            <a:off x="1022350" y="3353891"/>
            <a:ext cx="61873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16 experienced developers · 246 tasks · their own mature repos</a:t>
            </a:r>
            <a:endParaRPr lang="en-US" sz="1200" dirty="0"/>
          </a:p>
        </p:txBody>
      </p:sp>
      <p:sp>
        <p:nvSpPr>
          <p:cNvPr id="13" name="Shape 11"/>
          <p:cNvSpPr/>
          <p:nvPr/>
        </p:nvSpPr>
        <p:spPr>
          <a:xfrm>
            <a:off x="7445375" y="1882676"/>
            <a:ext cx="3930650" cy="1890911"/>
          </a:xfrm>
          <a:prstGeom prst="roundRect">
            <a:avLst>
              <a:gd name="adj" fmla="val 5205"/>
            </a:avLst>
          </a:prstGeom>
          <a:solidFill>
            <a:srgbClr val="FBFBFC"/>
          </a:solidFill>
          <a:ln w="6350">
            <a:solidFill>
              <a:srgbClr val="D9D9D9"/>
            </a:solidFill>
            <a:prstDash val="solid"/>
          </a:ln>
        </p:spPr>
      </p:sp>
      <p:sp>
        <p:nvSpPr>
          <p:cNvPr id="14" name="Text 12"/>
          <p:cNvSpPr/>
          <p:nvPr/>
        </p:nvSpPr>
        <p:spPr>
          <a:xfrm>
            <a:off x="7651750" y="2089051"/>
            <a:ext cx="362343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METR, 2026 update</a:t>
            </a:r>
            <a:endParaRPr lang="en-US" sz="1800" dirty="0"/>
          </a:p>
        </p:txBody>
      </p:sp>
      <p:sp>
        <p:nvSpPr>
          <p:cNvPr id="15" name="Text 13"/>
          <p:cNvSpPr/>
          <p:nvPr/>
        </p:nvSpPr>
        <p:spPr>
          <a:xfrm>
            <a:off x="7651750" y="2490291"/>
            <a:ext cx="3623437"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2025 results now out of date. New estimate leans toward a speedup, but is unreliable: many developers refused to work without AI.</a:t>
            </a:r>
            <a:endParaRPr lang="en-US" sz="1400" dirty="0"/>
          </a:p>
        </p:txBody>
      </p:sp>
      <p:sp>
        <p:nvSpPr>
          <p:cNvPr id="16" name="Shape 14"/>
          <p:cNvSpPr/>
          <p:nvPr/>
        </p:nvSpPr>
        <p:spPr>
          <a:xfrm>
            <a:off x="812800" y="5181600"/>
            <a:ext cx="10566400" cy="660400"/>
          </a:xfrm>
          <a:prstGeom prst="roundRect">
            <a:avLst>
              <a:gd name="adj" fmla="val 15385"/>
            </a:avLst>
          </a:prstGeom>
          <a:solidFill>
            <a:srgbClr val="ECECEC"/>
          </a:solidFill>
          <a:ln/>
        </p:spPr>
      </p:sp>
      <p:pic>
        <p:nvPicPr>
          <p:cNvPr id="17" name="Image 0" descr="Chart">    </p:cNvPr>
          <p:cNvPicPr>
            <a:picLocks noChangeAspect="1"/>
          </p:cNvPicPr>
          <p:nvPr/>
        </p:nvPicPr>
        <p:blipFill>
          <a:blip r:embed="rId1"/>
          <a:srcRect l="0" r="0" t="0" b="0"/>
          <a:stretch/>
        </p:blipFill>
        <p:spPr>
          <a:xfrm>
            <a:off x="1016000" y="5359400"/>
            <a:ext cx="304800" cy="304800"/>
          </a:xfrm>
          <a:prstGeom prst="rect">
            <a:avLst/>
          </a:prstGeom>
        </p:spPr>
      </p:pic>
      <p:sp>
        <p:nvSpPr>
          <p:cNvPr id="18" name="Text 15"/>
          <p:cNvSpPr/>
          <p:nvPr/>
        </p:nvSpPr>
        <p:spPr>
          <a:xfrm>
            <a:off x="1473200" y="5387380"/>
            <a:ext cx="749581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Takeaway: feelings aren’t metrics. We’ll measure delivery outcomes, not vibes.</a:t>
            </a:r>
            <a:endParaRPr lang="en-US" sz="14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Becker et al., METR, arXiv:2507.09089 (2025); METR, “We are Changing our Developer Productivity Experiment Design” (2026)</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09 · WHY WE ADOPT</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What successful adopters have in common</a:t>
            </a:r>
            <a:endParaRPr lang="en-US" sz="3200" dirty="0"/>
          </a:p>
        </p:txBody>
      </p:sp>
      <p:sp>
        <p:nvSpPr>
          <p:cNvPr id="4" name="Shape 2"/>
          <p:cNvSpPr/>
          <p:nvPr/>
        </p:nvSpPr>
        <p:spPr>
          <a:xfrm>
            <a:off x="815975" y="1882676"/>
            <a:ext cx="5200650" cy="1738709"/>
          </a:xfrm>
          <a:prstGeom prst="roundRect">
            <a:avLst>
              <a:gd name="adj" fmla="val 5661"/>
            </a:avLst>
          </a:prstGeom>
          <a:solidFill>
            <a:srgbClr val="FBFBFC"/>
          </a:solidFill>
          <a:ln w="6350">
            <a:solidFill>
              <a:srgbClr val="D9D9D9"/>
            </a:solidFill>
            <a:prstDash val="solid"/>
          </a:ln>
        </p:spPr>
      </p:sp>
      <p:pic>
        <p:nvPicPr>
          <p:cNvPr id="5" name="Image 0" descr="Users">    </p:cNvPr>
          <p:cNvPicPr>
            <a:picLocks noChangeAspect="1"/>
          </p:cNvPicPr>
          <p:nvPr/>
        </p:nvPicPr>
        <p:blipFill>
          <a:blip r:embed="rId1"/>
          <a:srcRect l="0" r="0" t="0" b="0"/>
          <a:stretch/>
        </p:blipFill>
        <p:spPr>
          <a:xfrm>
            <a:off x="1022350" y="2574230"/>
            <a:ext cx="355600" cy="355600"/>
          </a:xfrm>
          <a:prstGeom prst="rect">
            <a:avLst/>
          </a:prstGeom>
        </p:spPr>
      </p:pic>
      <p:sp>
        <p:nvSpPr>
          <p:cNvPr id="6" name="Text 3"/>
          <p:cNvSpPr/>
          <p:nvPr/>
        </p:nvSpPr>
        <p:spPr>
          <a:xfrm>
            <a:off x="1555750" y="2337395"/>
            <a:ext cx="43821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A human signs off</a:t>
            </a:r>
            <a:endParaRPr lang="en-US" sz="1800" dirty="0"/>
          </a:p>
        </p:txBody>
      </p:sp>
      <p:sp>
        <p:nvSpPr>
          <p:cNvPr id="7" name="Text 4"/>
          <p:cNvSpPr/>
          <p:nvPr/>
        </p:nvSpPr>
        <p:spPr>
          <a:xfrm>
            <a:off x="1555750" y="2662436"/>
            <a:ext cx="43821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Every AI change has an accountable owner.</a:t>
            </a:r>
            <a:endParaRPr lang="en-US" sz="1400" dirty="0"/>
          </a:p>
        </p:txBody>
      </p:sp>
      <p:sp>
        <p:nvSpPr>
          <p:cNvPr id="8" name="Text 5"/>
          <p:cNvSpPr/>
          <p:nvPr/>
        </p:nvSpPr>
        <p:spPr>
          <a:xfrm>
            <a:off x="1555750" y="2953246"/>
            <a:ext cx="438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Linux DCO · Google’s review step</a:t>
            </a:r>
            <a:endParaRPr lang="en-US" sz="1200" dirty="0"/>
          </a:p>
        </p:txBody>
      </p:sp>
      <p:sp>
        <p:nvSpPr>
          <p:cNvPr id="9" name="Shape 6"/>
          <p:cNvSpPr/>
          <p:nvPr/>
        </p:nvSpPr>
        <p:spPr>
          <a:xfrm>
            <a:off x="6175375" y="1882676"/>
            <a:ext cx="5200650" cy="1738709"/>
          </a:xfrm>
          <a:prstGeom prst="roundRect">
            <a:avLst>
              <a:gd name="adj" fmla="val 5661"/>
            </a:avLst>
          </a:prstGeom>
          <a:solidFill>
            <a:srgbClr val="FBFBFC"/>
          </a:solidFill>
          <a:ln w="6350">
            <a:solidFill>
              <a:srgbClr val="D9D9D9"/>
            </a:solidFill>
            <a:prstDash val="solid"/>
          </a:ln>
        </p:spPr>
      </p:sp>
      <p:pic>
        <p:nvPicPr>
          <p:cNvPr id="10" name="Image 1" descr="CheckCircle">    </p:cNvPr>
          <p:cNvPicPr>
            <a:picLocks noChangeAspect="1"/>
          </p:cNvPicPr>
          <p:nvPr/>
        </p:nvPicPr>
        <p:blipFill>
          <a:blip r:embed="rId2"/>
          <a:srcRect l="0" r="0" t="0" b="0"/>
          <a:stretch/>
        </p:blipFill>
        <p:spPr>
          <a:xfrm>
            <a:off x="6381750" y="2574230"/>
            <a:ext cx="355600" cy="355600"/>
          </a:xfrm>
          <a:prstGeom prst="rect">
            <a:avLst/>
          </a:prstGeom>
        </p:spPr>
      </p:pic>
      <p:sp>
        <p:nvSpPr>
          <p:cNvPr id="11" name="Text 7"/>
          <p:cNvSpPr/>
          <p:nvPr/>
        </p:nvSpPr>
        <p:spPr>
          <a:xfrm>
            <a:off x="6915150" y="2337395"/>
            <a:ext cx="43821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Small batches, strong tests</a:t>
            </a:r>
            <a:endParaRPr lang="en-US" sz="1800" dirty="0"/>
          </a:p>
        </p:txBody>
      </p:sp>
      <p:sp>
        <p:nvSpPr>
          <p:cNvPr id="12" name="Text 8"/>
          <p:cNvSpPr/>
          <p:nvPr/>
        </p:nvSpPr>
        <p:spPr>
          <a:xfrm>
            <a:off x="6915150" y="2662436"/>
            <a:ext cx="43821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Fast feedback catches AI mistakes early.</a:t>
            </a:r>
            <a:endParaRPr lang="en-US" sz="1400" dirty="0"/>
          </a:p>
        </p:txBody>
      </p:sp>
      <p:sp>
        <p:nvSpPr>
          <p:cNvPr id="13" name="Text 9"/>
          <p:cNvSpPr/>
          <p:nvPr/>
        </p:nvSpPr>
        <p:spPr>
          <a:xfrm>
            <a:off x="6915150" y="2953246"/>
            <a:ext cx="438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DORA 2025 AI Capabilities Model</a:t>
            </a:r>
            <a:endParaRPr lang="en-US" sz="1200" dirty="0"/>
          </a:p>
        </p:txBody>
      </p:sp>
      <p:sp>
        <p:nvSpPr>
          <p:cNvPr id="14" name="Shape 10"/>
          <p:cNvSpPr/>
          <p:nvPr/>
        </p:nvSpPr>
        <p:spPr>
          <a:xfrm>
            <a:off x="815975" y="3780135"/>
            <a:ext cx="5200650" cy="1738709"/>
          </a:xfrm>
          <a:prstGeom prst="roundRect">
            <a:avLst>
              <a:gd name="adj" fmla="val 5661"/>
            </a:avLst>
          </a:prstGeom>
          <a:solidFill>
            <a:srgbClr val="FBFBFC"/>
          </a:solidFill>
          <a:ln w="6350">
            <a:solidFill>
              <a:srgbClr val="D9D9D9"/>
            </a:solidFill>
            <a:prstDash val="solid"/>
          </a:ln>
        </p:spPr>
      </p:sp>
      <p:pic>
        <p:nvPicPr>
          <p:cNvPr id="15" name="Image 2" descr="Lock">    </p:cNvPr>
          <p:cNvPicPr>
            <a:picLocks noChangeAspect="1"/>
          </p:cNvPicPr>
          <p:nvPr/>
        </p:nvPicPr>
        <p:blipFill>
          <a:blip r:embed="rId3"/>
          <a:srcRect l="0" r="0" t="0" b="0"/>
          <a:stretch/>
        </p:blipFill>
        <p:spPr>
          <a:xfrm>
            <a:off x="1022350" y="4471690"/>
            <a:ext cx="355600" cy="355600"/>
          </a:xfrm>
          <a:prstGeom prst="rect">
            <a:avLst/>
          </a:prstGeom>
        </p:spPr>
      </p:pic>
      <p:sp>
        <p:nvSpPr>
          <p:cNvPr id="16" name="Text 11"/>
          <p:cNvSpPr/>
          <p:nvPr/>
        </p:nvSpPr>
        <p:spPr>
          <a:xfrm>
            <a:off x="1555750" y="4114899"/>
            <a:ext cx="43821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Deterministic guardrails</a:t>
            </a:r>
            <a:endParaRPr lang="en-US" sz="1800" dirty="0"/>
          </a:p>
        </p:txBody>
      </p:sp>
      <p:sp>
        <p:nvSpPr>
          <p:cNvPr id="17" name="Text 12"/>
          <p:cNvSpPr/>
          <p:nvPr/>
        </p:nvSpPr>
        <p:spPr>
          <a:xfrm>
            <a:off x="1555750" y="4439940"/>
            <a:ext cx="43821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Policies and hooks enforce what prompts only suggest.</a:t>
            </a:r>
            <a:endParaRPr lang="en-US" sz="1400" dirty="0"/>
          </a:p>
        </p:txBody>
      </p:sp>
      <p:sp>
        <p:nvSpPr>
          <p:cNvPr id="18" name="Text 13"/>
          <p:cNvSpPr/>
          <p:nvPr/>
        </p:nvSpPr>
        <p:spPr>
          <a:xfrm>
            <a:off x="1555750" y="4970760"/>
            <a:ext cx="438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GitHub Docs: hooks</a:t>
            </a:r>
            <a:endParaRPr lang="en-US" sz="1200" dirty="0"/>
          </a:p>
        </p:txBody>
      </p:sp>
      <p:sp>
        <p:nvSpPr>
          <p:cNvPr id="19" name="Shape 14"/>
          <p:cNvSpPr/>
          <p:nvPr/>
        </p:nvSpPr>
        <p:spPr>
          <a:xfrm>
            <a:off x="6175375" y="3780135"/>
            <a:ext cx="5200650" cy="1738709"/>
          </a:xfrm>
          <a:prstGeom prst="roundRect">
            <a:avLst>
              <a:gd name="adj" fmla="val 5661"/>
            </a:avLst>
          </a:prstGeom>
          <a:solidFill>
            <a:srgbClr val="FBFBFC"/>
          </a:solidFill>
          <a:ln w="6350">
            <a:solidFill>
              <a:srgbClr val="D9D9D9"/>
            </a:solidFill>
            <a:prstDash val="solid"/>
          </a:ln>
        </p:spPr>
      </p:sp>
      <p:pic>
        <p:nvPicPr>
          <p:cNvPr id="20" name="Image 3" descr="Book">    </p:cNvPr>
          <p:cNvPicPr>
            <a:picLocks noChangeAspect="1"/>
          </p:cNvPicPr>
          <p:nvPr/>
        </p:nvPicPr>
        <p:blipFill>
          <a:blip r:embed="rId4"/>
          <a:srcRect l="0" r="0" t="0" b="0"/>
          <a:stretch/>
        </p:blipFill>
        <p:spPr>
          <a:xfrm>
            <a:off x="6381750" y="4471690"/>
            <a:ext cx="355600" cy="355600"/>
          </a:xfrm>
          <a:prstGeom prst="rect">
            <a:avLst/>
          </a:prstGeom>
        </p:spPr>
      </p:pic>
      <p:sp>
        <p:nvSpPr>
          <p:cNvPr id="21" name="Text 15"/>
          <p:cNvSpPr/>
          <p:nvPr/>
        </p:nvSpPr>
        <p:spPr>
          <a:xfrm>
            <a:off x="6915150" y="4234855"/>
            <a:ext cx="438213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Curated context</a:t>
            </a:r>
            <a:endParaRPr lang="en-US" sz="1800" dirty="0"/>
          </a:p>
        </p:txBody>
      </p:sp>
      <p:sp>
        <p:nvSpPr>
          <p:cNvPr id="22" name="Text 16"/>
          <p:cNvSpPr/>
          <p:nvPr/>
        </p:nvSpPr>
        <p:spPr>
          <a:xfrm>
            <a:off x="6915150" y="4559895"/>
            <a:ext cx="43821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E1E1E"/>
                </a:solidFill>
                <a:latin typeface="IBM Plex Sans" pitchFamily="34" charset="0"/>
                <a:ea typeface="IBM Plex Sans" pitchFamily="34" charset="-122"/>
                <a:cs typeface="IBM Plex Sans" pitchFamily="34" charset="-120"/>
              </a:rPr>
              <a:t>Instructions and skills carry team knowledge.</a:t>
            </a:r>
            <a:endParaRPr lang="en-US" sz="1400" dirty="0"/>
          </a:p>
        </p:txBody>
      </p:sp>
      <p:sp>
        <p:nvSpPr>
          <p:cNvPr id="23" name="Text 17"/>
          <p:cNvSpPr/>
          <p:nvPr/>
        </p:nvSpPr>
        <p:spPr>
          <a:xfrm>
            <a:off x="6915150" y="4850705"/>
            <a:ext cx="43821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E5E"/>
                </a:solidFill>
                <a:latin typeface="IBM Plex Sans" pitchFamily="34" charset="0"/>
                <a:ea typeface="IBM Plex Sans" pitchFamily="34" charset="-122"/>
                <a:cs typeface="IBM Plex Sans" pitchFamily="34" charset="-120"/>
              </a:rPr>
              <a:t>METR 2025 (context factor)</a:t>
            </a:r>
            <a:endParaRPr lang="en-US" sz="1200" dirty="0"/>
          </a:p>
        </p:txBody>
      </p:sp>
      <p:sp>
        <p:nvSpPr>
          <p:cNvPr id="24" name="Text 18"/>
          <p:cNvSpPr/>
          <p:nvPr/>
        </p:nvSpPr>
        <p:spPr>
          <a:xfrm>
            <a:off x="812800" y="572522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A5A8A"/>
                </a:solidFill>
                <a:latin typeface="Space Grotesk" pitchFamily="34" charset="0"/>
                <a:ea typeface="Space Grotesk" pitchFamily="34" charset="-122"/>
                <a:cs typeface="Space Grotesk" pitchFamily="34" charset="-120"/>
              </a:rPr>
              <a:t>“AI doesn’t fix a team; it amplifies what’s already there.” — DORA, 2025</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Where we go from here</a:t>
            </a:r>
            <a:endParaRPr lang="en-US" sz="3200" dirty="0"/>
          </a:p>
        </p:txBody>
      </p:sp>
      <p:sp>
        <p:nvSpPr>
          <p:cNvPr id="4" name="Shape 2"/>
          <p:cNvSpPr/>
          <p:nvPr/>
        </p:nvSpPr>
        <p:spPr>
          <a:xfrm>
            <a:off x="815975" y="1882676"/>
            <a:ext cx="3380284" cy="3707309"/>
          </a:xfrm>
          <a:prstGeom prst="roundRect">
            <a:avLst>
              <a:gd name="adj" fmla="val 3663"/>
            </a:avLst>
          </a:prstGeom>
          <a:solidFill>
            <a:srgbClr val="FBFBFC"/>
          </a:solidFill>
          <a:ln w="6350">
            <a:solidFill>
              <a:srgbClr val="D9D9D9"/>
            </a:solidFill>
            <a:prstDash val="solid"/>
          </a:ln>
        </p:spPr>
      </p:sp>
      <p:sp>
        <p:nvSpPr>
          <p:cNvPr id="5" name="Text 3"/>
          <p:cNvSpPr/>
          <p:nvPr/>
        </p:nvSpPr>
        <p:spPr>
          <a:xfrm>
            <a:off x="1073150" y="2139851"/>
            <a:ext cx="295191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1</a:t>
            </a:r>
            <a:endParaRPr lang="en-US" sz="7000" dirty="0"/>
          </a:p>
        </p:txBody>
      </p:sp>
      <p:sp>
        <p:nvSpPr>
          <p:cNvPr id="6" name="Text 4"/>
          <p:cNvSpPr/>
          <p:nvPr/>
        </p:nvSpPr>
        <p:spPr>
          <a:xfrm>
            <a:off x="1073150" y="3130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Try it</a:t>
            </a:r>
            <a:endParaRPr lang="en-US" sz="1800" dirty="0"/>
          </a:p>
        </p:txBody>
      </p:sp>
      <p:sp>
        <p:nvSpPr>
          <p:cNvPr id="7" name="Text 5"/>
          <p:cNvSpPr/>
          <p:nvPr/>
        </p:nvSpPr>
        <p:spPr>
          <a:xfrm>
            <a:off x="1073150" y="35062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Install Copilot CLI and run one real task in a sandbox repo.</a:t>
            </a:r>
            <a:endParaRPr lang="en-US" sz="1400" dirty="0"/>
          </a:p>
        </p:txBody>
      </p:sp>
      <p:sp>
        <p:nvSpPr>
          <p:cNvPr id="8" name="Shape 6"/>
          <p:cNvSpPr/>
          <p:nvPr/>
        </p:nvSpPr>
        <p:spPr>
          <a:xfrm>
            <a:off x="4405809" y="1882676"/>
            <a:ext cx="3380284" cy="3707309"/>
          </a:xfrm>
          <a:prstGeom prst="roundRect">
            <a:avLst>
              <a:gd name="adj" fmla="val 3663"/>
            </a:avLst>
          </a:prstGeom>
          <a:solidFill>
            <a:srgbClr val="FBFBFC"/>
          </a:solidFill>
          <a:ln w="6350">
            <a:solidFill>
              <a:srgbClr val="D9D9D9"/>
            </a:solidFill>
            <a:prstDash val="solid"/>
          </a:ln>
        </p:spPr>
      </p:sp>
      <p:sp>
        <p:nvSpPr>
          <p:cNvPr id="9" name="Text 7"/>
          <p:cNvSpPr/>
          <p:nvPr/>
        </p:nvSpPr>
        <p:spPr>
          <a:xfrm>
            <a:off x="4662984" y="2139851"/>
            <a:ext cx="295191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2</a:t>
            </a:r>
            <a:endParaRPr lang="en-US" sz="7000" dirty="0"/>
          </a:p>
        </p:txBody>
      </p:sp>
      <p:sp>
        <p:nvSpPr>
          <p:cNvPr id="10" name="Text 8"/>
          <p:cNvSpPr/>
          <p:nvPr/>
        </p:nvSpPr>
        <p:spPr>
          <a:xfrm>
            <a:off x="4662984" y="3130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Teach it</a:t>
            </a:r>
            <a:endParaRPr lang="en-US" sz="1800" dirty="0"/>
          </a:p>
        </p:txBody>
      </p:sp>
      <p:sp>
        <p:nvSpPr>
          <p:cNvPr id="11" name="Text 9"/>
          <p:cNvSpPr/>
          <p:nvPr/>
        </p:nvSpPr>
        <p:spPr>
          <a:xfrm>
            <a:off x="4662984" y="35062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Add an AGENTS.md with our build, test, and style rules.</a:t>
            </a:r>
            <a:endParaRPr lang="en-US" sz="1400" dirty="0"/>
          </a:p>
        </p:txBody>
      </p:sp>
      <p:sp>
        <p:nvSpPr>
          <p:cNvPr id="12" name="Shape 10"/>
          <p:cNvSpPr/>
          <p:nvPr/>
        </p:nvSpPr>
        <p:spPr>
          <a:xfrm>
            <a:off x="7995642" y="1882676"/>
            <a:ext cx="3380284" cy="3707309"/>
          </a:xfrm>
          <a:prstGeom prst="roundRect">
            <a:avLst>
              <a:gd name="adj" fmla="val 3663"/>
            </a:avLst>
          </a:prstGeom>
          <a:solidFill>
            <a:srgbClr val="FBFBFC"/>
          </a:solidFill>
          <a:ln w="6350">
            <a:solidFill>
              <a:srgbClr val="D9D9D9"/>
            </a:solidFill>
            <a:prstDash val="solid"/>
          </a:ln>
        </p:spPr>
      </p:sp>
      <p:sp>
        <p:nvSpPr>
          <p:cNvPr id="13" name="Text 11"/>
          <p:cNvSpPr/>
          <p:nvPr/>
        </p:nvSpPr>
        <p:spPr>
          <a:xfrm>
            <a:off x="8252817" y="2139851"/>
            <a:ext cx="295191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0A5A8A"/>
                </a:solidFill>
                <a:latin typeface="Space Grotesk" pitchFamily="34" charset="0"/>
                <a:ea typeface="Space Grotesk" pitchFamily="34" charset="-122"/>
                <a:cs typeface="Space Grotesk" pitchFamily="34" charset="-120"/>
              </a:rPr>
              <a:t>3</a:t>
            </a:r>
            <a:endParaRPr lang="en-US" sz="7000" dirty="0"/>
          </a:p>
        </p:txBody>
      </p:sp>
      <p:sp>
        <p:nvSpPr>
          <p:cNvPr id="14" name="Text 12"/>
          <p:cNvSpPr/>
          <p:nvPr/>
        </p:nvSpPr>
        <p:spPr>
          <a:xfrm>
            <a:off x="8252817" y="3130451"/>
            <a:ext cx="295191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1E1E"/>
                </a:solidFill>
                <a:latin typeface="Space Grotesk" pitchFamily="34" charset="0"/>
                <a:ea typeface="Space Grotesk" pitchFamily="34" charset="-122"/>
                <a:cs typeface="Space Grotesk" pitchFamily="34" charset="-120"/>
              </a:rPr>
              <a:t>Guard it</a:t>
            </a:r>
            <a:endParaRPr lang="en-US" sz="1800" dirty="0"/>
          </a:p>
        </p:txBody>
      </p:sp>
      <p:sp>
        <p:nvSpPr>
          <p:cNvPr id="15" name="Text 13"/>
          <p:cNvSpPr/>
          <p:nvPr/>
        </p:nvSpPr>
        <p:spPr>
          <a:xfrm>
            <a:off x="8252817" y="3506291"/>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E1E1E"/>
                </a:solidFill>
                <a:latin typeface="IBM Plex Sans" pitchFamily="34" charset="0"/>
                <a:ea typeface="IBM Plex Sans" pitchFamily="34" charset="-122"/>
                <a:cs typeface="IBM Plex Sans" pitchFamily="34" charset="-120"/>
              </a:rPr>
              <a:t>Pilot one hook — [build check / protected paths] on [repo].</a:t>
            </a:r>
            <a:endParaRPr lang="en-US" sz="1400" dirty="0"/>
          </a:p>
        </p:txBody>
      </p:sp>
      <p:sp>
        <p:nvSpPr>
          <p:cNvPr id="16" name="Text 14"/>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IBM Plex Sans" pitchFamily="34" charset="0"/>
                <a:ea typeface="IBM Plex Sans" pitchFamily="34" charset="-122"/>
                <a:cs typeface="IBM Plex Sans" pitchFamily="34" charset="-120"/>
              </a:rPr>
              <a:t>[Pilot or hackathon date] · Questions: [contact] · Full references follow.</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Sources (1 of 3)</a:t>
            </a:r>
            <a:endParaRPr lang="en-US" sz="3200" dirty="0"/>
          </a:p>
        </p:txBody>
      </p:sp>
      <p:sp>
        <p:nvSpPr>
          <p:cNvPr id="4" name="Text 2"/>
          <p:cNvSpPr/>
          <p:nvPr/>
        </p:nvSpPr>
        <p:spPr>
          <a:xfrm>
            <a:off x="812800" y="1828701"/>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a:t>
            </a:r>
            <a:r>
              <a:rPr lang="en-US" sz="1200" dirty="0">
                <a:solidFill>
                  <a:srgbClr val="1E1E1E"/>
                </a:solidFill>
                <a:latin typeface="IBM Plex Sans" pitchFamily="34" charset="0"/>
                <a:ea typeface="IBM Plex Sans" pitchFamily="34" charset="-122"/>
                <a:cs typeface="IBM Plex Sans" pitchFamily="34" charset="-120"/>
              </a:rPr>
              <a:t> Vaswani et al. (2017). Attention Is All You Need. NeurIPS. arXiv:1706.03762</a:t>
            </a:r>
            <a:endParaRPr lang="en-US" sz="1200" dirty="0"/>
          </a:p>
        </p:txBody>
      </p:sp>
      <p:sp>
        <p:nvSpPr>
          <p:cNvPr id="5" name="Text 3"/>
          <p:cNvSpPr/>
          <p:nvPr/>
        </p:nvSpPr>
        <p:spPr>
          <a:xfrm>
            <a:off x="812800" y="2313682"/>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a:t>
            </a:r>
            <a:r>
              <a:rPr lang="en-US" sz="1200" dirty="0">
                <a:solidFill>
                  <a:srgbClr val="1E1E1E"/>
                </a:solidFill>
                <a:latin typeface="IBM Plex Sans" pitchFamily="34" charset="0"/>
                <a:ea typeface="IBM Plex Sans" pitchFamily="34" charset="-122"/>
                <a:cs typeface="IBM Plex Sans" pitchFamily="34" charset="-120"/>
              </a:rPr>
              <a:t> Meta AI (2024). The Llama 3 Herd of Models. arXiv:2407.21783</a:t>
            </a:r>
            <a:endParaRPr lang="en-US" sz="1200" dirty="0"/>
          </a:p>
        </p:txBody>
      </p:sp>
      <p:sp>
        <p:nvSpPr>
          <p:cNvPr id="6" name="Text 4"/>
          <p:cNvSpPr/>
          <p:nvPr/>
        </p:nvSpPr>
        <p:spPr>
          <a:xfrm>
            <a:off x="812800" y="2600623"/>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a:t>
            </a:r>
            <a:r>
              <a:rPr lang="en-US" sz="1200" dirty="0">
                <a:solidFill>
                  <a:srgbClr val="1E1E1E"/>
                </a:solidFill>
                <a:latin typeface="IBM Plex Sans" pitchFamily="34" charset="0"/>
                <a:ea typeface="IBM Plex Sans" pitchFamily="34" charset="-122"/>
                <a:cs typeface="IBM Plex Sans" pitchFamily="34" charset="-120"/>
              </a:rPr>
              <a:t> Rumelhart, Hinton &amp; Williams (1986). Learning representations by back-propagating errors. Nature 323</a:t>
            </a:r>
            <a:endParaRPr lang="en-US" sz="1200" dirty="0"/>
          </a:p>
        </p:txBody>
      </p:sp>
      <p:sp>
        <p:nvSpPr>
          <p:cNvPr id="7" name="Text 5"/>
          <p:cNvSpPr/>
          <p:nvPr/>
        </p:nvSpPr>
        <p:spPr>
          <a:xfrm>
            <a:off x="812800" y="3085604"/>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a:t>
            </a:r>
            <a:r>
              <a:rPr lang="en-US" sz="1200" dirty="0">
                <a:solidFill>
                  <a:srgbClr val="1E1E1E"/>
                </a:solidFill>
                <a:latin typeface="IBM Plex Sans" pitchFamily="34" charset="0"/>
                <a:ea typeface="IBM Plex Sans" pitchFamily="34" charset="-122"/>
                <a:cs typeface="IBM Plex Sans" pitchFamily="34" charset="-120"/>
              </a:rPr>
              <a:t> Goodfellow, Bengio &amp; Courville (2016). Deep Learning. MIT Press</a:t>
            </a:r>
            <a:endParaRPr lang="en-US" sz="1200" dirty="0"/>
          </a:p>
        </p:txBody>
      </p:sp>
      <p:sp>
        <p:nvSpPr>
          <p:cNvPr id="8" name="Text 6"/>
          <p:cNvSpPr/>
          <p:nvPr/>
        </p:nvSpPr>
        <p:spPr>
          <a:xfrm>
            <a:off x="812800" y="337254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5.</a:t>
            </a:r>
            <a:r>
              <a:rPr lang="en-US" sz="1200" dirty="0">
                <a:solidFill>
                  <a:srgbClr val="1E1E1E"/>
                </a:solidFill>
                <a:latin typeface="IBM Plex Sans" pitchFamily="34" charset="0"/>
                <a:ea typeface="IBM Plex Sans" pitchFamily="34" charset="-122"/>
                <a:cs typeface="IBM Plex Sans" pitchFamily="34" charset="-120"/>
              </a:rPr>
              <a:t> Cybenko (1989). Approximation by superpositions of a sigmoidal function. Math. Control Signals Syst. 2</a:t>
            </a:r>
            <a:endParaRPr lang="en-US" sz="1200" dirty="0"/>
          </a:p>
        </p:txBody>
      </p:sp>
      <p:sp>
        <p:nvSpPr>
          <p:cNvPr id="9" name="Text 7"/>
          <p:cNvSpPr/>
          <p:nvPr/>
        </p:nvSpPr>
        <p:spPr>
          <a:xfrm>
            <a:off x="812800" y="3857526"/>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6.</a:t>
            </a:r>
            <a:r>
              <a:rPr lang="en-US" sz="1200" dirty="0">
                <a:solidFill>
                  <a:srgbClr val="1E1E1E"/>
                </a:solidFill>
                <a:latin typeface="IBM Plex Sans" pitchFamily="34" charset="0"/>
                <a:ea typeface="IBM Plex Sans" pitchFamily="34" charset="-122"/>
                <a:cs typeface="IBM Plex Sans" pitchFamily="34" charset="-120"/>
              </a:rPr>
              <a:t> Hornik (1991). Approximation capabilities of multilayer feedforward networks. Neural Networks 4(2)</a:t>
            </a:r>
            <a:endParaRPr lang="en-US" sz="1200" dirty="0"/>
          </a:p>
        </p:txBody>
      </p:sp>
      <p:sp>
        <p:nvSpPr>
          <p:cNvPr id="10" name="Text 8"/>
          <p:cNvSpPr/>
          <p:nvPr/>
        </p:nvSpPr>
        <p:spPr>
          <a:xfrm>
            <a:off x="812800" y="4342507"/>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7.</a:t>
            </a:r>
            <a:r>
              <a:rPr lang="en-US" sz="1200" dirty="0">
                <a:solidFill>
                  <a:srgbClr val="1E1E1E"/>
                </a:solidFill>
                <a:latin typeface="IBM Plex Sans" pitchFamily="34" charset="0"/>
                <a:ea typeface="IBM Plex Sans" pitchFamily="34" charset="-122"/>
                <a:cs typeface="IBM Plex Sans" pitchFamily="34" charset="-120"/>
              </a:rPr>
              <a:t> Leshno, Lin, Pinkus &amp; Schocken (1993). Multilayer feedforward networks… Neural Networks 6(6)</a:t>
            </a:r>
            <a:endParaRPr lang="en-US" sz="1200" dirty="0"/>
          </a:p>
        </p:txBody>
      </p:sp>
      <p:sp>
        <p:nvSpPr>
          <p:cNvPr id="11" name="Text 9"/>
          <p:cNvSpPr/>
          <p:nvPr/>
        </p:nvSpPr>
        <p:spPr>
          <a:xfrm>
            <a:off x="812800" y="4827488"/>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8.</a:t>
            </a:r>
            <a:r>
              <a:rPr lang="en-US" sz="1200" dirty="0">
                <a:solidFill>
                  <a:srgbClr val="1E1E1E"/>
                </a:solidFill>
                <a:latin typeface="IBM Plex Sans" pitchFamily="34" charset="0"/>
                <a:ea typeface="IBM Plex Sans" pitchFamily="34" charset="-122"/>
                <a:cs typeface="IBM Plex Sans" pitchFamily="34" charset="-120"/>
              </a:rPr>
              <a:t> Zeiler &amp; Fergus (2014). Visualizing and Understanding Convolutional Networks. ECCV</a:t>
            </a:r>
            <a:endParaRPr lang="en-US" sz="1200" dirty="0"/>
          </a:p>
        </p:txBody>
      </p:sp>
      <p:sp>
        <p:nvSpPr>
          <p:cNvPr id="12" name="Text 10"/>
          <p:cNvSpPr/>
          <p:nvPr/>
        </p:nvSpPr>
        <p:spPr>
          <a:xfrm>
            <a:off x="6299200" y="1828701"/>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9.</a:t>
            </a:r>
            <a:r>
              <a:rPr lang="en-US" sz="1200" dirty="0">
                <a:solidFill>
                  <a:srgbClr val="1E1E1E"/>
                </a:solidFill>
                <a:latin typeface="IBM Plex Sans" pitchFamily="34" charset="0"/>
                <a:ea typeface="IBM Plex Sans" pitchFamily="34" charset="-122"/>
                <a:cs typeface="IBM Plex Sans" pitchFamily="34" charset="-120"/>
              </a:rPr>
              <a:t> Tenney, Das &amp; Pavlick (2019). BERT Rediscovers the Classical NLP Pipeline. ACL</a:t>
            </a:r>
            <a:endParaRPr lang="en-US" sz="1200" dirty="0"/>
          </a:p>
        </p:txBody>
      </p:sp>
      <p:sp>
        <p:nvSpPr>
          <p:cNvPr id="13" name="Text 11"/>
          <p:cNvSpPr/>
          <p:nvPr/>
        </p:nvSpPr>
        <p:spPr>
          <a:xfrm>
            <a:off x="6299200" y="2313682"/>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10.</a:t>
            </a:r>
            <a:r>
              <a:rPr lang="en-US" sz="1200" dirty="0">
                <a:solidFill>
                  <a:srgbClr val="1E1E1E"/>
                </a:solidFill>
                <a:latin typeface="IBM Plex Sans" pitchFamily="34" charset="0"/>
                <a:ea typeface="IBM Plex Sans" pitchFamily="34" charset="-122"/>
                <a:cs typeface="IBM Plex Sans" pitchFamily="34" charset="-120"/>
              </a:rPr>
              <a:t> Jumper et al. (2021). Highly accurate protein structure prediction with AlphaFold. Nature 596</a:t>
            </a:r>
            <a:endParaRPr lang="en-US" sz="1200" dirty="0"/>
          </a:p>
        </p:txBody>
      </p:sp>
      <p:sp>
        <p:nvSpPr>
          <p:cNvPr id="14" name="Text 12"/>
          <p:cNvSpPr/>
          <p:nvPr/>
        </p:nvSpPr>
        <p:spPr>
          <a:xfrm>
            <a:off x="6299200" y="2798663"/>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11.</a:t>
            </a:r>
            <a:r>
              <a:rPr lang="en-US" sz="1200" dirty="0">
                <a:solidFill>
                  <a:srgbClr val="1E1E1E"/>
                </a:solidFill>
                <a:latin typeface="IBM Plex Sans" pitchFamily="34" charset="0"/>
                <a:ea typeface="IBM Plex Sans" pitchFamily="34" charset="-122"/>
                <a:cs typeface="IBM Plex Sans" pitchFamily="34" charset="-120"/>
              </a:rPr>
              <a:t> Nobel Prize in Chemistry 2024 — nobelprize.org</a:t>
            </a:r>
            <a:endParaRPr lang="en-US" sz="1200" dirty="0"/>
          </a:p>
        </p:txBody>
      </p:sp>
      <p:sp>
        <p:nvSpPr>
          <p:cNvPr id="15" name="Text 13"/>
          <p:cNvSpPr/>
          <p:nvPr/>
        </p:nvSpPr>
        <p:spPr>
          <a:xfrm>
            <a:off x="6299200" y="3085604"/>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12.</a:t>
            </a:r>
            <a:r>
              <a:rPr lang="en-US" sz="1200" dirty="0">
                <a:solidFill>
                  <a:srgbClr val="1E1E1E"/>
                </a:solidFill>
                <a:latin typeface="IBM Plex Sans" pitchFamily="34" charset="0"/>
                <a:ea typeface="IBM Plex Sans" pitchFamily="34" charset="-122"/>
                <a:cs typeface="IBM Plex Sans" pitchFamily="34" charset="-120"/>
              </a:rPr>
              <a:t> Lam et al. (2023). Learning skillful medium-range global weather forecasting. Science 382</a:t>
            </a:r>
            <a:endParaRPr lang="en-US" sz="1200" dirty="0"/>
          </a:p>
        </p:txBody>
      </p:sp>
      <p:sp>
        <p:nvSpPr>
          <p:cNvPr id="16" name="Text 14"/>
          <p:cNvSpPr/>
          <p:nvPr/>
        </p:nvSpPr>
        <p:spPr>
          <a:xfrm>
            <a:off x="6299200" y="357058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13.</a:t>
            </a:r>
            <a:r>
              <a:rPr lang="en-US" sz="1200" dirty="0">
                <a:solidFill>
                  <a:srgbClr val="1E1E1E"/>
                </a:solidFill>
                <a:latin typeface="IBM Plex Sans" pitchFamily="34" charset="0"/>
                <a:ea typeface="IBM Plex Sans" pitchFamily="34" charset="-122"/>
                <a:cs typeface="IBM Plex Sans" pitchFamily="34" charset="-120"/>
              </a:rPr>
              <a:t> Wu et al. (2016). Google’s Neural Machine Translation System. arXiv:1609.08144</a:t>
            </a:r>
            <a:endParaRPr lang="en-US" sz="1200" dirty="0"/>
          </a:p>
        </p:txBody>
      </p:sp>
      <p:sp>
        <p:nvSpPr>
          <p:cNvPr id="17" name="Text 15"/>
          <p:cNvSpPr/>
          <p:nvPr/>
        </p:nvSpPr>
        <p:spPr>
          <a:xfrm>
            <a:off x="6299200" y="4055566"/>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14.</a:t>
            </a:r>
            <a:r>
              <a:rPr lang="en-US" sz="1200" dirty="0">
                <a:solidFill>
                  <a:srgbClr val="1E1E1E"/>
                </a:solidFill>
                <a:latin typeface="IBM Plex Sans" pitchFamily="34" charset="0"/>
                <a:ea typeface="IBM Plex Sans" pitchFamily="34" charset="-122"/>
                <a:cs typeface="IBM Plex Sans" pitchFamily="34" charset="-120"/>
              </a:rPr>
              <a:t> Shalev-Shwartz, Shamir &amp; Shammah (2017). Failures of Gradient-Based Deep Learning. ICML</a:t>
            </a:r>
            <a:endParaRPr lang="en-US" sz="1200" dirty="0"/>
          </a:p>
        </p:txBody>
      </p:sp>
      <p:sp>
        <p:nvSpPr>
          <p:cNvPr id="18" name="Text 16"/>
          <p:cNvSpPr/>
          <p:nvPr/>
        </p:nvSpPr>
        <p:spPr>
          <a:xfrm>
            <a:off x="6299200" y="4540548"/>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15.</a:t>
            </a:r>
            <a:r>
              <a:rPr lang="en-US" sz="1200" dirty="0">
                <a:solidFill>
                  <a:srgbClr val="1E1E1E"/>
                </a:solidFill>
                <a:latin typeface="IBM Plex Sans" pitchFamily="34" charset="0"/>
                <a:ea typeface="IBM Plex Sans" pitchFamily="34" charset="-122"/>
                <a:cs typeface="IBM Plex Sans" pitchFamily="34" charset="-120"/>
              </a:rPr>
              <a:t> Lozhkov et al. (2024). StarCoder 2 and The Stack v2. arXiv:2402.19173</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Sources (2 of 3)</a:t>
            </a:r>
            <a:endParaRPr lang="en-US" sz="3200" dirty="0"/>
          </a:p>
        </p:txBody>
      </p:sp>
      <p:sp>
        <p:nvSpPr>
          <p:cNvPr id="4" name="Text 2"/>
          <p:cNvSpPr/>
          <p:nvPr/>
        </p:nvSpPr>
        <p:spPr>
          <a:xfrm>
            <a:off x="812800" y="1828701"/>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16.</a:t>
            </a:r>
            <a:r>
              <a:rPr lang="en-US" sz="1200" dirty="0">
                <a:solidFill>
                  <a:srgbClr val="1E1E1E"/>
                </a:solidFill>
                <a:latin typeface="IBM Plex Sans" pitchFamily="34" charset="0"/>
                <a:ea typeface="IBM Plex Sans" pitchFamily="34" charset="-122"/>
                <a:cs typeface="IBM Plex Sans" pitchFamily="34" charset="-120"/>
              </a:rPr>
              <a:t> DeepSeek-AI (2025). DeepSeek-R1. Nature 645; arXiv:2501.12948</a:t>
            </a:r>
            <a:endParaRPr lang="en-US" sz="1200" dirty="0"/>
          </a:p>
        </p:txBody>
      </p:sp>
      <p:sp>
        <p:nvSpPr>
          <p:cNvPr id="5" name="Text 3"/>
          <p:cNvSpPr/>
          <p:nvPr/>
        </p:nvSpPr>
        <p:spPr>
          <a:xfrm>
            <a:off x="812800" y="2115641"/>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17.</a:t>
            </a:r>
            <a:r>
              <a:rPr lang="en-US" sz="1200" dirty="0">
                <a:solidFill>
                  <a:srgbClr val="1E1E1E"/>
                </a:solidFill>
                <a:latin typeface="IBM Plex Sans" pitchFamily="34" charset="0"/>
                <a:ea typeface="IBM Plex Sans" pitchFamily="34" charset="-122"/>
                <a:cs typeface="IBM Plex Sans" pitchFamily="34" charset="-120"/>
              </a:rPr>
              <a:t> Jimenez et al. (2024). SWE-bench. ICLR. arXiv:2310.06770</a:t>
            </a:r>
            <a:endParaRPr lang="en-US" sz="1200" dirty="0"/>
          </a:p>
        </p:txBody>
      </p:sp>
      <p:sp>
        <p:nvSpPr>
          <p:cNvPr id="6" name="Text 4"/>
          <p:cNvSpPr/>
          <p:nvPr/>
        </p:nvSpPr>
        <p:spPr>
          <a:xfrm>
            <a:off x="812800" y="2402582"/>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18.</a:t>
            </a:r>
            <a:r>
              <a:rPr lang="en-US" sz="1200" dirty="0">
                <a:solidFill>
                  <a:srgbClr val="1E1E1E"/>
                </a:solidFill>
                <a:latin typeface="IBM Plex Sans" pitchFamily="34" charset="0"/>
                <a:ea typeface="IBM Plex Sans" pitchFamily="34" charset="-122"/>
                <a:cs typeface="IBM Plex Sans" pitchFamily="34" charset="-120"/>
              </a:rPr>
              <a:t> Ouyang et al. (2022). Training language models to follow instructions… arXiv:2203.02155</a:t>
            </a:r>
            <a:endParaRPr lang="en-US" sz="1200" dirty="0"/>
          </a:p>
        </p:txBody>
      </p:sp>
      <p:sp>
        <p:nvSpPr>
          <p:cNvPr id="7" name="Text 5"/>
          <p:cNvSpPr/>
          <p:nvPr/>
        </p:nvSpPr>
        <p:spPr>
          <a:xfrm>
            <a:off x="812800" y="2887563"/>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19.</a:t>
            </a:r>
            <a:r>
              <a:rPr lang="en-US" sz="1200" dirty="0">
                <a:solidFill>
                  <a:srgbClr val="1E1E1E"/>
                </a:solidFill>
                <a:latin typeface="IBM Plex Sans" pitchFamily="34" charset="0"/>
                <a:ea typeface="IBM Plex Sans" pitchFamily="34" charset="-122"/>
                <a:cs typeface="IBM Plex Sans" pitchFamily="34" charset="-120"/>
              </a:rPr>
              <a:t> Yao et al. (2022). ReAct: Synergizing Reasoning and Acting. arXiv:2210.03629</a:t>
            </a:r>
            <a:endParaRPr lang="en-US" sz="1200" dirty="0"/>
          </a:p>
        </p:txBody>
      </p:sp>
      <p:sp>
        <p:nvSpPr>
          <p:cNvPr id="8" name="Text 6"/>
          <p:cNvSpPr/>
          <p:nvPr/>
        </p:nvSpPr>
        <p:spPr>
          <a:xfrm>
            <a:off x="812800" y="3372545"/>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20.</a:t>
            </a:r>
            <a:r>
              <a:rPr lang="en-US" sz="1200" dirty="0">
                <a:solidFill>
                  <a:srgbClr val="1E1E1E"/>
                </a:solidFill>
                <a:latin typeface="IBM Plex Sans" pitchFamily="34" charset="0"/>
                <a:ea typeface="IBM Plex Sans" pitchFamily="34" charset="-122"/>
                <a:cs typeface="IBM Plex Sans" pitchFamily="34" charset="-120"/>
              </a:rPr>
              <a:t> Schick et al. (2023). Toolformer. arXiv:2302.04761</a:t>
            </a:r>
            <a:endParaRPr lang="en-US" sz="1200" dirty="0"/>
          </a:p>
        </p:txBody>
      </p:sp>
      <p:sp>
        <p:nvSpPr>
          <p:cNvPr id="9" name="Text 7"/>
          <p:cNvSpPr/>
          <p:nvPr/>
        </p:nvSpPr>
        <p:spPr>
          <a:xfrm>
            <a:off x="812800" y="365948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21.</a:t>
            </a:r>
            <a:r>
              <a:rPr lang="en-US" sz="1200" dirty="0">
                <a:solidFill>
                  <a:srgbClr val="1E1E1E"/>
                </a:solidFill>
                <a:latin typeface="IBM Plex Sans" pitchFamily="34" charset="0"/>
                <a:ea typeface="IBM Plex Sans" pitchFamily="34" charset="-122"/>
                <a:cs typeface="IBM Plex Sans" pitchFamily="34" charset="-120"/>
              </a:rPr>
              <a:t> Anthropic (Dec 2024). Building effective agents. anthropic.com/engineering</a:t>
            </a:r>
            <a:endParaRPr lang="en-US" sz="1200" dirty="0"/>
          </a:p>
        </p:txBody>
      </p:sp>
      <p:sp>
        <p:nvSpPr>
          <p:cNvPr id="10" name="Text 8"/>
          <p:cNvSpPr/>
          <p:nvPr/>
        </p:nvSpPr>
        <p:spPr>
          <a:xfrm>
            <a:off x="812800" y="4144466"/>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22.</a:t>
            </a:r>
            <a:r>
              <a:rPr lang="en-US" sz="1200" dirty="0">
                <a:solidFill>
                  <a:srgbClr val="1E1E1E"/>
                </a:solidFill>
                <a:latin typeface="IBM Plex Sans" pitchFamily="34" charset="0"/>
                <a:ea typeface="IBM Plex Sans" pitchFamily="34" charset="-122"/>
                <a:cs typeface="IBM Plex Sans" pitchFamily="34" charset="-120"/>
              </a:rPr>
              <a:t> GitHub Docs (2026). Comparing GitHub Copilot CLI customization features; Hooks reference</a:t>
            </a:r>
            <a:endParaRPr lang="en-US" sz="1200" dirty="0"/>
          </a:p>
        </p:txBody>
      </p:sp>
      <p:sp>
        <p:nvSpPr>
          <p:cNvPr id="11" name="Text 9"/>
          <p:cNvSpPr/>
          <p:nvPr/>
        </p:nvSpPr>
        <p:spPr>
          <a:xfrm>
            <a:off x="6299200" y="1828701"/>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23.</a:t>
            </a:r>
            <a:r>
              <a:rPr lang="en-US" sz="1200" dirty="0">
                <a:solidFill>
                  <a:srgbClr val="1E1E1E"/>
                </a:solidFill>
                <a:latin typeface="IBM Plex Sans" pitchFamily="34" charset="0"/>
                <a:ea typeface="IBM Plex Sans" pitchFamily="34" charset="-122"/>
                <a:cs typeface="IBM Plex Sans" pitchFamily="34" charset="-120"/>
              </a:rPr>
              <a:t> GitHub Docs (2026). Utility models; Auto model selection; Customization cheat sheet</a:t>
            </a:r>
            <a:endParaRPr lang="en-US" sz="1200" dirty="0"/>
          </a:p>
        </p:txBody>
      </p:sp>
      <p:sp>
        <p:nvSpPr>
          <p:cNvPr id="12" name="Text 10"/>
          <p:cNvSpPr/>
          <p:nvPr/>
        </p:nvSpPr>
        <p:spPr>
          <a:xfrm>
            <a:off x="6299200" y="2313682"/>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24.</a:t>
            </a:r>
            <a:r>
              <a:rPr lang="en-US" sz="1200" dirty="0">
                <a:solidFill>
                  <a:srgbClr val="1E1E1E"/>
                </a:solidFill>
                <a:latin typeface="IBM Plex Sans" pitchFamily="34" charset="0"/>
                <a:ea typeface="IBM Plex Sans" pitchFamily="34" charset="-122"/>
                <a:cs typeface="IBM Plex Sans" pitchFamily="34" charset="-120"/>
              </a:rPr>
              <a:t> Linux kernel docs. AI Coding Assistants. docs.kernel.org/process/coding-assistants.html</a:t>
            </a:r>
            <a:endParaRPr lang="en-US" sz="1200" dirty="0"/>
          </a:p>
        </p:txBody>
      </p:sp>
      <p:sp>
        <p:nvSpPr>
          <p:cNvPr id="13" name="Text 11"/>
          <p:cNvSpPr/>
          <p:nvPr/>
        </p:nvSpPr>
        <p:spPr>
          <a:xfrm>
            <a:off x="6299200" y="2798663"/>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25.</a:t>
            </a:r>
            <a:r>
              <a:rPr lang="en-US" sz="1200" dirty="0">
                <a:solidFill>
                  <a:srgbClr val="1E1E1E"/>
                </a:solidFill>
                <a:latin typeface="IBM Plex Sans" pitchFamily="34" charset="0"/>
                <a:ea typeface="IBM Plex Sans" pitchFamily="34" charset="-122"/>
                <a:cs typeface="IBM Plex Sans" pitchFamily="34" charset="-120"/>
              </a:rPr>
              <a:t> It’s FOSS (Apr 2026); The Register (Jan 8, 2026) — kernel AI policy coverage</a:t>
            </a:r>
            <a:endParaRPr lang="en-US" sz="1200" dirty="0"/>
          </a:p>
        </p:txBody>
      </p:sp>
      <p:sp>
        <p:nvSpPr>
          <p:cNvPr id="14" name="Text 12"/>
          <p:cNvSpPr/>
          <p:nvPr/>
        </p:nvSpPr>
        <p:spPr>
          <a:xfrm>
            <a:off x="6299200" y="328364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26.</a:t>
            </a:r>
            <a:r>
              <a:rPr lang="en-US" sz="1200" dirty="0">
                <a:solidFill>
                  <a:srgbClr val="1E1E1E"/>
                </a:solidFill>
                <a:latin typeface="IBM Plex Sans" pitchFamily="34" charset="0"/>
                <a:ea typeface="IBM Plex Sans" pitchFamily="34" charset="-122"/>
                <a:cs typeface="IBM Plex Sans" pitchFamily="34" charset="-120"/>
              </a:rPr>
              <a:t> Pichai, S. Alphabet Q3 2024 earnings call (Oct 29, 2024); Semafor (Apr 24, 2026)</a:t>
            </a:r>
            <a:endParaRPr lang="en-US" sz="1200" dirty="0"/>
          </a:p>
        </p:txBody>
      </p:sp>
      <p:sp>
        <p:nvSpPr>
          <p:cNvPr id="15" name="Text 13"/>
          <p:cNvSpPr/>
          <p:nvPr/>
        </p:nvSpPr>
        <p:spPr>
          <a:xfrm>
            <a:off x="6299200" y="3768626"/>
            <a:ext cx="58928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27.</a:t>
            </a:r>
            <a:r>
              <a:rPr lang="en-US" sz="1200" dirty="0">
                <a:solidFill>
                  <a:srgbClr val="1E1E1E"/>
                </a:solidFill>
                <a:latin typeface="IBM Plex Sans" pitchFamily="34" charset="0"/>
                <a:ea typeface="IBM Plex Sans" pitchFamily="34" charset="-122"/>
                <a:cs typeface="IBM Plex Sans" pitchFamily="34" charset="-120"/>
              </a:rPr>
              <a:t> Jassy, A. (Aug 2024). LinkedIn post on Amazon Q code transformation</a:t>
            </a:r>
            <a:endParaRPr lang="en-US" sz="1200" dirty="0"/>
          </a:p>
        </p:txBody>
      </p:sp>
      <p:sp>
        <p:nvSpPr>
          <p:cNvPr id="16" name="Text 14"/>
          <p:cNvSpPr/>
          <p:nvPr/>
        </p:nvSpPr>
        <p:spPr>
          <a:xfrm>
            <a:off x="6299200" y="4055566"/>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28.</a:t>
            </a:r>
            <a:r>
              <a:rPr lang="en-US" sz="1200" dirty="0">
                <a:solidFill>
                  <a:srgbClr val="1E1E1E"/>
                </a:solidFill>
                <a:latin typeface="IBM Plex Sans" pitchFamily="34" charset="0"/>
                <a:ea typeface="IBM Plex Sans" pitchFamily="34" charset="-122"/>
                <a:cs typeface="IBM Plex Sans" pitchFamily="34" charset="-120"/>
              </a:rPr>
              <a:t> Peng et al. (2023). The Impact of AI on Developer Productivity. arXiv:2302.06590</a:t>
            </a:r>
            <a:endParaRPr lang="en-US" sz="1200" dirty="0"/>
          </a:p>
        </p:txBody>
      </p:sp>
      <p:sp>
        <p:nvSpPr>
          <p:cNvPr id="17" name="Text 15"/>
          <p:cNvSpPr/>
          <p:nvPr/>
        </p:nvSpPr>
        <p:spPr>
          <a:xfrm>
            <a:off x="6299200" y="4540548"/>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29.</a:t>
            </a:r>
            <a:r>
              <a:rPr lang="en-US" sz="1200" dirty="0">
                <a:solidFill>
                  <a:srgbClr val="1E1E1E"/>
                </a:solidFill>
                <a:latin typeface="IBM Plex Sans" pitchFamily="34" charset="0"/>
                <a:ea typeface="IBM Plex Sans" pitchFamily="34" charset="-122"/>
                <a:cs typeface="IBM Plex Sans" pitchFamily="34" charset="-120"/>
              </a:rPr>
              <a:t> Google Cloud DORA (2025). State of AI-assisted Software Development</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5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A5A8A"/>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E1E1E"/>
                </a:solidFill>
                <a:latin typeface="Space Grotesk" pitchFamily="34" charset="0"/>
                <a:ea typeface="Space Grotesk" pitchFamily="34" charset="-122"/>
                <a:cs typeface="Space Grotesk" pitchFamily="34" charset="-120"/>
              </a:rPr>
              <a:t>Sources (3 of 3)</a:t>
            </a:r>
            <a:endParaRPr lang="en-US" sz="3200" dirty="0"/>
          </a:p>
        </p:txBody>
      </p:sp>
      <p:sp>
        <p:nvSpPr>
          <p:cNvPr id="4" name="Text 2"/>
          <p:cNvSpPr/>
          <p:nvPr/>
        </p:nvSpPr>
        <p:spPr>
          <a:xfrm>
            <a:off x="812800" y="1828701"/>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30.</a:t>
            </a:r>
            <a:r>
              <a:rPr lang="en-US" sz="1200" dirty="0">
                <a:solidFill>
                  <a:srgbClr val="1E1E1E"/>
                </a:solidFill>
                <a:latin typeface="IBM Plex Sans" pitchFamily="34" charset="0"/>
                <a:ea typeface="IBM Plex Sans" pitchFamily="34" charset="-122"/>
                <a:cs typeface="IBM Plex Sans" pitchFamily="34" charset="-120"/>
              </a:rPr>
              <a:t> Becker et al. (2025). Measuring the Impact of Early-2025 AI… METR. arXiv:2507.09089</a:t>
            </a:r>
            <a:endParaRPr lang="en-US" sz="1200" dirty="0"/>
          </a:p>
        </p:txBody>
      </p:sp>
      <p:sp>
        <p:nvSpPr>
          <p:cNvPr id="5" name="Text 3"/>
          <p:cNvSpPr/>
          <p:nvPr/>
        </p:nvSpPr>
        <p:spPr>
          <a:xfrm>
            <a:off x="812800" y="2313682"/>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31.</a:t>
            </a:r>
            <a:r>
              <a:rPr lang="en-US" sz="1200" dirty="0">
                <a:solidFill>
                  <a:srgbClr val="1E1E1E"/>
                </a:solidFill>
                <a:latin typeface="IBM Plex Sans" pitchFamily="34" charset="0"/>
                <a:ea typeface="IBM Plex Sans" pitchFamily="34" charset="-122"/>
                <a:cs typeface="IBM Plex Sans" pitchFamily="34" charset="-120"/>
              </a:rPr>
              <a:t> METR (2026). We are Changing our Developer Productivity Experiment Design</a:t>
            </a:r>
            <a:endParaRPr lang="en-US" sz="1200" dirty="0"/>
          </a:p>
        </p:txBody>
      </p:sp>
      <p:sp>
        <p:nvSpPr>
          <p:cNvPr id="6" name="Text 4"/>
          <p:cNvSpPr/>
          <p:nvPr/>
        </p:nvSpPr>
        <p:spPr>
          <a:xfrm>
            <a:off x="812800" y="2798663"/>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32.</a:t>
            </a:r>
            <a:r>
              <a:rPr lang="en-US" sz="1200" dirty="0">
                <a:solidFill>
                  <a:srgbClr val="1E1E1E"/>
                </a:solidFill>
                <a:latin typeface="IBM Plex Sans" pitchFamily="34" charset="0"/>
                <a:ea typeface="IBM Plex Sans" pitchFamily="34" charset="-122"/>
                <a:cs typeface="IBM Plex Sans" pitchFamily="34" charset="-120"/>
              </a:rPr>
              <a:t> Beck, K. (2002). Test-Driven Development: By Example. Addison-Wesley</a:t>
            </a:r>
            <a:endParaRPr lang="en-US" sz="1200" dirty="0"/>
          </a:p>
        </p:txBody>
      </p:sp>
      <p:sp>
        <p:nvSpPr>
          <p:cNvPr id="7" name="Text 5"/>
          <p:cNvSpPr/>
          <p:nvPr/>
        </p:nvSpPr>
        <p:spPr>
          <a:xfrm>
            <a:off x="812800" y="328364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33.</a:t>
            </a:r>
            <a:r>
              <a:rPr lang="en-US" sz="1200" dirty="0">
                <a:solidFill>
                  <a:srgbClr val="1E1E1E"/>
                </a:solidFill>
                <a:latin typeface="IBM Plex Sans" pitchFamily="34" charset="0"/>
                <a:ea typeface="IBM Plex Sans" pitchFamily="34" charset="-122"/>
                <a:cs typeface="IBM Plex Sans" pitchFamily="34" charset="-120"/>
              </a:rPr>
              <a:t> METR (Jun 2025). Recent Frontier Models Are Reward Hacking. metr.org</a:t>
            </a:r>
            <a:endParaRPr lang="en-US" sz="1200" dirty="0"/>
          </a:p>
        </p:txBody>
      </p:sp>
      <p:sp>
        <p:nvSpPr>
          <p:cNvPr id="8" name="Text 6"/>
          <p:cNvSpPr/>
          <p:nvPr/>
        </p:nvSpPr>
        <p:spPr>
          <a:xfrm>
            <a:off x="812800" y="3768626"/>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34.</a:t>
            </a:r>
            <a:r>
              <a:rPr lang="en-US" sz="1200" dirty="0">
                <a:solidFill>
                  <a:srgbClr val="1E1E1E"/>
                </a:solidFill>
                <a:latin typeface="IBM Plex Sans" pitchFamily="34" charset="0"/>
                <a:ea typeface="IBM Plex Sans" pitchFamily="34" charset="-122"/>
                <a:cs typeface="IBM Plex Sans" pitchFamily="34" charset="-120"/>
              </a:rPr>
              <a:t> Veracode (Jul 2025). 2025 GenAI Code Security Report</a:t>
            </a:r>
            <a:endParaRPr lang="en-US" sz="1200" dirty="0"/>
          </a:p>
        </p:txBody>
      </p:sp>
      <p:sp>
        <p:nvSpPr>
          <p:cNvPr id="9" name="Text 7"/>
          <p:cNvSpPr/>
          <p:nvPr/>
        </p:nvSpPr>
        <p:spPr>
          <a:xfrm>
            <a:off x="812800" y="4055566"/>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35.</a:t>
            </a:r>
            <a:r>
              <a:rPr lang="en-US" sz="1200" dirty="0">
                <a:solidFill>
                  <a:srgbClr val="1E1E1E"/>
                </a:solidFill>
                <a:latin typeface="IBM Plex Sans" pitchFamily="34" charset="0"/>
                <a:ea typeface="IBM Plex Sans" pitchFamily="34" charset="-122"/>
                <a:cs typeface="IBM Plex Sans" pitchFamily="34" charset="-120"/>
              </a:rPr>
              <a:t> Hong, Troynikov &amp; Huber (Jul 2025). Context Rot. Chroma Research</a:t>
            </a:r>
            <a:endParaRPr lang="en-US" sz="1200" dirty="0"/>
          </a:p>
        </p:txBody>
      </p:sp>
      <p:sp>
        <p:nvSpPr>
          <p:cNvPr id="10" name="Text 8"/>
          <p:cNvSpPr/>
          <p:nvPr/>
        </p:nvSpPr>
        <p:spPr>
          <a:xfrm>
            <a:off x="812800" y="4342507"/>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36.</a:t>
            </a:r>
            <a:r>
              <a:rPr lang="en-US" sz="1200" dirty="0">
                <a:solidFill>
                  <a:srgbClr val="1E1E1E"/>
                </a:solidFill>
                <a:latin typeface="IBM Plex Sans" pitchFamily="34" charset="0"/>
                <a:ea typeface="IBM Plex Sans" pitchFamily="34" charset="-122"/>
                <a:cs typeface="IBM Plex Sans" pitchFamily="34" charset="-120"/>
              </a:rPr>
              <a:t> GitHub Blog (2026). GitHub Copilot is moving to usage-based billing</a:t>
            </a:r>
            <a:endParaRPr lang="en-US" sz="1200" dirty="0"/>
          </a:p>
        </p:txBody>
      </p:sp>
      <p:sp>
        <p:nvSpPr>
          <p:cNvPr id="11" name="Text 9"/>
          <p:cNvSpPr/>
          <p:nvPr/>
        </p:nvSpPr>
        <p:spPr>
          <a:xfrm>
            <a:off x="812800" y="4629448"/>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37.</a:t>
            </a:r>
            <a:r>
              <a:rPr lang="en-US" sz="1200" dirty="0">
                <a:solidFill>
                  <a:srgbClr val="1E1E1E"/>
                </a:solidFill>
                <a:latin typeface="IBM Plex Sans" pitchFamily="34" charset="0"/>
                <a:ea typeface="IBM Plex Sans" pitchFamily="34" charset="-122"/>
                <a:cs typeface="IBM Plex Sans" pitchFamily="34" charset="-120"/>
              </a:rPr>
              <a:t> Stryker.NET mutation testing (stryker-mutator.io); FsCheck (fscheck.github.io)</a:t>
            </a:r>
            <a:endParaRPr lang="en-US" sz="1200" dirty="0"/>
          </a:p>
        </p:txBody>
      </p:sp>
      <p:sp>
        <p:nvSpPr>
          <p:cNvPr id="12" name="Text 10"/>
          <p:cNvSpPr/>
          <p:nvPr/>
        </p:nvSpPr>
        <p:spPr>
          <a:xfrm>
            <a:off x="6299200" y="1828701"/>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38.</a:t>
            </a:r>
            <a:r>
              <a:rPr lang="en-US" sz="1200" dirty="0">
                <a:solidFill>
                  <a:srgbClr val="1E1E1E"/>
                </a:solidFill>
                <a:latin typeface="IBM Plex Sans" pitchFamily="34" charset="0"/>
                <a:ea typeface="IBM Plex Sans" pitchFamily="34" charset="-122"/>
                <a:cs typeface="IBM Plex Sans" pitchFamily="34" charset="-120"/>
              </a:rPr>
              <a:t> Anthropic (Sep 2025). Effective context engineering for AI agents</a:t>
            </a:r>
            <a:endParaRPr lang="en-US" sz="1200" dirty="0"/>
          </a:p>
        </p:txBody>
      </p:sp>
      <p:sp>
        <p:nvSpPr>
          <p:cNvPr id="13" name="Text 11"/>
          <p:cNvSpPr/>
          <p:nvPr/>
        </p:nvSpPr>
        <p:spPr>
          <a:xfrm>
            <a:off x="6299200" y="2115641"/>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39.</a:t>
            </a:r>
            <a:r>
              <a:rPr lang="en-US" sz="1200" dirty="0">
                <a:solidFill>
                  <a:srgbClr val="1E1E1E"/>
                </a:solidFill>
                <a:latin typeface="IBM Plex Sans" pitchFamily="34" charset="0"/>
                <a:ea typeface="IBM Plex Sans" pitchFamily="34" charset="-122"/>
                <a:cs typeface="IBM Plex Sans" pitchFamily="34" charset="-120"/>
              </a:rPr>
              <a:t> GitHub Docs (2026). Managing context in GitHub Copilot CLI</a:t>
            </a:r>
            <a:endParaRPr lang="en-US" sz="1200" dirty="0"/>
          </a:p>
        </p:txBody>
      </p:sp>
      <p:sp>
        <p:nvSpPr>
          <p:cNvPr id="14" name="Text 12"/>
          <p:cNvSpPr/>
          <p:nvPr/>
        </p:nvSpPr>
        <p:spPr>
          <a:xfrm>
            <a:off x="6299200" y="2402582"/>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40.</a:t>
            </a:r>
            <a:r>
              <a:rPr lang="en-US" sz="1200" dirty="0">
                <a:solidFill>
                  <a:srgbClr val="1E1E1E"/>
                </a:solidFill>
                <a:latin typeface="IBM Plex Sans" pitchFamily="34" charset="0"/>
                <a:ea typeface="IBM Plex Sans" pitchFamily="34" charset="-122"/>
                <a:cs typeface="IBM Plex Sans" pitchFamily="34" charset="-120"/>
              </a:rPr>
              <a:t> GitHub Docs (2026). About the GitHub Copilot app; Customization cheat sheet</a:t>
            </a:r>
            <a:endParaRPr lang="en-US" sz="1200" dirty="0"/>
          </a:p>
        </p:txBody>
      </p:sp>
      <p:sp>
        <p:nvSpPr>
          <p:cNvPr id="15" name="Text 13"/>
          <p:cNvSpPr/>
          <p:nvPr/>
        </p:nvSpPr>
        <p:spPr>
          <a:xfrm>
            <a:off x="6299200" y="2887563"/>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41.</a:t>
            </a:r>
            <a:r>
              <a:rPr lang="en-US" sz="1200" dirty="0">
                <a:solidFill>
                  <a:srgbClr val="1E1E1E"/>
                </a:solidFill>
                <a:latin typeface="IBM Plex Sans" pitchFamily="34" charset="0"/>
                <a:ea typeface="IBM Plex Sans" pitchFamily="34" charset="-122"/>
                <a:cs typeface="IBM Plex Sans" pitchFamily="34" charset="-120"/>
              </a:rPr>
              <a:t> GitHub Changelog (Jan 2026). GitHub Copilot now supports OpenCode; opencode.ai/docs</a:t>
            </a:r>
            <a:endParaRPr lang="en-US" sz="1200" dirty="0"/>
          </a:p>
        </p:txBody>
      </p:sp>
      <p:sp>
        <p:nvSpPr>
          <p:cNvPr id="16" name="Text 14"/>
          <p:cNvSpPr/>
          <p:nvPr/>
        </p:nvSpPr>
        <p:spPr>
          <a:xfrm>
            <a:off x="6299200" y="3372545"/>
            <a:ext cx="5232400" cy="42148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42.</a:t>
            </a:r>
            <a:r>
              <a:rPr lang="en-US" sz="1200" dirty="0">
                <a:solidFill>
                  <a:srgbClr val="1E1E1E"/>
                </a:solidFill>
                <a:latin typeface="IBM Plex Sans" pitchFamily="34" charset="0"/>
                <a:ea typeface="IBM Plex Sans" pitchFamily="34" charset="-122"/>
                <a:cs typeface="IBM Plex Sans" pitchFamily="34" charset="-120"/>
              </a:rPr>
              <a:t> Microsoft Learn (2026). Visual Studio: agent mode; How Copilot Chat uses context</a:t>
            </a:r>
            <a:endParaRPr lang="en-US" sz="1200" dirty="0"/>
          </a:p>
        </p:txBody>
      </p:sp>
      <p:sp>
        <p:nvSpPr>
          <p:cNvPr id="17" name="Text 15"/>
          <p:cNvSpPr/>
          <p:nvPr/>
        </p:nvSpPr>
        <p:spPr>
          <a:xfrm>
            <a:off x="6299200" y="3857526"/>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43.</a:t>
            </a:r>
            <a:r>
              <a:rPr lang="en-US" sz="1200" dirty="0">
                <a:solidFill>
                  <a:srgbClr val="1E1E1E"/>
                </a:solidFill>
                <a:latin typeface="IBM Plex Sans" pitchFamily="34" charset="0"/>
                <a:ea typeface="IBM Plex Sans" pitchFamily="34" charset="-122"/>
                <a:cs typeface="IBM Plex Sans" pitchFamily="34" charset="-120"/>
              </a:rPr>
              <a:t> VS Code Docs (2026). Understand agent harnesses</a:t>
            </a:r>
            <a:endParaRPr lang="en-US" sz="1200" dirty="0"/>
          </a:p>
        </p:txBody>
      </p:sp>
      <p:sp>
        <p:nvSpPr>
          <p:cNvPr id="18" name="Text 16"/>
          <p:cNvSpPr/>
          <p:nvPr/>
        </p:nvSpPr>
        <p:spPr>
          <a:xfrm>
            <a:off x="6299200" y="4144466"/>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44.</a:t>
            </a:r>
            <a:r>
              <a:rPr lang="en-US" sz="1200" dirty="0">
                <a:solidFill>
                  <a:srgbClr val="1E1E1E"/>
                </a:solidFill>
                <a:latin typeface="IBM Plex Sans" pitchFamily="34" charset="0"/>
                <a:ea typeface="IBM Plex Sans" pitchFamily="34" charset="-122"/>
                <a:cs typeface="IBM Plex Sans" pitchFamily="34" charset="-120"/>
              </a:rPr>
              <a:t> GitHub Docs (2026). Using LSP servers with GitHub Copilot CLI</a:t>
            </a:r>
            <a:endParaRPr lang="en-US" sz="1200" dirty="0"/>
          </a:p>
        </p:txBody>
      </p:sp>
      <p:sp>
        <p:nvSpPr>
          <p:cNvPr id="19" name="Text 17"/>
          <p:cNvSpPr/>
          <p:nvPr/>
        </p:nvSpPr>
        <p:spPr>
          <a:xfrm>
            <a:off x="6299200" y="4431407"/>
            <a:ext cx="5232400" cy="223441"/>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A5A8A"/>
                </a:solidFill>
                <a:latin typeface="IBM Plex Sans" pitchFamily="34" charset="0"/>
                <a:ea typeface="IBM Plex Sans" pitchFamily="34" charset="-122"/>
                <a:cs typeface="IBM Plex Sans" pitchFamily="34" charset="-120"/>
              </a:rPr>
              <a:t>45.</a:t>
            </a:r>
            <a:r>
              <a:rPr lang="en-US" sz="1200" dirty="0">
                <a:solidFill>
                  <a:srgbClr val="1E1E1E"/>
                </a:solidFill>
                <a:latin typeface="IBM Plex Sans" pitchFamily="34" charset="0"/>
                <a:ea typeface="IBM Plex Sans" pitchFamily="34" charset="-122"/>
                <a:cs typeface="IBM Plex Sans" pitchFamily="34" charset="-120"/>
              </a:rPr>
              <a:t> Anthropic Docs. Tool use with Claude — docs.claude.com</a:t>
            </a:r>
            <a:endParaRPr lang="en-US" sz="1200" dirty="0"/>
          </a:p>
        </p:txBody>
      </p:sp>
    </p:spTree>
  </p:cSld>
  <p:clrMapOvr>
    <a:masterClrMapping/>
  </p:clrMapOvr>
</p:sld>
</file>

<file path=ppt/theme/theme1.xml><?xml version="1.0" encoding="utf-8"?>
<a:theme xmlns:a="http://schemas.openxmlformats.org/drawingml/2006/main" name="From Neurons to Agents: AI for Software Engineers">
  <a:themeElements>
    <a:clrScheme name="From Neurons to Agents: AI for Software Engineers">
      <a:dk1>
        <a:srgbClr val="1E1E1E"/>
      </a:dk1>
      <a:lt1>
        <a:srgbClr val="F5F5F6"/>
      </a:lt1>
      <a:dk2>
        <a:srgbClr val="545454"/>
      </a:dk2>
      <a:lt2>
        <a:srgbClr val="E0E0E0"/>
      </a:lt2>
      <a:accent1>
        <a:srgbClr val="0A5A8A"/>
      </a:accent1>
      <a:accent2>
        <a:srgbClr val="00AEEF"/>
      </a:accent2>
      <a:accent3>
        <a:srgbClr val="0B3C6F"/>
      </a:accent3>
      <a:accent4>
        <a:srgbClr val="9FD3EE"/>
      </a:accent4>
      <a:accent5>
        <a:srgbClr val="5FC3F2"/>
      </a:accent5>
      <a:accent6>
        <a:srgbClr val="5E5E5E"/>
      </a:accent6>
      <a:hlink>
        <a:srgbClr val="0563C1"/>
      </a:hlink>
      <a:folHlink>
        <a:srgbClr val="954F72"/>
      </a:folHlink>
    </a:clrScheme>
    <a:fontScheme name="From Neurons to Agents: AI for Software Engineer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Neurons to Agents: AI for Software Engineers</dc:title>
  <dc:subject/>
  <dc:creator/>
  <cp:lastModifiedBy/>
  <cp:revision>1</cp:revision>
  <dcterms:created xsi:type="dcterms:W3CDTF">2026-10-05T14:07:27Z</dcterms:created>
  <dcterms:modified xsi:type="dcterms:W3CDTF">2026-10-05T14:07:27Z</dcterms:modified>
</cp:coreProperties>
</file>